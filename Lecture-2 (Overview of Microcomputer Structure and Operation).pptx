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6" r:id="rId2"/>
    <p:sldId id="292" r:id="rId3"/>
    <p:sldId id="293" r:id="rId4"/>
    <p:sldId id="294" r:id="rId5"/>
    <p:sldId id="295" r:id="rId6"/>
    <p:sldId id="297" r:id="rId7"/>
    <p:sldId id="296" r:id="rId8"/>
    <p:sldId id="298" r:id="rId9"/>
    <p:sldId id="299" r:id="rId10"/>
    <p:sldId id="300" r:id="rId11"/>
    <p:sldId id="310" r:id="rId12"/>
    <p:sldId id="301" r:id="rId13"/>
    <p:sldId id="303" r:id="rId14"/>
    <p:sldId id="304" r:id="rId15"/>
    <p:sldId id="306" r:id="rId16"/>
    <p:sldId id="307" r:id="rId17"/>
    <p:sldId id="308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33664E2-CB1B-44D9-8561-4583EAEFF74F}" type="datetimeFigureOut">
              <a:rPr lang="en-US" smtClean="0"/>
              <a:pPr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6CD7000-B82A-4E34-91D3-ED044FA0E6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2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CD7000-B82A-4E34-91D3-ED044FA0E6D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04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61BDF151-2B44-4D7C-AB75-2846D668CC25}" type="datetime1">
              <a:rPr lang="en-US" smtClean="0"/>
              <a:pPr/>
              <a:t>10/24/2024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818F2-C44E-4F8D-96FE-78E61365A30A}" type="datetime1">
              <a:rPr lang="en-US" smtClean="0"/>
              <a:pPr/>
              <a:t>10/24/2024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286000" y="6355080"/>
            <a:ext cx="4572000" cy="365760"/>
          </a:xfrm>
        </p:spPr>
        <p:txBody>
          <a:bodyPr/>
          <a:lstStyle/>
          <a:p>
            <a:pPr algn="ctr"/>
            <a:r>
              <a:rPr lang="en-US"/>
              <a:t>CSE-4503: Microprocessors and Assembly Language    Islamic University of Technology (IUT)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5F5DD79-9224-4BCF-8012-6F757CAE7ECB}" type="datetime1">
              <a:rPr lang="en-US" smtClean="0"/>
              <a:pPr/>
              <a:t>10/24/2024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</p:spPr>
        <p:txBody>
          <a:bodyPr/>
          <a:lstStyle>
            <a:lvl1pPr>
              <a:defRPr sz="1400" b="0"/>
            </a:lvl1pPr>
          </a:lstStyle>
          <a:p>
            <a:pPr algn="ctr"/>
            <a:r>
              <a:rPr lang="en-US"/>
              <a:t>CSE-4503: Microprocessors and Assembly Language    Islamic University of Technology (IUT)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en.wikipedia.org/wiki/File:Pentiumd.JP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3716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Overview of Microcomputer </a:t>
            </a:r>
          </a:p>
          <a:p>
            <a:pPr algn="ctr"/>
            <a:r>
              <a:rPr lang="en-US" sz="3200" dirty="0"/>
              <a:t>Structure and Operation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219200" y="4972050"/>
            <a:ext cx="6858000" cy="5334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447800" y="5257800"/>
            <a:ext cx="6858000" cy="685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chemeClr val="tx1"/>
                </a:solidFill>
              </a:rPr>
              <a:t>Course Title:</a:t>
            </a:r>
            <a:r>
              <a:rPr lang="en-US" sz="1600" dirty="0">
                <a:solidFill>
                  <a:schemeClr val="tx1"/>
                </a:solidFill>
              </a:rPr>
              <a:t> Microprocessors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143000" y="3352800"/>
            <a:ext cx="6858000" cy="121920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Block Diagram of a Microcomputer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86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Microcomputer:</a:t>
            </a:r>
          </a:p>
          <a:p>
            <a:pPr marL="883920" lvl="1" indent="-609600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(Microprocessor)</a:t>
            </a:r>
          </a:p>
          <a:p>
            <a:pPr marL="883920" lvl="1" indent="-609600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(RAM, ROM etc.)</a:t>
            </a:r>
          </a:p>
          <a:p>
            <a:pPr marL="883920" lvl="1" indent="-609600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  <a:p>
            <a:pPr marL="883920" lvl="1" indent="-609600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Buses:	</a:t>
            </a:r>
          </a:p>
          <a:p>
            <a:pPr marL="1074420" lvl="2" indent="-3429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bus</a:t>
            </a:r>
          </a:p>
          <a:p>
            <a:pPr marL="1074420" lvl="2" indent="-3429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bus</a:t>
            </a:r>
          </a:p>
          <a:p>
            <a:pPr marL="1074420" lvl="2" indent="-3429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bus</a:t>
            </a:r>
          </a:p>
          <a:p>
            <a:endParaRPr lang="en-US" dirty="0"/>
          </a:p>
        </p:txBody>
      </p:sp>
      <p:sp>
        <p:nvSpPr>
          <p:cNvPr id="14" name="Rectangle 163"/>
          <p:cNvSpPr>
            <a:spLocks noChangeArrowheads="1"/>
          </p:cNvSpPr>
          <p:nvPr/>
        </p:nvSpPr>
        <p:spPr bwMode="auto">
          <a:xfrm>
            <a:off x="2022475" y="4283075"/>
            <a:ext cx="1030288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/>
              <a:t>ROM</a:t>
            </a:r>
          </a:p>
        </p:txBody>
      </p:sp>
      <p:sp>
        <p:nvSpPr>
          <p:cNvPr id="23" name="Rectangle 164"/>
          <p:cNvSpPr>
            <a:spLocks noChangeArrowheads="1"/>
          </p:cNvSpPr>
          <p:nvPr/>
        </p:nvSpPr>
        <p:spPr bwMode="auto">
          <a:xfrm>
            <a:off x="3671888" y="4283075"/>
            <a:ext cx="10287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/>
              <a:t>RAM</a:t>
            </a:r>
          </a:p>
        </p:txBody>
      </p:sp>
      <p:sp>
        <p:nvSpPr>
          <p:cNvPr id="24" name="Rectangle 165"/>
          <p:cNvSpPr>
            <a:spLocks noChangeArrowheads="1"/>
          </p:cNvSpPr>
          <p:nvPr/>
        </p:nvSpPr>
        <p:spPr bwMode="auto">
          <a:xfrm>
            <a:off x="5319713" y="4283075"/>
            <a:ext cx="1647825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/>
              <a:t>I/O </a:t>
            </a:r>
          </a:p>
          <a:p>
            <a:pPr algn="ctr"/>
            <a:r>
              <a:rPr lang="en-US" sz="2000" b="1"/>
              <a:t>interface</a:t>
            </a:r>
          </a:p>
        </p:txBody>
      </p:sp>
      <p:sp>
        <p:nvSpPr>
          <p:cNvPr id="25" name="Rectangle 166"/>
          <p:cNvSpPr>
            <a:spLocks noChangeArrowheads="1"/>
          </p:cNvSpPr>
          <p:nvPr/>
        </p:nvSpPr>
        <p:spPr bwMode="auto">
          <a:xfrm>
            <a:off x="7588250" y="4283075"/>
            <a:ext cx="1319213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/>
              <a:t>I/O </a:t>
            </a:r>
          </a:p>
          <a:p>
            <a:pPr algn="ctr"/>
            <a:r>
              <a:rPr lang="en-US" sz="2000" b="1"/>
              <a:t>devices</a:t>
            </a:r>
          </a:p>
        </p:txBody>
      </p:sp>
      <p:sp>
        <p:nvSpPr>
          <p:cNvPr id="26" name="Line 167"/>
          <p:cNvSpPr>
            <a:spLocks noChangeShapeType="1"/>
          </p:cNvSpPr>
          <p:nvPr/>
        </p:nvSpPr>
        <p:spPr bwMode="auto">
          <a:xfrm>
            <a:off x="2435225" y="3871912"/>
            <a:ext cx="0" cy="411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ine 169"/>
          <p:cNvSpPr>
            <a:spLocks noChangeShapeType="1"/>
          </p:cNvSpPr>
          <p:nvPr/>
        </p:nvSpPr>
        <p:spPr bwMode="auto">
          <a:xfrm>
            <a:off x="1403350" y="3871912"/>
            <a:ext cx="4948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171"/>
          <p:cNvSpPr>
            <a:spLocks noChangeShapeType="1"/>
          </p:cNvSpPr>
          <p:nvPr/>
        </p:nvSpPr>
        <p:spPr bwMode="auto">
          <a:xfrm>
            <a:off x="4289425" y="3871912"/>
            <a:ext cx="0" cy="411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172"/>
          <p:cNvSpPr>
            <a:spLocks noChangeShapeType="1"/>
          </p:cNvSpPr>
          <p:nvPr/>
        </p:nvSpPr>
        <p:spPr bwMode="auto">
          <a:xfrm flipV="1">
            <a:off x="6351588" y="5108575"/>
            <a:ext cx="0" cy="412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Line 173"/>
          <p:cNvSpPr>
            <a:spLocks noChangeShapeType="1"/>
          </p:cNvSpPr>
          <p:nvPr/>
        </p:nvSpPr>
        <p:spPr bwMode="auto">
          <a:xfrm>
            <a:off x="2435225" y="5108575"/>
            <a:ext cx="0" cy="412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174"/>
          <p:cNvSpPr>
            <a:spLocks noChangeShapeType="1"/>
          </p:cNvSpPr>
          <p:nvPr/>
        </p:nvSpPr>
        <p:spPr bwMode="auto">
          <a:xfrm flipV="1">
            <a:off x="4083050" y="5108575"/>
            <a:ext cx="0" cy="412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" name="Line 175"/>
          <p:cNvSpPr>
            <a:spLocks noChangeShapeType="1"/>
          </p:cNvSpPr>
          <p:nvPr/>
        </p:nvSpPr>
        <p:spPr bwMode="auto">
          <a:xfrm flipH="1">
            <a:off x="1403350" y="5521325"/>
            <a:ext cx="4948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177"/>
          <p:cNvSpPr>
            <a:spLocks noChangeArrowheads="1"/>
          </p:cNvSpPr>
          <p:nvPr/>
        </p:nvSpPr>
        <p:spPr bwMode="auto">
          <a:xfrm>
            <a:off x="373063" y="3665537"/>
            <a:ext cx="1027112" cy="26797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200"/>
          </a:p>
          <a:p>
            <a:endParaRPr lang="en-US" sz="1200"/>
          </a:p>
          <a:p>
            <a:pPr algn="ctr"/>
            <a:endParaRPr lang="en-US" sz="2000" b="1"/>
          </a:p>
          <a:p>
            <a:pPr algn="ctr"/>
            <a:endParaRPr lang="en-US" sz="2000" b="1"/>
          </a:p>
          <a:p>
            <a:pPr algn="ctr"/>
            <a:r>
              <a:rPr lang="en-US" sz="2000" b="1"/>
              <a:t>CPU</a:t>
            </a:r>
          </a:p>
        </p:txBody>
      </p:sp>
      <p:sp>
        <p:nvSpPr>
          <p:cNvPr id="34" name="Line 178"/>
          <p:cNvSpPr>
            <a:spLocks noChangeShapeType="1"/>
          </p:cNvSpPr>
          <p:nvPr/>
        </p:nvSpPr>
        <p:spPr bwMode="auto">
          <a:xfrm flipH="1">
            <a:off x="1403350" y="6138862"/>
            <a:ext cx="5359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179"/>
          <p:cNvSpPr>
            <a:spLocks noChangeShapeType="1"/>
          </p:cNvSpPr>
          <p:nvPr/>
        </p:nvSpPr>
        <p:spPr bwMode="auto">
          <a:xfrm flipV="1">
            <a:off x="6762750" y="5108575"/>
            <a:ext cx="0" cy="1030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176"/>
          <p:cNvSpPr>
            <a:spLocks noChangeShapeType="1"/>
          </p:cNvSpPr>
          <p:nvPr/>
        </p:nvSpPr>
        <p:spPr bwMode="auto">
          <a:xfrm>
            <a:off x="6969125" y="4695825"/>
            <a:ext cx="619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Line 170"/>
          <p:cNvSpPr>
            <a:spLocks noChangeShapeType="1"/>
          </p:cNvSpPr>
          <p:nvPr/>
        </p:nvSpPr>
        <p:spPr bwMode="auto">
          <a:xfrm>
            <a:off x="6351588" y="3871912"/>
            <a:ext cx="0" cy="411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Box 24"/>
          <p:cNvSpPr txBox="1">
            <a:spLocks noChangeArrowheads="1"/>
          </p:cNvSpPr>
          <p:nvPr/>
        </p:nvSpPr>
        <p:spPr bwMode="auto">
          <a:xfrm>
            <a:off x="4643438" y="3505200"/>
            <a:ext cx="15128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Address bus</a:t>
            </a: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4572000" y="5521325"/>
            <a:ext cx="15128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Data bus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804025" y="5521325"/>
            <a:ext cx="1008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Control bus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CPU - Central Processing Unit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46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FETCH :</a:t>
            </a:r>
            <a:r>
              <a:rPr lang="en-US" dirty="0"/>
              <a:t> </a:t>
            </a:r>
            <a:r>
              <a:rPr lang="en-US" sz="2400" dirty="0"/>
              <a:t>Take in binary-coded instructions from memory</a:t>
            </a:r>
          </a:p>
          <a:p>
            <a:pPr>
              <a:lnSpc>
                <a:spcPct val="90000"/>
              </a:lnSpc>
            </a:pPr>
            <a:r>
              <a:rPr lang="en-US" b="1" dirty="0"/>
              <a:t>DECODE : </a:t>
            </a:r>
            <a:r>
              <a:rPr lang="en-US" dirty="0"/>
              <a:t> </a:t>
            </a:r>
            <a:r>
              <a:rPr lang="en-US" sz="2400" dirty="0"/>
              <a:t>Analyze or make sense of the instructions</a:t>
            </a:r>
          </a:p>
          <a:p>
            <a:pPr>
              <a:lnSpc>
                <a:spcPct val="90000"/>
              </a:lnSpc>
            </a:pPr>
            <a:r>
              <a:rPr lang="en-US" b="1" dirty="0"/>
              <a:t>EXECUTE :</a:t>
            </a:r>
            <a:r>
              <a:rPr lang="en-US" dirty="0"/>
              <a:t> </a:t>
            </a:r>
            <a:r>
              <a:rPr lang="en-US" sz="2400" dirty="0"/>
              <a:t>Carry out the instructions</a:t>
            </a:r>
          </a:p>
          <a:p>
            <a:pPr>
              <a:lnSpc>
                <a:spcPct val="90000"/>
              </a:lnSpc>
            </a:pPr>
            <a:r>
              <a:rPr lang="en-US" dirty="0"/>
              <a:t>Controls overall operation of the computer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Important components:  </a:t>
            </a:r>
            <a:r>
              <a:rPr lang="en-US" dirty="0"/>
              <a:t>Registers ,  ALU , Control Unit</a:t>
            </a:r>
            <a:endParaRPr lang="en-MY" sz="26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6" name="Picture 7" descr="250px-Pentiumd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1375" y="4423122"/>
            <a:ext cx="23812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209800" y="5689947"/>
            <a:ext cx="4968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Pentium D dual core processors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416243" indent="-323850"/>
            <a:r>
              <a:rPr lang="en-US" dirty="0"/>
              <a:t>This is where all the binary coded instructions and data are stored. Example: ROM, RAM etc.</a:t>
            </a:r>
          </a:p>
          <a:p>
            <a:pPr marL="92393" indent="0">
              <a:buNone/>
            </a:pPr>
            <a:endParaRPr lang="en-US" dirty="0"/>
          </a:p>
          <a:p>
            <a:pPr marL="92393" indent="0">
              <a:buNone/>
            </a:pPr>
            <a:r>
              <a:rPr lang="en-US" dirty="0"/>
              <a:t>RAM (Random Access Memory) :</a:t>
            </a:r>
          </a:p>
          <a:p>
            <a:pPr marL="549593" indent="-457200">
              <a:buFont typeface="Wingdings" panose="05000000000000000000" pitchFamily="2" charset="2"/>
              <a:buChar char="q"/>
            </a:pPr>
            <a:r>
              <a:rPr lang="en-US" dirty="0"/>
              <a:t>Can be read and written to anytime by the CPU.</a:t>
            </a:r>
          </a:p>
          <a:p>
            <a:pPr marL="549593" indent="-457200">
              <a:buFont typeface="Wingdings" panose="05000000000000000000" pitchFamily="2" charset="2"/>
              <a:buChar char="q"/>
            </a:pPr>
            <a:r>
              <a:rPr lang="en-US" dirty="0"/>
              <a:t>It is volatile memory. That means contents of RAM are erased when the power to the computer is turned off. </a:t>
            </a:r>
          </a:p>
          <a:p>
            <a:pPr marL="92393" indent="0">
              <a:buNone/>
            </a:pPr>
            <a:endParaRPr lang="en-US" dirty="0"/>
          </a:p>
          <a:p>
            <a:pPr marL="92393" indent="0">
              <a:buNone/>
            </a:pPr>
            <a:r>
              <a:rPr lang="en-US" dirty="0"/>
              <a:t>ROM (Read Only Memory) :</a:t>
            </a:r>
          </a:p>
          <a:p>
            <a:pPr marL="549593" indent="-457200">
              <a:buFont typeface="Wingdings" panose="05000000000000000000" pitchFamily="2" charset="2"/>
              <a:buChar char="q"/>
            </a:pPr>
            <a:r>
              <a:rPr lang="en-US" dirty="0"/>
              <a:t>Can only be read by the CPU. </a:t>
            </a:r>
          </a:p>
          <a:p>
            <a:pPr marL="549593" indent="-457200">
              <a:buFont typeface="Wingdings" panose="05000000000000000000" pitchFamily="2" charset="2"/>
              <a:buChar char="q"/>
            </a:pPr>
            <a:r>
              <a:rPr lang="en-US" dirty="0"/>
              <a:t>It is pre-loaded with data and software that never changes like computer's initial start-up instructions. </a:t>
            </a:r>
          </a:p>
          <a:p>
            <a:pPr marL="549593" indent="-457200">
              <a:buFont typeface="Wingdings" panose="05000000000000000000" pitchFamily="2" charset="2"/>
              <a:buChar char="q"/>
            </a:pPr>
            <a:r>
              <a:rPr lang="en-US" dirty="0"/>
              <a:t>It is non volatile memory. That means contents of ROM are </a:t>
            </a:r>
            <a:r>
              <a:rPr lang="en-US" b="1" dirty="0"/>
              <a:t>NOT</a:t>
            </a:r>
            <a:r>
              <a:rPr lang="en-US" dirty="0"/>
              <a:t> erased when the power to the computer is turned off.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I/O Unit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4610"/>
          </a:xfrm>
        </p:spPr>
        <p:txBody>
          <a:bodyPr>
            <a:normAutofit/>
          </a:bodyPr>
          <a:lstStyle/>
          <a:p>
            <a:pPr marL="416243" indent="-323850"/>
            <a:r>
              <a:rPr lang="en-US" sz="2400" b="1" dirty="0"/>
              <a:t>Input/output (I/O) units serve as a medium of communication between the user and the computer.</a:t>
            </a:r>
          </a:p>
          <a:p>
            <a:pPr marL="416243" indent="-323850"/>
            <a:endParaRPr lang="en-US" sz="2400" dirty="0"/>
          </a:p>
          <a:p>
            <a:pPr marL="416243" indent="-323850"/>
            <a:r>
              <a:rPr lang="en-US" sz="2400" b="1" dirty="0"/>
              <a:t>Inputs</a:t>
            </a:r>
            <a:r>
              <a:rPr lang="en-US" sz="2400" dirty="0"/>
              <a:t> are the signals or data received by the system, and </a:t>
            </a:r>
            <a:r>
              <a:rPr lang="en-US" sz="2400" b="1" dirty="0"/>
              <a:t>outputs</a:t>
            </a:r>
            <a:r>
              <a:rPr lang="en-US" sz="2400" dirty="0"/>
              <a:t> are the signals or data sent from it. </a:t>
            </a:r>
          </a:p>
          <a:p>
            <a:pPr marL="416243" indent="-323850"/>
            <a:r>
              <a:rPr lang="en-US" sz="2400" dirty="0"/>
              <a:t>Devices that provide input or output to the computer are called </a:t>
            </a:r>
            <a:r>
              <a:rPr lang="en-US" sz="2400" b="1" i="1" dirty="0"/>
              <a:t>peripherals</a:t>
            </a:r>
            <a:r>
              <a:rPr lang="en-US" sz="2400" dirty="0"/>
              <a:t>. </a:t>
            </a:r>
          </a:p>
          <a:p>
            <a:pPr marL="416243" indent="-323850"/>
            <a:r>
              <a:rPr lang="en-US" sz="2200" dirty="0"/>
              <a:t>For example: </a:t>
            </a:r>
          </a:p>
          <a:p>
            <a:pPr marL="92393" indent="0">
              <a:buNone/>
            </a:pPr>
            <a:r>
              <a:rPr lang="en-US" sz="2200" b="1" dirty="0"/>
              <a:t>	keyboard</a:t>
            </a:r>
            <a:r>
              <a:rPr lang="en-US" sz="2200" dirty="0"/>
              <a:t>, </a:t>
            </a:r>
            <a:r>
              <a:rPr lang="en-US" sz="2200" b="1" dirty="0"/>
              <a:t>mouse</a:t>
            </a:r>
            <a:r>
              <a:rPr lang="en-US" sz="2200" dirty="0"/>
              <a:t> (input)</a:t>
            </a:r>
          </a:p>
          <a:p>
            <a:pPr marL="92393" indent="0">
              <a:buNone/>
            </a:pPr>
            <a:r>
              <a:rPr lang="en-US" sz="2200" b="1" dirty="0"/>
              <a:t>	display</a:t>
            </a:r>
            <a:r>
              <a:rPr lang="en-US" sz="2200" dirty="0"/>
              <a:t>, </a:t>
            </a:r>
            <a:r>
              <a:rPr lang="en-US" sz="2200" b="1" dirty="0"/>
              <a:t>printer(</a:t>
            </a:r>
            <a:r>
              <a:rPr lang="en-US" sz="2200" dirty="0"/>
              <a:t>output</a:t>
            </a:r>
            <a:r>
              <a:rPr lang="en-US" sz="2200" b="1" dirty="0"/>
              <a:t>)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b="1" dirty="0"/>
              <a:t>hard disk</a:t>
            </a:r>
            <a:r>
              <a:rPr lang="en-US" sz="2200" dirty="0"/>
              <a:t> (both input and output)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System Bus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65760" indent="-256032">
              <a:defRPr/>
            </a:pPr>
            <a:endParaRPr lang="en-US" dirty="0"/>
          </a:p>
          <a:p>
            <a:pPr marL="365760" indent="-256032">
              <a:defRPr/>
            </a:pPr>
            <a:r>
              <a:rPr lang="en-US" dirty="0"/>
              <a:t>System bus is made up of three types of bus :</a:t>
            </a:r>
          </a:p>
          <a:p>
            <a:pPr marL="1188720" lvl="3" indent="-256032">
              <a:defRPr/>
            </a:pPr>
            <a:r>
              <a:rPr lang="en-US" dirty="0"/>
              <a:t>Address Bus</a:t>
            </a:r>
          </a:p>
          <a:p>
            <a:pPr marL="1188720" lvl="3" indent="-256032">
              <a:defRPr/>
            </a:pPr>
            <a:r>
              <a:rPr lang="en-US" dirty="0"/>
              <a:t>Data Bus</a:t>
            </a:r>
          </a:p>
          <a:p>
            <a:pPr marL="1188720" lvl="3" indent="-256032">
              <a:defRPr/>
            </a:pPr>
            <a:r>
              <a:rPr lang="en-US" dirty="0"/>
              <a:t>Control Bus</a:t>
            </a:r>
          </a:p>
          <a:p>
            <a:pPr marL="109728" indent="0">
              <a:buNone/>
              <a:defRPr/>
            </a:pPr>
            <a:endParaRPr lang="en-US" b="1" dirty="0"/>
          </a:p>
          <a:p>
            <a:pPr marL="365760" indent="-256032">
              <a:defRPr/>
            </a:pPr>
            <a:r>
              <a:rPr lang="en-US" b="1" dirty="0"/>
              <a:t>WRITE operation :</a:t>
            </a:r>
            <a:r>
              <a:rPr lang="en-US" b="1" i="1" dirty="0"/>
              <a:t> </a:t>
            </a:r>
            <a:r>
              <a:rPr lang="en-US" dirty="0"/>
              <a:t>When data is written onto memory location or an I/O port by the processor</a:t>
            </a:r>
          </a:p>
          <a:p>
            <a:pPr marL="365760" indent="-256032">
              <a:defRPr/>
            </a:pPr>
            <a:r>
              <a:rPr lang="en-US" b="1" dirty="0"/>
              <a:t>READ operation</a:t>
            </a:r>
            <a:r>
              <a:rPr lang="en-US" b="1" i="1" dirty="0"/>
              <a:t> </a:t>
            </a:r>
            <a:r>
              <a:rPr lang="en-US" b="1" dirty="0"/>
              <a:t>: </a:t>
            </a:r>
            <a:r>
              <a:rPr lang="en-US" b="1" i="1" dirty="0"/>
              <a:t> </a:t>
            </a:r>
            <a:r>
              <a:rPr lang="en-US" dirty="0"/>
              <a:t>When data is</a:t>
            </a:r>
            <a:r>
              <a:rPr lang="en-US" b="1" i="1" dirty="0"/>
              <a:t> </a:t>
            </a:r>
            <a:r>
              <a:rPr lang="en-US" dirty="0"/>
              <a:t>read from a selected memory location or an I/O port by the processor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Address Bus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66928" indent="-457200">
              <a:defRPr/>
            </a:pPr>
            <a:r>
              <a:rPr lang="en-US" dirty="0"/>
              <a:t>Carries memory address of the instructions which are to be executed</a:t>
            </a:r>
          </a:p>
          <a:p>
            <a:pPr marL="566928" indent="-457200">
              <a:defRPr/>
            </a:pPr>
            <a:r>
              <a:rPr lang="en-US" dirty="0">
                <a:solidFill>
                  <a:schemeClr val="tx1"/>
                </a:solidFill>
              </a:rPr>
              <a:t>Information transfer takes place from the </a:t>
            </a:r>
            <a:r>
              <a:rPr lang="en-US" dirty="0"/>
              <a:t>processor</a:t>
            </a:r>
            <a:r>
              <a:rPr lang="en-US" dirty="0">
                <a:solidFill>
                  <a:schemeClr val="tx1"/>
                </a:solidFill>
              </a:rPr>
              <a:t> to the memory or I/O elements. </a:t>
            </a:r>
          </a:p>
          <a:p>
            <a:pPr marL="566928" indent="-457200">
              <a:defRPr/>
            </a:pPr>
            <a:r>
              <a:rPr lang="en-US" dirty="0"/>
              <a:t>That is why address bus is </a:t>
            </a:r>
            <a:r>
              <a:rPr lang="en-US" b="1" i="1" dirty="0"/>
              <a:t>Unidirectional</a:t>
            </a:r>
            <a:r>
              <a:rPr lang="en-US" i="1" dirty="0"/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566928" indent="-457200">
              <a:defRPr/>
            </a:pPr>
            <a:r>
              <a:rPr lang="en-US" dirty="0">
                <a:solidFill>
                  <a:schemeClr val="tx1"/>
                </a:solidFill>
              </a:rPr>
              <a:t>Size is generally16, 20, 24, 32 or 36 bits.</a:t>
            </a:r>
            <a:endParaRPr lang="en-US" dirty="0"/>
          </a:p>
          <a:p>
            <a:pPr marL="566928" indent="-457200">
              <a:defRPr/>
            </a:pPr>
            <a:r>
              <a:rPr lang="en-US" dirty="0">
                <a:solidFill>
                  <a:schemeClr val="tx1"/>
                </a:solidFill>
              </a:rPr>
              <a:t>The number of locations that the CPU can address is determined by the size of address bus</a:t>
            </a:r>
          </a:p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5257800"/>
            <a:ext cx="7286625" cy="1071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For example : microprocessor with 32 bit address bus can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    address 2</a:t>
            </a:r>
            <a:r>
              <a:rPr lang="en-US" sz="1600" b="1" baseline="30000" dirty="0">
                <a:solidFill>
                  <a:schemeClr val="tx1"/>
                </a:solidFill>
              </a:rPr>
              <a:t>32</a:t>
            </a:r>
            <a:r>
              <a:rPr lang="en-US" b="1" dirty="0">
                <a:solidFill>
                  <a:schemeClr val="tx1"/>
                </a:solidFill>
              </a:rPr>
              <a:t> memory locations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 Bus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65760" indent="-256032">
              <a:defRPr/>
            </a:pPr>
            <a:endParaRPr lang="en-US" dirty="0"/>
          </a:p>
          <a:p>
            <a:pPr marL="365760" indent="-256032">
              <a:defRPr/>
            </a:pPr>
            <a:r>
              <a:rPr lang="en-US" dirty="0"/>
              <a:t>It is used to carry data.</a:t>
            </a:r>
          </a:p>
          <a:p>
            <a:pPr marL="365760" indent="-256032">
              <a:defRPr/>
            </a:pPr>
            <a:r>
              <a:rPr lang="en-US" dirty="0"/>
              <a:t>It is a bidirectional. That means data can flow in both to or from the microprocessor. </a:t>
            </a:r>
          </a:p>
          <a:p>
            <a:pPr marL="365760" indent="-256032">
              <a:defRPr/>
            </a:pPr>
            <a:r>
              <a:rPr lang="en-US" dirty="0"/>
              <a:t>The size of the data bus varies from one microprocessor to another.</a:t>
            </a:r>
          </a:p>
          <a:p>
            <a:pPr marL="365760" indent="-256032">
              <a:defRPr/>
            </a:pPr>
            <a:r>
              <a:rPr lang="en-GB" dirty="0"/>
              <a:t>Usually matches the </a:t>
            </a:r>
            <a:r>
              <a:rPr lang="en-GB" i="1" dirty="0"/>
              <a:t>word length</a:t>
            </a:r>
            <a:r>
              <a:rPr lang="en-GB" dirty="0"/>
              <a:t> of the microprocessor </a:t>
            </a:r>
          </a:p>
          <a:p>
            <a:pPr marL="365760" indent="-256032">
              <a:defRPr/>
            </a:pPr>
            <a:r>
              <a:rPr lang="en-US" dirty="0"/>
              <a:t>Size is generally 8,16, 32 or 64 bits</a:t>
            </a:r>
            <a:endParaRPr lang="en-GB" dirty="0"/>
          </a:p>
          <a:p>
            <a:pPr marL="365760" indent="-256032">
              <a:buNone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Control Bus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65760" indent="-256032">
              <a:defRPr/>
            </a:pPr>
            <a:r>
              <a:rPr lang="en-US" sz="2700" dirty="0"/>
              <a:t>It carries timing and control signals generated by the CPU that are used to synchronize operation of the individual microcomputer elements.</a:t>
            </a:r>
          </a:p>
          <a:p>
            <a:pPr marL="109728" indent="0">
              <a:buNone/>
              <a:defRPr/>
            </a:pPr>
            <a:endParaRPr lang="en-US" sz="2700" dirty="0"/>
          </a:p>
          <a:p>
            <a:pPr marL="365760" indent="-256032">
              <a:defRPr/>
            </a:pPr>
            <a:r>
              <a:rPr lang="en-GB" sz="2700" dirty="0"/>
              <a:t>It can carry many different signals. For e.g. </a:t>
            </a:r>
          </a:p>
          <a:p>
            <a:pPr marL="640080" lvl="1" indent="-256032">
              <a:defRPr/>
            </a:pPr>
            <a:r>
              <a:rPr lang="en-GB" sz="2500" dirty="0">
                <a:solidFill>
                  <a:schemeClr val="tx1"/>
                </a:solidFill>
              </a:rPr>
              <a:t>I/O Read</a:t>
            </a:r>
          </a:p>
          <a:p>
            <a:pPr marL="640080" lvl="1" indent="-256032">
              <a:defRPr/>
            </a:pPr>
            <a:r>
              <a:rPr lang="en-GB" sz="2500" dirty="0">
                <a:solidFill>
                  <a:schemeClr val="tx1"/>
                </a:solidFill>
              </a:rPr>
              <a:t>I/O Write</a:t>
            </a:r>
          </a:p>
          <a:p>
            <a:pPr marL="640080" lvl="1" indent="-256032">
              <a:defRPr/>
            </a:pPr>
            <a:r>
              <a:rPr lang="en-GB" sz="2500" dirty="0">
                <a:solidFill>
                  <a:schemeClr val="tx1"/>
                </a:solidFill>
              </a:rPr>
              <a:t>Interrupt</a:t>
            </a:r>
          </a:p>
          <a:p>
            <a:pPr marL="640080" lvl="1" indent="-256032">
              <a:defRPr/>
            </a:pPr>
            <a:r>
              <a:rPr lang="en-GB" sz="2500" dirty="0">
                <a:solidFill>
                  <a:schemeClr val="tx1"/>
                </a:solidFill>
              </a:rPr>
              <a:t>Memory read</a:t>
            </a:r>
          </a:p>
          <a:p>
            <a:pPr marL="640080" lvl="1" indent="-256032">
              <a:defRPr/>
            </a:pPr>
            <a:r>
              <a:rPr lang="en-GB" sz="2500" dirty="0">
                <a:solidFill>
                  <a:schemeClr val="tx1"/>
                </a:solidFill>
              </a:rPr>
              <a:t>Memory write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tx1"/>
                </a:solidFill>
              </a:rPr>
              <a:t>Fetch &amp; Execute Cycles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Fetch &amp; Execute Cycle of the CPU is composed of three basic operations 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</a:p>
          <a:p>
            <a:endParaRPr lang="en-US" b="1" dirty="0"/>
          </a:p>
          <a:p>
            <a:r>
              <a:rPr lang="en-US" b="1" dirty="0"/>
              <a:t>Fetch :</a:t>
            </a:r>
          </a:p>
          <a:p>
            <a:pPr lvl="1"/>
            <a:r>
              <a:rPr lang="en-MY" sz="2400" dirty="0">
                <a:solidFill>
                  <a:schemeClr val="tx1"/>
                </a:solidFill>
              </a:rPr>
              <a:t>The instruction required from memory is stored or copied in the instruction register.</a:t>
            </a:r>
          </a:p>
          <a:p>
            <a:pPr lvl="1"/>
            <a:r>
              <a:rPr lang="en-MY" sz="2400" dirty="0">
                <a:solidFill>
                  <a:schemeClr val="tx1"/>
                </a:solidFill>
              </a:rPr>
              <a:t> Increments the program counter so that it points to the next instruction.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CPU’s Special Purpose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             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Holds address of next instruction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Register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Holds the instruction currently being executed 			          	     or decoded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Register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memory address from where data will 			          	     be fetched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Data Register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the data being transferred to the   				      memory or from the memory by the CPU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59207"/>
            <a:ext cx="5105400" cy="2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9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Fetching an 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8575"/>
            <a:ext cx="7467600" cy="4873625"/>
          </a:xfrm>
        </p:spPr>
        <p:txBody>
          <a:bodyPr/>
          <a:lstStyle/>
          <a:p>
            <a:pPr eaLnBrk="1" hangingPunct="1"/>
            <a:r>
              <a:rPr lang="en-US" b="1"/>
              <a:t>Step 1</a:t>
            </a:r>
            <a:endParaRPr lang="en-MY" b="1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84213" y="1836003"/>
            <a:ext cx="77755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Program Counter</a:t>
            </a:r>
            <a:r>
              <a:rPr lang="en-US" sz="2400" dirty="0"/>
              <a:t> or instruction pointer (IP) is a register that holds the address of the next instruction to be fetch.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740878"/>
            <a:ext cx="6131337" cy="3279067"/>
          </a:xfrm>
          <a:prstGeom prst="rect">
            <a:avLst/>
          </a:prstGeom>
        </p:spPr>
      </p:pic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1295400" y="3014662"/>
            <a:ext cx="1944688" cy="720725"/>
          </a:xfrm>
          <a:prstGeom prst="ellipse">
            <a:avLst/>
          </a:prstGeom>
          <a:noFill/>
          <a:ln w="28575">
            <a:solidFill>
              <a:srgbClr val="D31B3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4366120" y="2995322"/>
            <a:ext cx="1944688" cy="720725"/>
          </a:xfrm>
          <a:prstGeom prst="ellipse">
            <a:avLst/>
          </a:prstGeom>
          <a:noFill/>
          <a:ln w="28575">
            <a:solidFill>
              <a:srgbClr val="D31B3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Fetching an Instruction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467600" cy="4873625"/>
          </a:xfrm>
        </p:spPr>
        <p:txBody>
          <a:bodyPr/>
          <a:lstStyle/>
          <a:p>
            <a:r>
              <a:rPr lang="en-US" b="1" dirty="0"/>
              <a:t>Step 2</a:t>
            </a:r>
            <a:endParaRPr lang="en-MY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12471"/>
            <a:ext cx="7924800" cy="4436508"/>
          </a:xfrm>
          <a:prstGeom prst="rect">
            <a:avLst/>
          </a:prstGeom>
        </p:spPr>
      </p:pic>
      <p:sp>
        <p:nvSpPr>
          <p:cNvPr id="12" name="AutoShape 11"/>
          <p:cNvSpPr>
            <a:spLocks noChangeArrowheads="1"/>
          </p:cNvSpPr>
          <p:nvPr/>
        </p:nvSpPr>
        <p:spPr bwMode="auto">
          <a:xfrm flipH="1">
            <a:off x="1546817" y="3151492"/>
            <a:ext cx="396875" cy="358775"/>
          </a:xfrm>
          <a:prstGeom prst="downArrow">
            <a:avLst>
              <a:gd name="adj1" fmla="val 50000"/>
              <a:gd name="adj2" fmla="val 310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1600793" y="3960090"/>
            <a:ext cx="288925" cy="358775"/>
          </a:xfrm>
          <a:prstGeom prst="downArrow">
            <a:avLst>
              <a:gd name="adj1" fmla="val 50000"/>
              <a:gd name="adj2" fmla="val 310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95600" y="3467451"/>
            <a:ext cx="1524000" cy="12657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address moves over the address bus to the Memory Address Register 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90600" y="5410200"/>
            <a:ext cx="1603248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600" y="2514600"/>
            <a:ext cx="1524000" cy="945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022E-16 L -1.66667E-6 0.05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Fetching an Instruction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68313" y="1295400"/>
            <a:ext cx="7467600" cy="4873625"/>
          </a:xfrm>
        </p:spPr>
        <p:txBody>
          <a:bodyPr/>
          <a:lstStyle/>
          <a:p>
            <a:pPr eaLnBrk="1" hangingPunct="1"/>
            <a:r>
              <a:rPr lang="en-US" b="1" dirty="0"/>
              <a:t>Step 3</a:t>
            </a:r>
            <a:endParaRPr lang="en-MY" b="1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943100"/>
            <a:ext cx="5859462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17"/>
          <p:cNvSpPr>
            <a:spLocks noChangeArrowheads="1"/>
          </p:cNvSpPr>
          <p:nvPr/>
        </p:nvSpPr>
        <p:spPr bwMode="auto">
          <a:xfrm rot="19439213">
            <a:off x="1991282" y="3211973"/>
            <a:ext cx="2041013" cy="296072"/>
          </a:xfrm>
          <a:prstGeom prst="rightArrow">
            <a:avLst>
              <a:gd name="adj1" fmla="val 41176"/>
              <a:gd name="adj2" fmla="val 13735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18"/>
          <p:cNvSpPr>
            <a:spLocks noChangeArrowheads="1"/>
          </p:cNvSpPr>
          <p:nvPr/>
        </p:nvSpPr>
        <p:spPr bwMode="auto">
          <a:xfrm>
            <a:off x="3924300" y="2303463"/>
            <a:ext cx="1295400" cy="576262"/>
          </a:xfrm>
          <a:prstGeom prst="ellipse">
            <a:avLst/>
          </a:prstGeom>
          <a:noFill/>
          <a:ln w="28575">
            <a:solidFill>
              <a:srgbClr val="501BD3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5048" y="4572000"/>
            <a:ext cx="1978152" cy="450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5179" y="2404197"/>
            <a:ext cx="1676400" cy="951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of the instruction is located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596" y="3313785"/>
            <a:ext cx="838200" cy="2531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repeatCount="3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03634 L 0.09739 -0.106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00" y="-7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Fetching an Instruction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dirty="0"/>
              <a:t>Step 4</a:t>
            </a:r>
            <a:endParaRPr lang="en-MY" dirty="0"/>
          </a:p>
        </p:txBody>
      </p:sp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6013" y="2276475"/>
            <a:ext cx="6769100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12"/>
          <p:cNvSpPr>
            <a:spLocks noChangeArrowheads="1"/>
          </p:cNvSpPr>
          <p:nvPr/>
        </p:nvSpPr>
        <p:spPr bwMode="auto">
          <a:xfrm rot="10800000">
            <a:off x="1331913" y="1628775"/>
            <a:ext cx="5832475" cy="1079500"/>
          </a:xfrm>
          <a:prstGeom prst="curvedUpArrow">
            <a:avLst>
              <a:gd name="adj1" fmla="val 21362"/>
              <a:gd name="adj2" fmla="val 116964"/>
              <a:gd name="adj3" fmla="val 333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13"/>
          <p:cNvSpPr>
            <a:spLocks noChangeArrowheads="1"/>
          </p:cNvSpPr>
          <p:nvPr/>
        </p:nvSpPr>
        <p:spPr bwMode="auto">
          <a:xfrm>
            <a:off x="1763713" y="3716338"/>
            <a:ext cx="287337" cy="792162"/>
          </a:xfrm>
          <a:prstGeom prst="downArrow">
            <a:avLst>
              <a:gd name="adj1" fmla="val 50000"/>
              <a:gd name="adj2" fmla="val 6892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25958" y="5468624"/>
            <a:ext cx="1978152" cy="450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Data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400" y="4038600"/>
            <a:ext cx="1752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111E-6 L 3.05556E-6 0.120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Fetching an Instruction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dirty="0"/>
              <a:t>Step 5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33" y="2281767"/>
            <a:ext cx="6133333" cy="3390476"/>
          </a:xfrm>
          <a:prstGeom prst="rect">
            <a:avLst/>
          </a:prstGeom>
        </p:spPr>
      </p:pic>
      <p:sp>
        <p:nvSpPr>
          <p:cNvPr id="12" name="AutoShape 13"/>
          <p:cNvSpPr>
            <a:spLocks noChangeArrowheads="1"/>
          </p:cNvSpPr>
          <p:nvPr/>
        </p:nvSpPr>
        <p:spPr bwMode="auto">
          <a:xfrm>
            <a:off x="1685130" y="3350205"/>
            <a:ext cx="372270" cy="688395"/>
          </a:xfrm>
          <a:prstGeom prst="downArrow">
            <a:avLst>
              <a:gd name="adj1" fmla="val 50000"/>
              <a:gd name="adj2" fmla="val 6892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9723" y="2442157"/>
            <a:ext cx="1978152" cy="450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Data Register</a:t>
            </a:r>
          </a:p>
        </p:txBody>
      </p:sp>
    </p:spTree>
    <p:extLst>
      <p:ext uri="{BB962C8B-B14F-4D97-AF65-F5344CB8AC3E}">
        <p14:creationId xmlns:p14="http://schemas.microsoft.com/office/powerpoint/2010/main" val="199290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111E-6 L 3.05556E-6 0.120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Food for thought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What do you mean by a 32 bit Data Bus ?</a:t>
            </a:r>
          </a:p>
          <a:p>
            <a:endParaRPr lang="en-US" dirty="0"/>
          </a:p>
          <a:p>
            <a:r>
              <a:rPr lang="en-US" dirty="0"/>
              <a:t>BIOS is a special program that orchestrates loading the computer's operating system.  Should it be stored in ROM or RAM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47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3149</TotalTime>
  <Words>825</Words>
  <Application>Microsoft Office PowerPoint</Application>
  <PresentationFormat>On-screen Show (4:3)</PresentationFormat>
  <Paragraphs>147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PowerPoint Presentation</vt:lpstr>
      <vt:lpstr>Block Diagram of a Microcomputer</vt:lpstr>
      <vt:lpstr>CPU - Central Processing Unit</vt:lpstr>
      <vt:lpstr>Memory</vt:lpstr>
      <vt:lpstr>I/O Unit</vt:lpstr>
      <vt:lpstr>System Bus</vt:lpstr>
      <vt:lpstr>Address Bus</vt:lpstr>
      <vt:lpstr>Data Bus</vt:lpstr>
      <vt:lpstr>Control Bus</vt:lpstr>
      <vt:lpstr>Fetch &amp; Execute Cycles</vt:lpstr>
      <vt:lpstr>The CPU’s Special Purpose Registers</vt:lpstr>
      <vt:lpstr>Fetching an Instruction</vt:lpstr>
      <vt:lpstr>Fetching an Instruction</vt:lpstr>
      <vt:lpstr>Fetching an Instruction</vt:lpstr>
      <vt:lpstr>Fetching an Instruction</vt:lpstr>
      <vt:lpstr>Fetching an Instruction</vt:lpstr>
      <vt:lpstr>Food for thought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Teacher:  Md. Obaidur Rahman, Ph.D. Assitant Professor, Department of CSE, DUET, Gazipur-1700.</dc:title>
  <dc:creator>Rupam</dc:creator>
  <cp:lastModifiedBy>Sourav Paul</cp:lastModifiedBy>
  <cp:revision>619</cp:revision>
  <dcterms:created xsi:type="dcterms:W3CDTF">2006-08-16T00:00:00Z</dcterms:created>
  <dcterms:modified xsi:type="dcterms:W3CDTF">2024-10-24T06:31:15Z</dcterms:modified>
</cp:coreProperties>
</file>