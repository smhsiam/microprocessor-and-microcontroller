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7315200" cy="9601200"/>
  <p:embeddedFontLst>
    <p:embeddedFont>
      <p:font typeface="Tahoma"/>
      <p:regular r:id="rId26"/>
      <p:bold r:id="rId27"/>
    </p:embeddedFon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hu5zO/qbLa/IrFXQy8o8YIqrYz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ahoma-regular.fntdata"/><Relationship Id="rId25" Type="http://schemas.openxmlformats.org/officeDocument/2006/relationships/slide" Target="slides/slide20.xml"/><Relationship Id="rId28" Type="http://schemas.openxmlformats.org/officeDocument/2006/relationships/font" Target="fonts/GillSans-regular.fntdata"/><Relationship Id="rId27" Type="http://schemas.openxmlformats.org/officeDocument/2006/relationships/font" Target="fonts/Tahoma-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p>
            <a:pPr indent="0" lvl="0" marL="0" rtl="0" algn="l">
              <a:spcBef>
                <a:spcPts val="0"/>
              </a:spcBef>
              <a:spcAft>
                <a:spcPts val="0"/>
              </a:spcAft>
              <a:buNone/>
            </a:pPr>
            <a:r>
              <a:t/>
            </a:r>
            <a:endParaRPr/>
          </a:p>
        </p:txBody>
      </p:sp>
      <p:sp>
        <p:nvSpPr>
          <p:cNvPr id="42" name="Google Shape;42;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7" name="Google Shape;47;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4" name="Google Shape;54;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7e4e7b765_0_285: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2" name="Google Shape;62;g317e4e7b765_0_285:notes"/>
          <p:cNvSpPr/>
          <p:nvPr>
            <p:ph idx="2" type="sldImg"/>
          </p:nvPr>
        </p:nvSpPr>
        <p:spPr>
          <a:xfrm>
            <a:off x="1219440" y="720090"/>
            <a:ext cx="48771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6" name="Google Shape;86;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4" name="Google Shape;94;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7e4e7b765_0_372: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7e4e7b765_0_372: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3" name="Google Shape;103;g317e4e7b765_0_372: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9" name="Google Shape;109;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17e4e7b765_0_379: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17e4e7b765_0_379: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8" name="Google Shape;118;g317e4e7b765_0_379: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5" name="Google Shape;125;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7e4e7b765_0_397: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7e4e7b765_0_397: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4" name="Google Shape;134;g317e4e7b765_0_397: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0" name="Google Shape;140;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7e4e7b765_0_356: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17e4e7b765_0_356: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9" name="Google Shape;149;g317e4e7b765_0_356: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7e4e7b765_0_363: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7e4e7b765_0_363:notes"/>
          <p:cNvSpPr txBox="1"/>
          <p:nvPr>
            <p:ph idx="1" type="body"/>
          </p:nvPr>
        </p:nvSpPr>
        <p:spPr>
          <a:xfrm>
            <a:off x="731520" y="4560570"/>
            <a:ext cx="5852100" cy="432060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8" name="Google Shape;158;g317e4e7b765_0_363:notes"/>
          <p:cNvSpPr txBox="1"/>
          <p:nvPr>
            <p:ph idx="12" type="sldNum"/>
          </p:nvPr>
        </p:nvSpPr>
        <p:spPr>
          <a:xfrm>
            <a:off x="4143587" y="9119474"/>
            <a:ext cx="3169800" cy="4800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4" name="Google Shape;174;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2" name="Google Shape;182;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0" name="Google Shape;190;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8" name="Google Shape;198;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6" name="Google Shape;206;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35"/>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5"/>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35"/>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5"/>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3" name="Google Shape;23;p35"/>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4" name="Google Shape;24;p35"/>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35"/>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35"/>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3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2" name="Google Shape;32;p36"/>
          <p:cNvSpPr txBox="1"/>
          <p:nvPr>
            <p:ph idx="11" type="ftr"/>
          </p:nvPr>
        </p:nvSpPr>
        <p:spPr>
          <a:xfrm>
            <a:off x="2286000" y="6355080"/>
            <a:ext cx="4572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33" name="Shape 33"/>
        <p:cNvGrpSpPr/>
        <p:nvPr/>
      </p:nvGrpSpPr>
      <p:grpSpPr>
        <a:xfrm>
          <a:off x="0" y="0"/>
          <a:ext cx="0" cy="0"/>
          <a:chOff x="0" y="0"/>
          <a:chExt cx="0" cy="0"/>
        </a:xfrm>
      </p:grpSpPr>
      <p:sp>
        <p:nvSpPr>
          <p:cNvPr id="34" name="Google Shape;34;g317e4e7b765_0_350"/>
          <p:cNvSpPr txBox="1"/>
          <p:nvPr>
            <p:ph type="title"/>
          </p:nvPr>
        </p:nvSpPr>
        <p:spPr>
          <a:xfrm>
            <a:off x="530225" y="590168"/>
            <a:ext cx="4078500" cy="51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200"/>
              <a:buNone/>
              <a:defRPr b="0" i="0" sz="3200">
                <a:solidFill>
                  <a:srgbClr val="3E3E3E"/>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g317e4e7b765_0_350"/>
          <p:cNvSpPr txBox="1"/>
          <p:nvPr>
            <p:ph idx="1" type="body"/>
          </p:nvPr>
        </p:nvSpPr>
        <p:spPr>
          <a:xfrm>
            <a:off x="430853" y="1079982"/>
            <a:ext cx="7658700" cy="2164200"/>
          </a:xfrm>
          <a:prstGeom prst="rect">
            <a:avLst/>
          </a:prstGeom>
          <a:noFill/>
          <a:ln>
            <a:noFill/>
          </a:ln>
        </p:spPr>
        <p:txBody>
          <a:bodyPr anchorCtr="0" anchor="t" bIns="0" lIns="0" spcFirstLastPara="1" rIns="0" wrap="square" tIns="0">
            <a:spAutoFit/>
          </a:bodyPr>
          <a:lstStyle>
            <a:lvl1pPr indent="-228600" lvl="0" marL="457200" algn="l">
              <a:spcBef>
                <a:spcPts val="600"/>
              </a:spcBef>
              <a:spcAft>
                <a:spcPts val="0"/>
              </a:spcAft>
              <a:buSzPts val="1976"/>
              <a:buNone/>
              <a:defRPr b="0" i="0" sz="2400">
                <a:solidFill>
                  <a:schemeClr val="dk1"/>
                </a:solidFill>
                <a:latin typeface="Tahoma"/>
                <a:ea typeface="Tahoma"/>
                <a:cs typeface="Tahoma"/>
                <a:sym typeface="Tahoma"/>
              </a:defRPr>
            </a:lvl1pPr>
            <a:lvl2pPr indent="-228600" lvl="1" marL="914400" algn="l">
              <a:spcBef>
                <a:spcPts val="500"/>
              </a:spcBef>
              <a:spcAft>
                <a:spcPts val="0"/>
              </a:spcAft>
              <a:buSzPts val="1748"/>
              <a:buNone/>
              <a:defRPr/>
            </a:lvl2pPr>
            <a:lvl3pPr indent="-228600" lvl="2" marL="1371600" algn="l">
              <a:spcBef>
                <a:spcPts val="500"/>
              </a:spcBef>
              <a:spcAft>
                <a:spcPts val="0"/>
              </a:spcAft>
              <a:buSzPts val="1520"/>
              <a:buNone/>
              <a:defRPr/>
            </a:lvl3pPr>
            <a:lvl4pPr indent="-228600" lvl="3" marL="1828800" algn="l">
              <a:spcBef>
                <a:spcPts val="400"/>
              </a:spcBef>
              <a:spcAft>
                <a:spcPts val="0"/>
              </a:spcAft>
              <a:buSzPts val="1260"/>
              <a:buNone/>
              <a:defRPr/>
            </a:lvl4pPr>
            <a:lvl5pPr indent="-228600" lvl="4" marL="2286000" algn="l">
              <a:spcBef>
                <a:spcPts val="300"/>
              </a:spcBef>
              <a:spcAft>
                <a:spcPts val="0"/>
              </a:spcAft>
              <a:buSzPts val="1120"/>
              <a:buNone/>
              <a:defRPr/>
            </a:lvl5pPr>
            <a:lvl6pPr indent="-228600" lvl="5" marL="2743200" algn="l">
              <a:spcBef>
                <a:spcPts val="300"/>
              </a:spcBef>
              <a:spcAft>
                <a:spcPts val="0"/>
              </a:spcAft>
              <a:buSzPts val="1200"/>
              <a:buNone/>
              <a:defRPr/>
            </a:lvl6pPr>
            <a:lvl7pPr indent="-228600" lvl="6" marL="3200400" algn="l">
              <a:spcBef>
                <a:spcPts val="300"/>
              </a:spcBef>
              <a:spcAft>
                <a:spcPts val="0"/>
              </a:spcAft>
              <a:buSzPts val="1050"/>
              <a:buNone/>
              <a:defRPr/>
            </a:lvl7pPr>
            <a:lvl8pPr indent="-228600" lvl="7" marL="3657600" algn="l">
              <a:spcBef>
                <a:spcPts val="300"/>
              </a:spcBef>
              <a:spcAft>
                <a:spcPts val="0"/>
              </a:spcAft>
              <a:buSzPts val="1050"/>
              <a:buNone/>
              <a:defRPr/>
            </a:lvl8pPr>
            <a:lvl9pPr indent="-228600" lvl="8" marL="4114800" algn="l">
              <a:spcBef>
                <a:spcPts val="300"/>
              </a:spcBef>
              <a:spcAft>
                <a:spcPts val="0"/>
              </a:spcAft>
              <a:buSzPts val="900"/>
              <a:buNone/>
              <a:defRPr/>
            </a:lvl9pPr>
          </a:lstStyle>
          <a:p/>
        </p:txBody>
      </p:sp>
      <p:sp>
        <p:nvSpPr>
          <p:cNvPr id="36" name="Google Shape;36;g317e4e7b765_0_350"/>
          <p:cNvSpPr txBox="1"/>
          <p:nvPr>
            <p:ph idx="11" type="ftr"/>
          </p:nvPr>
        </p:nvSpPr>
        <p:spPr>
          <a:xfrm>
            <a:off x="3530153" y="6388820"/>
            <a:ext cx="2083500" cy="37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rgbClr val="0070C0"/>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g317e4e7b765_0_350"/>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g317e4e7b765_0_350"/>
          <p:cNvSpPr txBox="1"/>
          <p:nvPr>
            <p:ph idx="12" type="sldNum"/>
          </p:nvPr>
        </p:nvSpPr>
        <p:spPr>
          <a:xfrm>
            <a:off x="6583680" y="6377940"/>
            <a:ext cx="2103000" cy="2154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4"/>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3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3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4" name="Google Shape;14;p34"/>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5" name="Google Shape;15;p34"/>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6" name="Google Shape;16;p34"/>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7" name="Google Shape;17;p34"/>
          <p:cNvSpPr txBox="1"/>
          <p:nvPr>
            <p:ph idx="11" type="ftr"/>
          </p:nvPr>
        </p:nvSpPr>
        <p:spPr>
          <a:xfrm>
            <a:off x="2286000" y="6248400"/>
            <a:ext cx="4572000"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nvSpPr>
        <p:spPr>
          <a:xfrm>
            <a:off x="0" y="1371600"/>
            <a:ext cx="91440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Gill Sans"/>
                <a:ea typeface="Gill Sans"/>
                <a:cs typeface="Gill Sans"/>
                <a:sym typeface="Gill Sans"/>
              </a:rPr>
              <a:t>8086</a:t>
            </a:r>
            <a:endParaRPr/>
          </a:p>
          <a:p>
            <a:pPr indent="0" lvl="0" marL="0" marR="0" rtl="0" algn="ctr">
              <a:spcBef>
                <a:spcPts val="0"/>
              </a:spcBef>
              <a:spcAft>
                <a:spcPts val="0"/>
              </a:spcAft>
              <a:buNone/>
            </a:pPr>
            <a:r>
              <a:rPr b="0" i="0" lang="en-US" sz="3200" u="none" cap="none" strike="noStrike">
                <a:solidFill>
                  <a:schemeClr val="dk1"/>
                </a:solidFill>
                <a:latin typeface="Gill Sans"/>
                <a:ea typeface="Gill Sans"/>
                <a:cs typeface="Gill Sans"/>
                <a:sym typeface="Gill Sans"/>
              </a:rPr>
              <a:t>Addressing Modes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Lecture References:</a:t>
            </a:r>
            <a:endParaRPr/>
          </a:p>
        </p:txBody>
      </p:sp>
      <p:sp>
        <p:nvSpPr>
          <p:cNvPr id="50" name="Google Shape;50;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solidFill>
                  <a:schemeClr val="dk1"/>
                </a:solidFill>
              </a:rPr>
              <a:t>‹#›</a:t>
            </a:fld>
            <a:endParaRPr>
              <a:solidFill>
                <a:schemeClr val="dk1"/>
              </a:solidFill>
            </a:endParaRPr>
          </a:p>
        </p:txBody>
      </p:sp>
      <p:sp>
        <p:nvSpPr>
          <p:cNvPr id="51" name="Google Shape;51;p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b="1" lang="en-US"/>
              <a:t>Book:</a:t>
            </a:r>
            <a:endParaRPr/>
          </a:p>
          <a:p>
            <a:pPr indent="-274320" lvl="1" marL="548640" rtl="0" algn="l">
              <a:spcBef>
                <a:spcPts val="500"/>
              </a:spcBef>
              <a:spcAft>
                <a:spcPts val="0"/>
              </a:spcAft>
              <a:buSzPts val="1748"/>
              <a:buChar char="🞂"/>
            </a:pPr>
            <a:r>
              <a:rPr i="1" lang="en-US">
                <a:solidFill>
                  <a:schemeClr val="dk1"/>
                </a:solidFill>
              </a:rPr>
              <a:t>Microprocessors and Interfacing: Programming and Hardware, Chapter # 2, </a:t>
            </a:r>
            <a:r>
              <a:rPr b="1" lang="en-US">
                <a:solidFill>
                  <a:schemeClr val="dk1"/>
                </a:solidFill>
              </a:rPr>
              <a:t>Author: </a:t>
            </a:r>
            <a:r>
              <a:rPr lang="en-US">
                <a:solidFill>
                  <a:schemeClr val="dk1"/>
                </a:solidFill>
              </a:rPr>
              <a:t>Douglas V. Hall</a:t>
            </a:r>
            <a:endParaRPr/>
          </a:p>
          <a:p>
            <a:pPr indent="-274320" lvl="1" marL="548640" rtl="0" algn="l">
              <a:spcBef>
                <a:spcPts val="500"/>
              </a:spcBef>
              <a:spcAft>
                <a:spcPts val="0"/>
              </a:spcAft>
              <a:buSzPts val="1748"/>
              <a:buChar char="🞂"/>
            </a:pPr>
            <a:r>
              <a:rPr i="1" lang="en-US">
                <a:solidFill>
                  <a:schemeClr val="dk1"/>
                </a:solidFill>
              </a:rPr>
              <a:t>The 8086/8088 Family: Design, Programming, And Interfacing,</a:t>
            </a:r>
            <a:r>
              <a:rPr lang="en-US">
                <a:solidFill>
                  <a:schemeClr val="dk1"/>
                </a:solidFill>
              </a:rPr>
              <a:t> </a:t>
            </a:r>
            <a:r>
              <a:rPr i="1" lang="en-US">
                <a:solidFill>
                  <a:schemeClr val="dk1"/>
                </a:solidFill>
              </a:rPr>
              <a:t>Chapter # 2, </a:t>
            </a:r>
            <a:r>
              <a:rPr b="1" lang="en-US">
                <a:solidFill>
                  <a:schemeClr val="dk1"/>
                </a:solidFill>
              </a:rPr>
              <a:t>Author: </a:t>
            </a:r>
            <a:r>
              <a:rPr lang="en-US">
                <a:solidFill>
                  <a:schemeClr val="dk1"/>
                </a:solidFill>
              </a:rPr>
              <a:t> John Uffenbeck.</a:t>
            </a:r>
            <a:endParaRPr/>
          </a:p>
          <a:p>
            <a:pPr indent="-163322" lvl="1" marL="548640" rtl="0" algn="l">
              <a:spcBef>
                <a:spcPts val="500"/>
              </a:spcBef>
              <a:spcAft>
                <a:spcPts val="0"/>
              </a:spcAft>
              <a:buSzPts val="1748"/>
              <a:buNone/>
            </a:pPr>
            <a:r>
              <a:t/>
            </a:r>
            <a:endParaRPr>
              <a:solidFill>
                <a:schemeClr val="dk1"/>
              </a:solidFill>
            </a:endParaRPr>
          </a:p>
          <a:p>
            <a:pPr indent="-274320" lvl="1" marL="548640" rtl="0" algn="l">
              <a:spcBef>
                <a:spcPts val="500"/>
              </a:spcBef>
              <a:spcAft>
                <a:spcPts val="0"/>
              </a:spcAft>
              <a:buSzPts val="1748"/>
              <a:buNone/>
            </a:pPr>
            <a:r>
              <a:t/>
            </a:r>
            <a:endParaRPr>
              <a:solidFill>
                <a:schemeClr val="dk1"/>
              </a:solidFill>
            </a:endParaRPr>
          </a:p>
          <a:p>
            <a:pPr indent="-163322" lvl="1" marL="548640" rtl="0" algn="l">
              <a:spcBef>
                <a:spcPts val="500"/>
              </a:spcBef>
              <a:spcAft>
                <a:spcPts val="0"/>
              </a:spcAft>
              <a:buSzPts val="1748"/>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Addressing Mode and It’s Categories</a:t>
            </a:r>
            <a:endParaRPr/>
          </a:p>
        </p:txBody>
      </p:sp>
      <p:sp>
        <p:nvSpPr>
          <p:cNvPr id="57" name="Google Shape;57;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58" name="Google Shape;58;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US"/>
              <a:t>The different ways in which a microprocessor can access data are referred to as its addressing modes.</a:t>
            </a:r>
            <a:endParaRPr/>
          </a:p>
          <a:p>
            <a:pPr indent="-148844" lvl="0" marL="274320" rtl="0" algn="l">
              <a:spcBef>
                <a:spcPts val="600"/>
              </a:spcBef>
              <a:spcAft>
                <a:spcPts val="0"/>
              </a:spcAft>
              <a:buSzPts val="1976"/>
              <a:buNone/>
            </a:pPr>
            <a:r>
              <a:t/>
            </a:r>
            <a:endParaRPr/>
          </a:p>
          <a:p>
            <a:pPr indent="-274320" lvl="0" marL="274320" rtl="0" algn="l">
              <a:spcBef>
                <a:spcPts val="600"/>
              </a:spcBef>
              <a:spcAft>
                <a:spcPts val="0"/>
              </a:spcAft>
              <a:buSzPts val="1976"/>
              <a:buChar char="🞂"/>
            </a:pPr>
            <a:r>
              <a:rPr lang="en-US"/>
              <a:t>Addressing modes of 8086 Microprocessor are categorized as:</a:t>
            </a:r>
            <a:endParaRPr/>
          </a:p>
          <a:p>
            <a:pPr indent="-274320" lvl="1" marL="548640" rtl="0" algn="l">
              <a:spcBef>
                <a:spcPts val="500"/>
              </a:spcBef>
              <a:spcAft>
                <a:spcPts val="0"/>
              </a:spcAft>
              <a:buSzPts val="1976"/>
              <a:buChar char="🞂"/>
            </a:pPr>
            <a:r>
              <a:rPr i="1" lang="en-US" sz="2600">
                <a:solidFill>
                  <a:schemeClr val="dk1"/>
                </a:solidFill>
              </a:rPr>
              <a:t>Addressing Data</a:t>
            </a:r>
            <a:endParaRPr/>
          </a:p>
          <a:p>
            <a:pPr indent="-274320" lvl="1" marL="548640" rtl="0" algn="l">
              <a:spcBef>
                <a:spcPts val="500"/>
              </a:spcBef>
              <a:spcAft>
                <a:spcPts val="0"/>
              </a:spcAft>
              <a:buSzPts val="1976"/>
              <a:buChar char="🞂"/>
            </a:pPr>
            <a:r>
              <a:rPr i="1" lang="en-US" sz="2600">
                <a:solidFill>
                  <a:schemeClr val="dk1"/>
                </a:solidFill>
              </a:rPr>
              <a:t>Addressing Program codes in memory</a:t>
            </a:r>
            <a:endParaRPr/>
          </a:p>
          <a:p>
            <a:pPr indent="-274320" lvl="1" marL="548640" rtl="0" algn="l">
              <a:spcBef>
                <a:spcPts val="500"/>
              </a:spcBef>
              <a:spcAft>
                <a:spcPts val="0"/>
              </a:spcAft>
              <a:buSzPts val="1976"/>
              <a:buChar char="🞂"/>
            </a:pPr>
            <a:r>
              <a:rPr i="1" lang="en-US" sz="2600">
                <a:solidFill>
                  <a:schemeClr val="dk1"/>
                </a:solidFill>
              </a:rPr>
              <a:t>Addressing Stack in memory</a:t>
            </a:r>
            <a:endParaRPr/>
          </a:p>
          <a:p>
            <a:pPr indent="-274320" lvl="1" marL="548640" rtl="0" algn="l">
              <a:spcBef>
                <a:spcPts val="500"/>
              </a:spcBef>
              <a:spcAft>
                <a:spcPts val="0"/>
              </a:spcAft>
              <a:buSzPts val="1976"/>
              <a:buChar char="🞂"/>
            </a:pPr>
            <a:r>
              <a:rPr i="1" lang="en-US" sz="2600">
                <a:solidFill>
                  <a:schemeClr val="dk1"/>
                </a:solidFill>
              </a:rPr>
              <a:t>Addressing  I/O</a:t>
            </a:r>
            <a:endParaRPr/>
          </a:p>
          <a:p>
            <a:pPr indent="-274320" lvl="1" marL="548640" rtl="0" algn="l">
              <a:spcBef>
                <a:spcPts val="500"/>
              </a:spcBef>
              <a:spcAft>
                <a:spcPts val="0"/>
              </a:spcAft>
              <a:buSzPts val="1976"/>
              <a:buChar char="🞂"/>
            </a:pPr>
            <a:r>
              <a:rPr i="1" lang="en-US" sz="2600">
                <a:solidFill>
                  <a:schemeClr val="dk1"/>
                </a:solidFill>
              </a:rPr>
              <a:t>Implied addressing</a:t>
            </a:r>
            <a:endParaRPr/>
          </a:p>
        </p:txBody>
      </p:sp>
      <p:sp>
        <p:nvSpPr>
          <p:cNvPr id="59" name="Google Shape;59;p1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17e4e7b765_0_285"/>
          <p:cNvSpPr txBox="1"/>
          <p:nvPr>
            <p:ph type="title"/>
          </p:nvPr>
        </p:nvSpPr>
        <p:spPr>
          <a:xfrm>
            <a:off x="530225" y="590168"/>
            <a:ext cx="34773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Things to know…</a:t>
            </a:r>
            <a:endParaRPr/>
          </a:p>
        </p:txBody>
      </p:sp>
      <p:sp>
        <p:nvSpPr>
          <p:cNvPr id="65" name="Google Shape;65;g317e4e7b765_0_285"/>
          <p:cNvSpPr txBox="1"/>
          <p:nvPr/>
        </p:nvSpPr>
        <p:spPr>
          <a:xfrm>
            <a:off x="505121" y="1231391"/>
            <a:ext cx="2766600" cy="813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950">
                <a:solidFill>
                  <a:srgbClr val="727BA3"/>
                </a:solidFill>
                <a:latin typeface="Lucida Sans"/>
                <a:ea typeface="Lucida Sans"/>
                <a:cs typeface="Lucida Sans"/>
                <a:sym typeface="Lucida Sans"/>
              </a:rPr>
              <a:t>□	</a:t>
            </a:r>
            <a:r>
              <a:rPr lang="en-US" sz="2600">
                <a:latin typeface="Tahoma"/>
                <a:ea typeface="Tahoma"/>
                <a:cs typeface="Tahoma"/>
                <a:sym typeface="Tahoma"/>
              </a:rPr>
              <a:t>Instruction format</a:t>
            </a:r>
            <a:endParaRPr sz="2600">
              <a:latin typeface="Tahoma"/>
              <a:ea typeface="Tahoma"/>
              <a:cs typeface="Tahoma"/>
              <a:sym typeface="Tahoma"/>
            </a:endParaRPr>
          </a:p>
        </p:txBody>
      </p:sp>
      <p:sp>
        <p:nvSpPr>
          <p:cNvPr id="66" name="Google Shape;66;g317e4e7b765_0_285"/>
          <p:cNvSpPr txBox="1"/>
          <p:nvPr/>
        </p:nvSpPr>
        <p:spPr>
          <a:xfrm>
            <a:off x="505121" y="1845841"/>
            <a:ext cx="5942400" cy="1384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950">
                <a:solidFill>
                  <a:srgbClr val="727BA3"/>
                </a:solidFill>
                <a:latin typeface="Lucida Sans"/>
                <a:ea typeface="Lucida Sans"/>
                <a:cs typeface="Lucida Sans"/>
                <a:sym typeface="Lucida Sans"/>
              </a:rPr>
              <a:t>□	</a:t>
            </a:r>
            <a:r>
              <a:rPr lang="en-US" sz="2600">
                <a:latin typeface="Tahoma"/>
                <a:ea typeface="Tahoma"/>
                <a:cs typeface="Tahoma"/>
                <a:sym typeface="Tahoma"/>
              </a:rPr>
              <a:t>Instructions can have 1, 2 or no operands</a:t>
            </a:r>
            <a:endParaRPr sz="2600">
              <a:latin typeface="Tahoma"/>
              <a:ea typeface="Tahoma"/>
              <a:cs typeface="Tahoma"/>
              <a:sym typeface="Tahoma"/>
            </a:endParaRPr>
          </a:p>
          <a:p>
            <a:pPr indent="0" lvl="0" marL="612775" marR="0" rtl="0" algn="l">
              <a:lnSpc>
                <a:spcPct val="100000"/>
              </a:lnSpc>
              <a:spcBef>
                <a:spcPts val="2055"/>
              </a:spcBef>
              <a:spcAft>
                <a:spcPts val="0"/>
              </a:spcAft>
              <a:buNone/>
            </a:pPr>
            <a:r>
              <a:rPr b="1" lang="en-US" sz="1500">
                <a:solidFill>
                  <a:srgbClr val="BABABA"/>
                </a:solidFill>
                <a:latin typeface="Arial"/>
                <a:ea typeface="Arial"/>
                <a:cs typeface="Arial"/>
                <a:sym typeface="Arial"/>
              </a:rPr>
              <a:t>□	</a:t>
            </a:r>
            <a:r>
              <a:rPr b="1" lang="en-US" sz="2000">
                <a:latin typeface="Arial"/>
                <a:ea typeface="Arial"/>
                <a:cs typeface="Arial"/>
                <a:sym typeface="Arial"/>
              </a:rPr>
              <a:t>INC AX ; </a:t>
            </a:r>
            <a:r>
              <a:rPr lang="en-US" sz="2000">
                <a:latin typeface="Tahoma"/>
                <a:ea typeface="Tahoma"/>
                <a:cs typeface="Tahoma"/>
                <a:sym typeface="Tahoma"/>
              </a:rPr>
              <a:t>1 operand</a:t>
            </a:r>
            <a:endParaRPr sz="2000">
              <a:latin typeface="Tahoma"/>
              <a:ea typeface="Tahoma"/>
              <a:cs typeface="Tahoma"/>
              <a:sym typeface="Tahoma"/>
            </a:endParaRPr>
          </a:p>
        </p:txBody>
      </p:sp>
      <p:sp>
        <p:nvSpPr>
          <p:cNvPr id="67" name="Google Shape;67;g317e4e7b765_0_285"/>
          <p:cNvSpPr txBox="1"/>
          <p:nvPr/>
        </p:nvSpPr>
        <p:spPr>
          <a:xfrm>
            <a:off x="5622729" y="3079115"/>
            <a:ext cx="1692300" cy="320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000">
                <a:latin typeface="Tahoma"/>
                <a:ea typeface="Tahoma"/>
                <a:cs typeface="Tahoma"/>
                <a:sym typeface="Tahoma"/>
              </a:rPr>
              <a:t>CX = CX + DX</a:t>
            </a:r>
            <a:endParaRPr sz="2000">
              <a:latin typeface="Tahoma"/>
              <a:ea typeface="Tahoma"/>
              <a:cs typeface="Tahoma"/>
              <a:sym typeface="Tahoma"/>
            </a:endParaRPr>
          </a:p>
        </p:txBody>
      </p:sp>
      <p:sp>
        <p:nvSpPr>
          <p:cNvPr id="68" name="Google Shape;68;g317e4e7b765_0_285"/>
          <p:cNvSpPr txBox="1"/>
          <p:nvPr/>
        </p:nvSpPr>
        <p:spPr>
          <a:xfrm>
            <a:off x="1105268" y="4793615"/>
            <a:ext cx="6399000" cy="1465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500">
                <a:solidFill>
                  <a:srgbClr val="BABABA"/>
                </a:solidFill>
                <a:latin typeface="Lucida Sans"/>
                <a:ea typeface="Lucida Sans"/>
                <a:cs typeface="Lucida Sans"/>
                <a:sym typeface="Lucida Sans"/>
              </a:rPr>
              <a:t>□	</a:t>
            </a:r>
            <a:r>
              <a:rPr b="1" lang="en-US" sz="2000">
                <a:latin typeface="Arial"/>
                <a:ea typeface="Arial"/>
                <a:cs typeface="Arial"/>
                <a:sym typeface="Arial"/>
              </a:rPr>
              <a:t>SUB [DI], [1234h] ; </a:t>
            </a:r>
            <a:r>
              <a:rPr lang="en-US" sz="2000">
                <a:latin typeface="Tahoma"/>
                <a:ea typeface="Tahoma"/>
                <a:cs typeface="Tahoma"/>
                <a:sym typeface="Tahoma"/>
              </a:rPr>
              <a:t>memory locations as both operands</a:t>
            </a:r>
            <a:endParaRPr sz="2000">
              <a:latin typeface="Tahoma"/>
              <a:ea typeface="Tahoma"/>
              <a:cs typeface="Tahoma"/>
              <a:sym typeface="Tahoma"/>
            </a:endParaRPr>
          </a:p>
          <a:p>
            <a:pPr indent="0" lvl="0" marL="12700" marR="0" rtl="0" algn="l">
              <a:lnSpc>
                <a:spcPct val="100000"/>
              </a:lnSpc>
              <a:spcBef>
                <a:spcPts val="1725"/>
              </a:spcBef>
              <a:spcAft>
                <a:spcPts val="0"/>
              </a:spcAft>
              <a:buNone/>
            </a:pPr>
            <a:r>
              <a:rPr b="1" lang="en-US" sz="1500">
                <a:solidFill>
                  <a:srgbClr val="BABABA"/>
                </a:solidFill>
                <a:latin typeface="Arial"/>
                <a:ea typeface="Arial"/>
                <a:cs typeface="Arial"/>
                <a:sym typeface="Arial"/>
              </a:rPr>
              <a:t>□	</a:t>
            </a:r>
            <a:r>
              <a:rPr b="1" lang="en-US" sz="2000">
                <a:latin typeface="Arial"/>
                <a:ea typeface="Arial"/>
                <a:cs typeface="Arial"/>
                <a:sym typeface="Arial"/>
              </a:rPr>
              <a:t>MOV 1234, AX ; </a:t>
            </a:r>
            <a:r>
              <a:rPr lang="en-US" sz="2000">
                <a:latin typeface="Tahoma"/>
                <a:ea typeface="Tahoma"/>
                <a:cs typeface="Tahoma"/>
                <a:sym typeface="Tahoma"/>
              </a:rPr>
              <a:t>immediate data as destination operand</a:t>
            </a:r>
            <a:endParaRPr sz="2000">
              <a:latin typeface="Tahoma"/>
              <a:ea typeface="Tahoma"/>
              <a:cs typeface="Tahoma"/>
              <a:sym typeface="Tahoma"/>
            </a:endParaRPr>
          </a:p>
        </p:txBody>
      </p:sp>
      <p:grpSp>
        <p:nvGrpSpPr>
          <p:cNvPr id="69" name="Google Shape;69;g317e4e7b765_0_285"/>
          <p:cNvGrpSpPr/>
          <p:nvPr/>
        </p:nvGrpSpPr>
        <p:grpSpPr>
          <a:xfrm>
            <a:off x="4605337" y="3259137"/>
            <a:ext cx="619125" cy="238125"/>
            <a:chOff x="4605337" y="3259137"/>
            <a:chExt cx="619125" cy="238125"/>
          </a:xfrm>
        </p:grpSpPr>
        <p:pic>
          <p:nvPicPr>
            <p:cNvPr id="70" name="Google Shape;70;g317e4e7b765_0_285"/>
            <p:cNvPicPr preferRelativeResize="0"/>
            <p:nvPr/>
          </p:nvPicPr>
          <p:blipFill rotWithShape="1">
            <a:blip r:embed="rId3">
              <a:alphaModFix/>
            </a:blip>
            <a:srcRect b="0" l="0" r="0" t="0"/>
            <a:stretch/>
          </p:blipFill>
          <p:spPr>
            <a:xfrm>
              <a:off x="4605337" y="3259137"/>
              <a:ext cx="619125" cy="238125"/>
            </a:xfrm>
            <a:prstGeom prst="rect">
              <a:avLst/>
            </a:prstGeom>
            <a:noFill/>
            <a:ln>
              <a:noFill/>
            </a:ln>
          </p:spPr>
        </p:pic>
        <p:pic>
          <p:nvPicPr>
            <p:cNvPr id="71" name="Google Shape;71;g317e4e7b765_0_285"/>
            <p:cNvPicPr preferRelativeResize="0"/>
            <p:nvPr/>
          </p:nvPicPr>
          <p:blipFill rotWithShape="1">
            <a:blip r:embed="rId4">
              <a:alphaModFix/>
            </a:blip>
            <a:srcRect b="0" l="0" r="0" t="0"/>
            <a:stretch/>
          </p:blipFill>
          <p:spPr>
            <a:xfrm>
              <a:off x="4648199" y="3276599"/>
              <a:ext cx="533399" cy="152399"/>
            </a:xfrm>
            <a:prstGeom prst="rect">
              <a:avLst/>
            </a:prstGeom>
            <a:noFill/>
            <a:ln>
              <a:noFill/>
            </a:ln>
          </p:spPr>
        </p:pic>
        <p:sp>
          <p:nvSpPr>
            <p:cNvPr id="72" name="Google Shape;72;g317e4e7b765_0_285"/>
            <p:cNvSpPr/>
            <p:nvPr/>
          </p:nvSpPr>
          <p:spPr>
            <a:xfrm>
              <a:off x="4648199" y="3276599"/>
              <a:ext cx="533400" cy="152400"/>
            </a:xfrm>
            <a:custGeom>
              <a:rect b="b" l="l" r="r" t="t"/>
              <a:pathLst>
                <a:path extrusionOk="0" h="152400" w="533400">
                  <a:moveTo>
                    <a:pt x="0" y="38099"/>
                  </a:moveTo>
                  <a:lnTo>
                    <a:pt x="457199" y="38099"/>
                  </a:lnTo>
                  <a:lnTo>
                    <a:pt x="457199" y="0"/>
                  </a:lnTo>
                  <a:lnTo>
                    <a:pt x="533399" y="76199"/>
                  </a:lnTo>
                  <a:lnTo>
                    <a:pt x="457199" y="152399"/>
                  </a:lnTo>
                  <a:lnTo>
                    <a:pt x="457199" y="114299"/>
                  </a:lnTo>
                  <a:lnTo>
                    <a:pt x="0" y="114299"/>
                  </a:lnTo>
                  <a:lnTo>
                    <a:pt x="0" y="380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73" name="Google Shape;73;g317e4e7b765_0_285"/>
          <p:cNvSpPr/>
          <p:nvPr/>
        </p:nvSpPr>
        <p:spPr>
          <a:xfrm>
            <a:off x="3705126" y="1447800"/>
            <a:ext cx="2391410" cy="369569"/>
          </a:xfrm>
          <a:custGeom>
            <a:rect b="b" l="l" r="r" t="t"/>
            <a:pathLst>
              <a:path extrusionOk="0" h="369569" w="2391410">
                <a:moveTo>
                  <a:pt x="0" y="0"/>
                </a:moveTo>
                <a:lnTo>
                  <a:pt x="1066799" y="0"/>
                </a:lnTo>
                <a:lnTo>
                  <a:pt x="1066799" y="369331"/>
                </a:lnTo>
                <a:lnTo>
                  <a:pt x="0" y="369331"/>
                </a:lnTo>
                <a:lnTo>
                  <a:pt x="0" y="0"/>
                </a:lnTo>
                <a:close/>
              </a:path>
              <a:path extrusionOk="0" h="369569" w="2391410">
                <a:moveTo>
                  <a:pt x="1071119" y="0"/>
                </a:moveTo>
                <a:lnTo>
                  <a:pt x="2390872" y="0"/>
                </a:lnTo>
                <a:lnTo>
                  <a:pt x="2390872" y="369331"/>
                </a:lnTo>
                <a:lnTo>
                  <a:pt x="1071119" y="369331"/>
                </a:lnTo>
                <a:lnTo>
                  <a:pt x="1071119"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4" name="Google Shape;74;g317e4e7b765_0_285"/>
          <p:cNvSpPr txBox="1"/>
          <p:nvPr/>
        </p:nvSpPr>
        <p:spPr>
          <a:xfrm>
            <a:off x="3709889" y="1464055"/>
            <a:ext cx="2382000" cy="289800"/>
          </a:xfrm>
          <a:prstGeom prst="rect">
            <a:avLst/>
          </a:prstGeom>
          <a:noFill/>
          <a:ln>
            <a:noFill/>
          </a:ln>
        </p:spPr>
        <p:txBody>
          <a:bodyPr anchorCtr="0" anchor="t" bIns="0" lIns="0" spcFirstLastPara="1" rIns="0" wrap="square" tIns="12700">
            <a:spAutoFit/>
          </a:bodyPr>
          <a:lstStyle/>
          <a:p>
            <a:pPr indent="0" lvl="0" marL="182245" marR="0" rtl="0" algn="l">
              <a:lnSpc>
                <a:spcPct val="100000"/>
              </a:lnSpc>
              <a:spcBef>
                <a:spcPts val="0"/>
              </a:spcBef>
              <a:spcAft>
                <a:spcPts val="0"/>
              </a:spcAft>
              <a:buNone/>
            </a:pPr>
            <a:r>
              <a:rPr lang="en-US" sz="1800">
                <a:latin typeface="Tahoma"/>
                <a:ea typeface="Tahoma"/>
                <a:cs typeface="Tahoma"/>
                <a:sym typeface="Tahoma"/>
              </a:rPr>
              <a:t>opcode	    Operand(s)</a:t>
            </a:r>
            <a:endParaRPr sz="1800">
              <a:latin typeface="Tahoma"/>
              <a:ea typeface="Tahoma"/>
              <a:cs typeface="Tahoma"/>
              <a:sym typeface="Tahoma"/>
            </a:endParaRPr>
          </a:p>
        </p:txBody>
      </p:sp>
      <p:grpSp>
        <p:nvGrpSpPr>
          <p:cNvPr id="75" name="Google Shape;75;g317e4e7b765_0_285"/>
          <p:cNvGrpSpPr/>
          <p:nvPr/>
        </p:nvGrpSpPr>
        <p:grpSpPr>
          <a:xfrm>
            <a:off x="2234557" y="3035435"/>
            <a:ext cx="491053" cy="339727"/>
            <a:chOff x="2234557" y="3035435"/>
            <a:chExt cx="491053" cy="339727"/>
          </a:xfrm>
        </p:grpSpPr>
        <p:pic>
          <p:nvPicPr>
            <p:cNvPr id="76" name="Google Shape;76;g317e4e7b765_0_285"/>
            <p:cNvPicPr preferRelativeResize="0"/>
            <p:nvPr/>
          </p:nvPicPr>
          <p:blipFill rotWithShape="1">
            <a:blip r:embed="rId5">
              <a:alphaModFix/>
            </a:blip>
            <a:srcRect b="0" l="0" r="0" t="0"/>
            <a:stretch/>
          </p:blipFill>
          <p:spPr>
            <a:xfrm>
              <a:off x="2234557" y="3035435"/>
              <a:ext cx="491053" cy="339727"/>
            </a:xfrm>
            <a:prstGeom prst="rect">
              <a:avLst/>
            </a:prstGeom>
            <a:noFill/>
            <a:ln>
              <a:noFill/>
            </a:ln>
          </p:spPr>
        </p:pic>
        <p:pic>
          <p:nvPicPr>
            <p:cNvPr id="77" name="Google Shape;77;g317e4e7b765_0_285"/>
            <p:cNvPicPr preferRelativeResize="0"/>
            <p:nvPr/>
          </p:nvPicPr>
          <p:blipFill rotWithShape="1">
            <a:blip r:embed="rId6">
              <a:alphaModFix/>
            </a:blip>
            <a:srcRect b="0" l="0" r="0" t="0"/>
            <a:stretch/>
          </p:blipFill>
          <p:spPr>
            <a:xfrm>
              <a:off x="2290119" y="3047999"/>
              <a:ext cx="379928" cy="228600"/>
            </a:xfrm>
            <a:prstGeom prst="rect">
              <a:avLst/>
            </a:prstGeom>
            <a:noFill/>
            <a:ln>
              <a:noFill/>
            </a:ln>
          </p:spPr>
        </p:pic>
        <p:sp>
          <p:nvSpPr>
            <p:cNvPr id="78" name="Google Shape;78;g317e4e7b765_0_285"/>
            <p:cNvSpPr/>
            <p:nvPr/>
          </p:nvSpPr>
          <p:spPr>
            <a:xfrm>
              <a:off x="2290119" y="3047999"/>
              <a:ext cx="380364" cy="228600"/>
            </a:xfrm>
            <a:custGeom>
              <a:rect b="b" l="l" r="r" t="t"/>
              <a:pathLst>
                <a:path extrusionOk="0" h="228600" w="380364">
                  <a:moveTo>
                    <a:pt x="221622" y="5614"/>
                  </a:moveTo>
                  <a:lnTo>
                    <a:pt x="254856" y="27584"/>
                  </a:lnTo>
                  <a:lnTo>
                    <a:pt x="282782" y="63499"/>
                  </a:lnTo>
                  <a:lnTo>
                    <a:pt x="304206" y="110727"/>
                  </a:lnTo>
                  <a:lnTo>
                    <a:pt x="317936" y="166637"/>
                  </a:lnTo>
                  <a:lnTo>
                    <a:pt x="322778" y="228599"/>
                  </a:lnTo>
                  <a:lnTo>
                    <a:pt x="379928" y="228599"/>
                  </a:lnTo>
                  <a:lnTo>
                    <a:pt x="375294" y="167829"/>
                  </a:lnTo>
                  <a:lnTo>
                    <a:pt x="362216" y="113221"/>
                  </a:lnTo>
                  <a:lnTo>
                    <a:pt x="341931" y="66955"/>
                  </a:lnTo>
                  <a:lnTo>
                    <a:pt x="315675" y="31210"/>
                  </a:lnTo>
                  <a:lnTo>
                    <a:pt x="284685" y="8165"/>
                  </a:lnTo>
                  <a:lnTo>
                    <a:pt x="250197" y="0"/>
                  </a:lnTo>
                  <a:lnTo>
                    <a:pt x="193047" y="0"/>
                  </a:lnTo>
                  <a:lnTo>
                    <a:pt x="127536" y="31282"/>
                  </a:lnTo>
                  <a:lnTo>
                    <a:pt x="101003" y="67497"/>
                  </a:lnTo>
                  <a:lnTo>
                    <a:pt x="80500" y="114861"/>
                  </a:lnTo>
                  <a:lnTo>
                    <a:pt x="67436" y="171449"/>
                  </a:lnTo>
                  <a:lnTo>
                    <a:pt x="0" y="171449"/>
                  </a:lnTo>
                  <a:lnTo>
                    <a:pt x="91892" y="228599"/>
                  </a:lnTo>
                  <a:lnTo>
                    <a:pt x="192023" y="171449"/>
                  </a:lnTo>
                  <a:lnTo>
                    <a:pt x="124586" y="171449"/>
                  </a:lnTo>
                  <a:lnTo>
                    <a:pt x="137650" y="114861"/>
                  </a:lnTo>
                  <a:lnTo>
                    <a:pt x="158153" y="67497"/>
                  </a:lnTo>
                  <a:lnTo>
                    <a:pt x="184686" y="31282"/>
                  </a:lnTo>
                  <a:lnTo>
                    <a:pt x="215838" y="8141"/>
                  </a:lnTo>
                  <a:lnTo>
                    <a:pt x="250197"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79" name="Google Shape;79;g317e4e7b765_0_285"/>
          <p:cNvSpPr txBox="1"/>
          <p:nvPr/>
        </p:nvSpPr>
        <p:spPr>
          <a:xfrm>
            <a:off x="1673225" y="3492275"/>
            <a:ext cx="741600" cy="38490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i="1" lang="en-US" sz="1200">
                <a:solidFill>
                  <a:srgbClr val="FF0000"/>
                </a:solidFill>
                <a:latin typeface="Trebuchet MS"/>
                <a:ea typeface="Trebuchet MS"/>
                <a:cs typeface="Trebuchet MS"/>
                <a:sym typeface="Trebuchet MS"/>
              </a:rPr>
              <a:t>Destination</a:t>
            </a:r>
            <a:endParaRPr sz="1200">
              <a:latin typeface="Trebuchet MS"/>
              <a:ea typeface="Trebuchet MS"/>
              <a:cs typeface="Trebuchet MS"/>
              <a:sym typeface="Trebuchet MS"/>
            </a:endParaRPr>
          </a:p>
        </p:txBody>
      </p:sp>
      <p:sp>
        <p:nvSpPr>
          <p:cNvPr id="80" name="Google Shape;80;g317e4e7b765_0_285"/>
          <p:cNvSpPr txBox="1"/>
          <p:nvPr/>
        </p:nvSpPr>
        <p:spPr>
          <a:xfrm>
            <a:off x="551221" y="3276253"/>
            <a:ext cx="3857700" cy="1881000"/>
          </a:xfrm>
          <a:prstGeom prst="rect">
            <a:avLst/>
          </a:prstGeom>
          <a:noFill/>
          <a:ln>
            <a:noFill/>
          </a:ln>
        </p:spPr>
        <p:txBody>
          <a:bodyPr anchorCtr="0" anchor="t" bIns="0" lIns="0" spcFirstLastPara="1" rIns="0" wrap="square" tIns="12700">
            <a:spAutoFit/>
          </a:bodyPr>
          <a:lstStyle/>
          <a:p>
            <a:pPr indent="-248284" lvl="0" marL="885825" marR="0" rtl="0" algn="l">
              <a:lnSpc>
                <a:spcPct val="100000"/>
              </a:lnSpc>
              <a:spcBef>
                <a:spcPts val="0"/>
              </a:spcBef>
              <a:spcAft>
                <a:spcPts val="0"/>
              </a:spcAft>
              <a:buClr>
                <a:srgbClr val="BABABA"/>
              </a:buClr>
              <a:buSzPts val="1500"/>
              <a:buFont typeface="Arial"/>
              <a:buChar char="□"/>
            </a:pPr>
            <a:r>
              <a:rPr b="1" lang="en-US" sz="2000">
                <a:latin typeface="Arial"/>
                <a:ea typeface="Arial"/>
                <a:cs typeface="Arial"/>
                <a:sym typeface="Arial"/>
              </a:rPr>
              <a:t>ADD CX, DX ; </a:t>
            </a:r>
            <a:r>
              <a:rPr lang="en-US" sz="2000">
                <a:latin typeface="Tahoma"/>
                <a:ea typeface="Tahoma"/>
                <a:cs typeface="Tahoma"/>
                <a:sym typeface="Tahoma"/>
              </a:rPr>
              <a:t>2 operands</a:t>
            </a:r>
            <a:endParaRPr sz="2000">
              <a:latin typeface="Tahoma"/>
              <a:ea typeface="Tahoma"/>
              <a:cs typeface="Tahoma"/>
              <a:sym typeface="Tahoma"/>
            </a:endParaRPr>
          </a:p>
          <a:p>
            <a:pPr indent="-248284" lvl="0" marL="885825" marR="0" rtl="0" algn="l">
              <a:lnSpc>
                <a:spcPct val="100000"/>
              </a:lnSpc>
              <a:spcBef>
                <a:spcPts val="1725"/>
              </a:spcBef>
              <a:spcAft>
                <a:spcPts val="0"/>
              </a:spcAft>
              <a:buClr>
                <a:srgbClr val="BABABA"/>
              </a:buClr>
              <a:buSzPts val="1500"/>
              <a:buFont typeface="Arial"/>
              <a:buChar char="□"/>
            </a:pPr>
            <a:r>
              <a:rPr b="1" lang="en-US" sz="2000">
                <a:latin typeface="Arial"/>
                <a:ea typeface="Arial"/>
                <a:cs typeface="Arial"/>
                <a:sym typeface="Arial"/>
              </a:rPr>
              <a:t>HL</a:t>
            </a:r>
            <a:r>
              <a:rPr baseline="30000" i="1" lang="en-US" sz="1800">
                <a:solidFill>
                  <a:srgbClr val="FF0000"/>
                </a:solidFill>
                <a:latin typeface="Trebuchet MS"/>
                <a:ea typeface="Trebuchet MS"/>
                <a:cs typeface="Trebuchet MS"/>
                <a:sym typeface="Trebuchet MS"/>
              </a:rPr>
              <a:t>s</a:t>
            </a:r>
            <a:r>
              <a:rPr b="1" lang="en-US" sz="2000">
                <a:latin typeface="Arial"/>
                <a:ea typeface="Arial"/>
                <a:cs typeface="Arial"/>
                <a:sym typeface="Arial"/>
              </a:rPr>
              <a:t>T</a:t>
            </a:r>
            <a:r>
              <a:rPr baseline="30000" i="1" lang="en-US" sz="1800">
                <a:solidFill>
                  <a:srgbClr val="FF0000"/>
                </a:solidFill>
                <a:latin typeface="Trebuchet MS"/>
                <a:ea typeface="Trebuchet MS"/>
                <a:cs typeface="Trebuchet MS"/>
                <a:sym typeface="Trebuchet MS"/>
              </a:rPr>
              <a:t>our</a:t>
            </a:r>
            <a:r>
              <a:rPr b="1" lang="en-US" sz="2000">
                <a:latin typeface="Arial"/>
                <a:ea typeface="Arial"/>
                <a:cs typeface="Arial"/>
                <a:sym typeface="Arial"/>
              </a:rPr>
              <a:t>;</a:t>
            </a:r>
            <a:r>
              <a:rPr baseline="30000" i="1" lang="en-US" sz="1800">
                <a:solidFill>
                  <a:srgbClr val="FF0000"/>
                </a:solidFill>
                <a:latin typeface="Trebuchet MS"/>
                <a:ea typeface="Trebuchet MS"/>
                <a:cs typeface="Trebuchet MS"/>
                <a:sym typeface="Trebuchet MS"/>
              </a:rPr>
              <a:t>ce</a:t>
            </a:r>
            <a:r>
              <a:rPr lang="en-US" sz="2000">
                <a:latin typeface="Tahoma"/>
                <a:ea typeface="Tahoma"/>
                <a:cs typeface="Tahoma"/>
                <a:sym typeface="Tahoma"/>
              </a:rPr>
              <a:t>no operand</a:t>
            </a:r>
            <a:endParaRPr sz="2000">
              <a:latin typeface="Tahoma"/>
              <a:ea typeface="Tahoma"/>
              <a:cs typeface="Tahoma"/>
              <a:sym typeface="Tahoma"/>
            </a:endParaRPr>
          </a:p>
          <a:p>
            <a:pPr indent="0" lvl="0" marL="38100" marR="0" rtl="0" algn="l">
              <a:lnSpc>
                <a:spcPct val="100000"/>
              </a:lnSpc>
              <a:spcBef>
                <a:spcPts val="1800"/>
              </a:spcBef>
              <a:spcAft>
                <a:spcPts val="0"/>
              </a:spcAft>
              <a:buNone/>
            </a:pPr>
            <a:r>
              <a:rPr lang="en-US" sz="1950">
                <a:solidFill>
                  <a:srgbClr val="727BA3"/>
                </a:solidFill>
                <a:latin typeface="Lucida Sans"/>
                <a:ea typeface="Lucida Sans"/>
                <a:cs typeface="Lucida Sans"/>
                <a:sym typeface="Lucida Sans"/>
              </a:rPr>
              <a:t>□	</a:t>
            </a:r>
            <a:r>
              <a:rPr lang="en-US" sz="2600">
                <a:latin typeface="Tahoma"/>
                <a:ea typeface="Tahoma"/>
                <a:cs typeface="Tahoma"/>
                <a:sym typeface="Tahoma"/>
              </a:rPr>
              <a:t>Instruction cannot have:</a:t>
            </a:r>
            <a:endParaRPr sz="2600">
              <a:latin typeface="Tahoma"/>
              <a:ea typeface="Tahoma"/>
              <a:cs typeface="Tahoma"/>
              <a:sym typeface="Tahoma"/>
            </a:endParaRPr>
          </a:p>
        </p:txBody>
      </p:sp>
      <p:pic>
        <p:nvPicPr>
          <p:cNvPr id="81" name="Google Shape;81;g317e4e7b765_0_285"/>
          <p:cNvPicPr preferRelativeResize="0"/>
          <p:nvPr/>
        </p:nvPicPr>
        <p:blipFill rotWithShape="1">
          <a:blip r:embed="rId7">
            <a:alphaModFix/>
          </a:blip>
          <a:srcRect b="0" l="0" r="0" t="0"/>
          <a:stretch/>
        </p:blipFill>
        <p:spPr>
          <a:xfrm>
            <a:off x="2135549" y="3424237"/>
            <a:ext cx="79012" cy="135823"/>
          </a:xfrm>
          <a:prstGeom prst="rect">
            <a:avLst/>
          </a:prstGeom>
          <a:noFill/>
          <a:ln>
            <a:noFill/>
          </a:ln>
        </p:spPr>
      </p:pic>
      <p:pic>
        <p:nvPicPr>
          <p:cNvPr id="82" name="Google Shape;82;g317e4e7b765_0_285"/>
          <p:cNvPicPr preferRelativeResize="0"/>
          <p:nvPr/>
        </p:nvPicPr>
        <p:blipFill rotWithShape="1">
          <a:blip r:embed="rId8">
            <a:alphaModFix/>
          </a:blip>
          <a:srcRect b="0" l="0" r="0" t="0"/>
          <a:stretch/>
        </p:blipFill>
        <p:spPr>
          <a:xfrm>
            <a:off x="2662625" y="3442305"/>
            <a:ext cx="96169" cy="132474"/>
          </a:xfrm>
          <a:prstGeom prst="rect">
            <a:avLst/>
          </a:prstGeom>
          <a:noFill/>
          <a:ln>
            <a:noFill/>
          </a:ln>
        </p:spPr>
      </p:pic>
      <p:sp>
        <p:nvSpPr>
          <p:cNvPr id="83" name="Google Shape;83;g317e4e7b765_0_285"/>
          <p:cNvSpPr txBox="1"/>
          <p:nvPr>
            <p:ph idx="11" type="ftr"/>
          </p:nvPr>
        </p:nvSpPr>
        <p:spPr>
          <a:xfrm>
            <a:off x="3530153" y="6388820"/>
            <a:ext cx="2083500" cy="189900"/>
          </a:xfrm>
          <a:prstGeom prst="rect">
            <a:avLst/>
          </a:prstGeom>
          <a:noFill/>
          <a:ln>
            <a:noFill/>
          </a:ln>
        </p:spPr>
        <p:txBody>
          <a:bodyPr anchorCtr="0" anchor="t" bIns="0" lIns="0" spcFirstLastPara="1" rIns="0" wrap="square" tIns="5075">
            <a:spAutoFit/>
          </a:bodyPr>
          <a:lstStyle/>
          <a:p>
            <a:pPr indent="-504190" lvl="0" marL="516255" marR="5080" rtl="0" algn="l">
              <a:lnSpc>
                <a:spcPct val="119166"/>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1. Addressing Data</a:t>
            </a:r>
            <a:endParaRPr/>
          </a:p>
        </p:txBody>
      </p:sp>
      <p:sp>
        <p:nvSpPr>
          <p:cNvPr id="89" name="Google Shape;89;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0" name="Google Shape;90;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Clr>
                <a:schemeClr val="dk1"/>
              </a:buClr>
              <a:buSzPts val="1976"/>
              <a:buFont typeface="Gill Sans"/>
              <a:buAutoNum type="romanUcPeriod"/>
            </a:pPr>
            <a:r>
              <a:rPr lang="en-US"/>
              <a:t>Immediate addressing</a:t>
            </a:r>
            <a:endParaRPr/>
          </a:p>
          <a:p>
            <a:pPr indent="-465138" lvl="0" marL="465138" rtl="0" algn="l">
              <a:spcBef>
                <a:spcPts val="600"/>
              </a:spcBef>
              <a:spcAft>
                <a:spcPts val="0"/>
              </a:spcAft>
              <a:buClr>
                <a:schemeClr val="dk1"/>
              </a:buClr>
              <a:buSzPts val="1976"/>
              <a:buFont typeface="Gill Sans"/>
              <a:buAutoNum type="romanUcPeriod"/>
            </a:pPr>
            <a:r>
              <a:rPr lang="en-US"/>
              <a:t>Direct addressing</a:t>
            </a:r>
            <a:endParaRPr/>
          </a:p>
          <a:p>
            <a:pPr indent="-465138" lvl="0" marL="465138" rtl="0" algn="l">
              <a:spcBef>
                <a:spcPts val="600"/>
              </a:spcBef>
              <a:spcAft>
                <a:spcPts val="0"/>
              </a:spcAft>
              <a:buClr>
                <a:schemeClr val="dk1"/>
              </a:buClr>
              <a:buSzPts val="1976"/>
              <a:buFont typeface="Gill Sans"/>
              <a:buAutoNum type="romanUcPeriod"/>
            </a:pPr>
            <a:r>
              <a:rPr lang="en-US"/>
              <a:t>Register [direct] addressing</a:t>
            </a:r>
            <a:endParaRPr/>
          </a:p>
          <a:p>
            <a:pPr indent="-465138" lvl="0" marL="465138" rtl="0" algn="l">
              <a:spcBef>
                <a:spcPts val="600"/>
              </a:spcBef>
              <a:spcAft>
                <a:spcPts val="0"/>
              </a:spcAft>
              <a:buClr>
                <a:schemeClr val="dk1"/>
              </a:buClr>
              <a:buSzPts val="1976"/>
              <a:buFont typeface="Gill Sans"/>
              <a:buAutoNum type="romanUcPeriod"/>
            </a:pPr>
            <a:r>
              <a:rPr lang="en-US"/>
              <a:t>Register indirect addressing</a:t>
            </a:r>
            <a:endParaRPr/>
          </a:p>
          <a:p>
            <a:pPr indent="-465138" lvl="0" marL="465138" rtl="0" algn="l">
              <a:spcBef>
                <a:spcPts val="600"/>
              </a:spcBef>
              <a:spcAft>
                <a:spcPts val="0"/>
              </a:spcAft>
              <a:buClr>
                <a:schemeClr val="dk1"/>
              </a:buClr>
              <a:buSzPts val="1976"/>
              <a:buFont typeface="Gill Sans"/>
              <a:buAutoNum type="romanUcPeriod"/>
            </a:pPr>
            <a:r>
              <a:rPr lang="en-US"/>
              <a:t>Base-plus-index addressing</a:t>
            </a:r>
            <a:endParaRPr/>
          </a:p>
          <a:p>
            <a:pPr indent="-465138" lvl="0" marL="465138" rtl="0" algn="l">
              <a:spcBef>
                <a:spcPts val="600"/>
              </a:spcBef>
              <a:spcAft>
                <a:spcPts val="0"/>
              </a:spcAft>
              <a:buClr>
                <a:schemeClr val="dk1"/>
              </a:buClr>
              <a:buSzPts val="1976"/>
              <a:buFont typeface="Gill Sans"/>
              <a:buAutoNum type="romanUcPeriod"/>
            </a:pPr>
            <a:r>
              <a:rPr lang="en-US"/>
              <a:t>Register relative addressing</a:t>
            </a:r>
            <a:endParaRPr/>
          </a:p>
          <a:p>
            <a:pPr indent="-465138" lvl="0" marL="465138" rtl="0" algn="l">
              <a:spcBef>
                <a:spcPts val="600"/>
              </a:spcBef>
              <a:spcAft>
                <a:spcPts val="0"/>
              </a:spcAft>
              <a:buClr>
                <a:schemeClr val="dk1"/>
              </a:buClr>
              <a:buSzPts val="1976"/>
              <a:buFont typeface="Gill Sans"/>
              <a:buAutoNum type="romanUcPeriod"/>
            </a:pPr>
            <a:r>
              <a:rPr lang="en-US"/>
              <a:t>Base-relative-plus-index addressing</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p:txBody>
      </p:sp>
      <p:sp>
        <p:nvSpPr>
          <p:cNvPr id="91" name="Google Shape;91;p1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1. Addressing Data</a:t>
            </a:r>
            <a:endParaRPr/>
          </a:p>
        </p:txBody>
      </p:sp>
      <p:sp>
        <p:nvSpPr>
          <p:cNvPr id="97" name="Google Shape;97;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98" name="Google Shape;98;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85000" lnSpcReduction="10000"/>
          </a:bodyPr>
          <a:lstStyle/>
          <a:p>
            <a:pPr indent="-446316" lvl="0" marL="465138" rtl="0" algn="l">
              <a:spcBef>
                <a:spcPts val="0"/>
              </a:spcBef>
              <a:spcAft>
                <a:spcPts val="0"/>
              </a:spcAft>
              <a:buClr>
                <a:schemeClr val="dk1"/>
              </a:buClr>
              <a:buSzPct val="76000"/>
              <a:buFont typeface="Gill Sans"/>
              <a:buAutoNum type="romanUcPeriod"/>
            </a:pPr>
            <a:r>
              <a:rPr b="1" lang="en-US"/>
              <a:t>Immediate addressing</a:t>
            </a:r>
            <a:endParaRPr/>
          </a:p>
          <a:p>
            <a:pPr indent="-255498" lvl="1" marL="548640" rtl="0" algn="l">
              <a:spcBef>
                <a:spcPts val="500"/>
              </a:spcBef>
              <a:spcAft>
                <a:spcPts val="0"/>
              </a:spcAft>
              <a:buSzPct val="76000"/>
              <a:buChar char="🞂"/>
            </a:pPr>
            <a:r>
              <a:rPr lang="en-US" sz="2600">
                <a:solidFill>
                  <a:schemeClr val="dk1"/>
                </a:solidFill>
              </a:rPr>
              <a:t>Data is immediately given in the instruction</a:t>
            </a:r>
            <a:endParaRPr/>
          </a:p>
          <a:p>
            <a:pPr indent="-148844" lvl="1" marL="548640" rtl="0" algn="l">
              <a:spcBef>
                <a:spcPts val="500"/>
              </a:spcBef>
              <a:spcAft>
                <a:spcPts val="0"/>
              </a:spcAft>
              <a:buSzPct val="76000"/>
              <a:buNone/>
            </a:pPr>
            <a:r>
              <a:t/>
            </a:r>
            <a:endParaRPr sz="2600">
              <a:solidFill>
                <a:schemeClr val="dk1"/>
              </a:solidFill>
            </a:endParaRPr>
          </a:p>
          <a:p>
            <a:pPr indent="-274320" lvl="1" marL="548640" rtl="0" algn="ctr">
              <a:spcBef>
                <a:spcPts val="500"/>
              </a:spcBef>
              <a:spcAft>
                <a:spcPts val="0"/>
              </a:spcAft>
              <a:buSzPct val="76000"/>
              <a:buNone/>
            </a:pPr>
            <a:r>
              <a:rPr b="1" lang="en-US" sz="2600">
                <a:solidFill>
                  <a:schemeClr val="dk1"/>
                </a:solidFill>
              </a:rPr>
              <a:t>MOV BL, 44</a:t>
            </a:r>
            <a:endParaRPr/>
          </a:p>
          <a:p>
            <a:pPr indent="-274320" lvl="1" marL="548640" rtl="0" algn="ctr">
              <a:spcBef>
                <a:spcPts val="500"/>
              </a:spcBef>
              <a:spcAft>
                <a:spcPts val="0"/>
              </a:spcAft>
              <a:buSzPct val="76000"/>
              <a:buNone/>
            </a:pPr>
            <a:r>
              <a:t/>
            </a:r>
            <a:endParaRPr sz="2600">
              <a:solidFill>
                <a:schemeClr val="dk1"/>
              </a:solidFill>
            </a:endParaRPr>
          </a:p>
          <a:p>
            <a:pPr indent="-339661" lvl="0" marL="465137" rtl="0" algn="l">
              <a:spcBef>
                <a:spcPts val="600"/>
              </a:spcBef>
              <a:spcAft>
                <a:spcPts val="0"/>
              </a:spcAft>
              <a:buClr>
                <a:schemeClr val="dk1"/>
              </a:buClr>
              <a:buSzPct val="31056"/>
              <a:buFont typeface="Arial"/>
              <a:buNone/>
            </a:pPr>
            <a:r>
              <a:rPr b="1" lang="en-US" sz="3541"/>
              <a:t>Immediate addressing transfers the source, an immediate byte, word, doubleword, or quadword of data, into the destination register or memory location. (Example: The MOV AL, 22H instruction copies a byte-sized 22H into register AL.)</a:t>
            </a:r>
            <a:endParaRPr sz="3541"/>
          </a:p>
          <a:p>
            <a:pPr indent="-339661" lvl="0" marL="465138" rtl="0" algn="l">
              <a:spcBef>
                <a:spcPts val="600"/>
              </a:spcBef>
              <a:spcAft>
                <a:spcPts val="0"/>
              </a:spcAft>
              <a:buClr>
                <a:schemeClr val="dk1"/>
              </a:buClr>
              <a:buSzPct val="76000"/>
              <a:buFont typeface="Gill Sans"/>
              <a:buNone/>
            </a:pPr>
            <a:r>
              <a:t/>
            </a:r>
            <a:endParaRPr/>
          </a:p>
        </p:txBody>
      </p:sp>
      <p:sp>
        <p:nvSpPr>
          <p:cNvPr id="99" name="Google Shape;99;p1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17e4e7b765_0_372"/>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06" name="Google Shape;106;g317e4e7b765_0_372"/>
          <p:cNvSpPr txBox="1"/>
          <p:nvPr>
            <p:ph idx="1" type="body"/>
          </p:nvPr>
        </p:nvSpPr>
        <p:spPr>
          <a:xfrm>
            <a:off x="457200" y="492600"/>
            <a:ext cx="8229600" cy="5664300"/>
          </a:xfrm>
          <a:prstGeom prst="rect">
            <a:avLst/>
          </a:prstGeom>
        </p:spPr>
        <p:txBody>
          <a:bodyPr anchorCtr="0" anchor="t" bIns="45700" lIns="91425" spcFirstLastPara="1" rIns="91425" wrap="square" tIns="45700">
            <a:normAutofit lnSpcReduction="10000"/>
          </a:bodyPr>
          <a:lstStyle/>
          <a:p>
            <a:pPr indent="0" lvl="1" marL="0" rtl="0" algn="l">
              <a:spcBef>
                <a:spcPts val="500"/>
              </a:spcBef>
              <a:spcAft>
                <a:spcPts val="0"/>
              </a:spcAft>
              <a:buClr>
                <a:schemeClr val="dk1"/>
              </a:buClr>
              <a:buSzPts val="1976"/>
              <a:buFont typeface="Arial"/>
              <a:buNone/>
            </a:pPr>
            <a:r>
              <a:t/>
            </a:r>
            <a:endParaRPr/>
          </a:p>
          <a:p>
            <a:pPr indent="-274320" lvl="1" marL="548640" rtl="0" algn="ctr">
              <a:spcBef>
                <a:spcPts val="500"/>
              </a:spcBef>
              <a:spcAft>
                <a:spcPts val="0"/>
              </a:spcAft>
              <a:buClr>
                <a:schemeClr val="dk1"/>
              </a:buClr>
              <a:buSzPts val="1976"/>
              <a:buFont typeface="Arial"/>
              <a:buNone/>
            </a:pPr>
            <a:r>
              <a:t/>
            </a:r>
            <a:endParaRPr sz="2600">
              <a:solidFill>
                <a:schemeClr val="dk1"/>
              </a:solidFill>
            </a:endParaRPr>
          </a:p>
          <a:p>
            <a:pPr indent="-465137" lvl="0" marL="465137" rtl="0" algn="l">
              <a:spcBef>
                <a:spcPts val="600"/>
              </a:spcBef>
              <a:spcAft>
                <a:spcPts val="0"/>
              </a:spcAft>
              <a:buClr>
                <a:schemeClr val="dk1"/>
              </a:buClr>
              <a:buSzPts val="1976"/>
              <a:buFont typeface="Gill Sans"/>
              <a:buAutoNum type="romanUcPeriod"/>
            </a:pPr>
            <a:r>
              <a:rPr b="1" lang="en-US"/>
              <a:t>Direct addressing</a:t>
            </a:r>
            <a:endParaRPr/>
          </a:p>
          <a:p>
            <a:pPr indent="-274320" lvl="1" marL="548640" rtl="0" algn="l">
              <a:spcBef>
                <a:spcPts val="500"/>
              </a:spcBef>
              <a:spcAft>
                <a:spcPts val="0"/>
              </a:spcAft>
              <a:buSzPts val="1976"/>
              <a:buChar char="🞂"/>
            </a:pPr>
            <a:r>
              <a:rPr lang="en-US" sz="2600">
                <a:solidFill>
                  <a:schemeClr val="dk1"/>
                </a:solidFill>
              </a:rPr>
              <a:t>Data address is directly given in the instruction</a:t>
            </a:r>
            <a:endParaRPr/>
          </a:p>
          <a:p>
            <a:pPr indent="-148844" lvl="1" marL="548640" rtl="0" algn="l">
              <a:spcBef>
                <a:spcPts val="500"/>
              </a:spcBef>
              <a:spcAft>
                <a:spcPts val="0"/>
              </a:spcAft>
              <a:buClr>
                <a:schemeClr val="dk1"/>
              </a:buClr>
              <a:buSzPts val="1976"/>
              <a:buFont typeface="Arial"/>
              <a:buNone/>
            </a:pPr>
            <a:r>
              <a:t/>
            </a:r>
            <a:endParaRPr sz="2600">
              <a:solidFill>
                <a:schemeClr val="dk1"/>
              </a:solidFill>
            </a:endParaRPr>
          </a:p>
          <a:p>
            <a:pPr indent="-274320" lvl="1" marL="548640" rtl="0" algn="ctr">
              <a:spcBef>
                <a:spcPts val="500"/>
              </a:spcBef>
              <a:spcAft>
                <a:spcPts val="0"/>
              </a:spcAft>
              <a:buNone/>
            </a:pPr>
            <a:r>
              <a:rPr b="1" lang="en-US" sz="2600">
                <a:solidFill>
                  <a:schemeClr val="dk1"/>
                </a:solidFill>
              </a:rPr>
              <a:t>MOV BX, [437AH]</a:t>
            </a:r>
            <a:endParaRPr b="1" sz="2600">
              <a:solidFill>
                <a:schemeClr val="dk1"/>
              </a:solidFill>
            </a:endParaRPr>
          </a:p>
          <a:p>
            <a:pPr indent="-274320" lvl="1" marL="548640" rtl="0" algn="ctr">
              <a:spcBef>
                <a:spcPts val="500"/>
              </a:spcBef>
              <a:spcAft>
                <a:spcPts val="0"/>
              </a:spcAft>
              <a:buClr>
                <a:schemeClr val="dk1"/>
              </a:buClr>
              <a:buSzPts val="1976"/>
              <a:buFont typeface="Arial"/>
              <a:buNone/>
            </a:pPr>
            <a:r>
              <a:t/>
            </a:r>
            <a:endParaRPr b="1" sz="2600">
              <a:solidFill>
                <a:schemeClr val="dk1"/>
              </a:solidFill>
            </a:endParaRPr>
          </a:p>
          <a:p>
            <a:pPr indent="-339661" lvl="0" marL="465137" rtl="0" algn="just">
              <a:spcBef>
                <a:spcPts val="600"/>
              </a:spcBef>
              <a:spcAft>
                <a:spcPts val="0"/>
              </a:spcAft>
              <a:buNone/>
            </a:pPr>
            <a:r>
              <a:rPr lang="en-US" sz="3269"/>
              <a:t>Direct addressing moves a byte or word between a memory location addressing and a register. The instruction set does not support a memory-tomemory transfer, except with the MOVS instruction.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1. Addressing Data</a:t>
            </a:r>
            <a:endParaRPr/>
          </a:p>
        </p:txBody>
      </p:sp>
      <p:sp>
        <p:nvSpPr>
          <p:cNvPr id="112" name="Google Shape;112;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13" name="Google Shape;113;p1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p>
            <a:pPr indent="-571500" lvl="0" marL="571500" rtl="0" algn="l">
              <a:spcBef>
                <a:spcPts val="0"/>
              </a:spcBef>
              <a:spcAft>
                <a:spcPts val="0"/>
              </a:spcAft>
              <a:buClr>
                <a:schemeClr val="dk1"/>
              </a:buClr>
              <a:buSzPts val="1976"/>
              <a:buFont typeface="Bookman Old Style"/>
              <a:buAutoNum type="romanUcPeriod" startAt="3"/>
            </a:pPr>
            <a:r>
              <a:rPr lang="en-US"/>
              <a:t> </a:t>
            </a:r>
            <a:r>
              <a:rPr b="1" lang="en-US"/>
              <a:t>Register [direct] addressing</a:t>
            </a:r>
            <a:endParaRPr/>
          </a:p>
          <a:p>
            <a:pPr indent="-274320" lvl="1" marL="548640" rtl="0" algn="l">
              <a:spcBef>
                <a:spcPts val="500"/>
              </a:spcBef>
              <a:spcAft>
                <a:spcPts val="0"/>
              </a:spcAft>
              <a:buSzPts val="1976"/>
              <a:buChar char="🞂"/>
            </a:pPr>
            <a:r>
              <a:rPr lang="en-US" sz="2600">
                <a:solidFill>
                  <a:schemeClr val="dk1"/>
                </a:solidFill>
              </a:rPr>
              <a:t>Data is in a register (here BX register contains the data) Valid for segment registers also.</a:t>
            </a:r>
            <a:endParaRPr/>
          </a:p>
          <a:p>
            <a:pPr indent="-274320" lvl="0" marL="274320" rtl="0" algn="ctr">
              <a:spcBef>
                <a:spcPts val="600"/>
              </a:spcBef>
              <a:spcAft>
                <a:spcPts val="0"/>
              </a:spcAft>
              <a:buSzPts val="1976"/>
              <a:buFont typeface="Noto Sans Symbols"/>
              <a:buNone/>
            </a:pPr>
            <a:r>
              <a:rPr b="1" lang="en-US"/>
              <a:t>MOV AX, BX</a:t>
            </a:r>
            <a:endParaRPr b="1"/>
          </a:p>
          <a:p>
            <a:pPr indent="-274320" lvl="0" marL="274320" rtl="0" algn="ctr">
              <a:spcBef>
                <a:spcPts val="600"/>
              </a:spcBef>
              <a:spcAft>
                <a:spcPts val="0"/>
              </a:spcAft>
              <a:buSzPts val="1976"/>
              <a:buFont typeface="Noto Sans Symbols"/>
              <a:buNone/>
            </a:pPr>
            <a:r>
              <a:rPr b="1" lang="en-US" sz="1800">
                <a:solidFill>
                  <a:srgbClr val="FF0000"/>
                </a:solidFill>
                <a:latin typeface="Arial"/>
                <a:ea typeface="Arial"/>
                <a:cs typeface="Arial"/>
                <a:sym typeface="Arial"/>
              </a:rPr>
              <a:t>MOV AL, BX</a:t>
            </a:r>
            <a:endParaRPr b="1" sz="1800">
              <a:solidFill>
                <a:srgbClr val="FF0000"/>
              </a:solidFill>
              <a:latin typeface="Arial"/>
              <a:ea typeface="Arial"/>
              <a:cs typeface="Arial"/>
              <a:sym typeface="Arial"/>
            </a:endParaRPr>
          </a:p>
          <a:p>
            <a:pPr indent="0" lvl="0" marL="0" rtl="0" algn="l">
              <a:spcBef>
                <a:spcPts val="600"/>
              </a:spcBef>
              <a:spcAft>
                <a:spcPts val="0"/>
              </a:spcAft>
              <a:buSzPts val="1976"/>
              <a:buFont typeface="Noto Sans Symbols"/>
              <a:buNone/>
            </a:pPr>
            <a:r>
              <a:t/>
            </a:r>
            <a:endParaRPr b="1" sz="1800">
              <a:solidFill>
                <a:srgbClr val="FF0000"/>
              </a:solidFill>
              <a:latin typeface="Arial"/>
              <a:ea typeface="Arial"/>
              <a:cs typeface="Arial"/>
              <a:sym typeface="Arial"/>
            </a:endParaRPr>
          </a:p>
          <a:p>
            <a:pPr indent="-274320" lvl="0" marL="274320" rtl="0" algn="ctr">
              <a:spcBef>
                <a:spcPts val="600"/>
              </a:spcBef>
              <a:spcAft>
                <a:spcPts val="0"/>
              </a:spcAft>
              <a:buSzPts val="1976"/>
              <a:buFont typeface="Noto Sans Symbols"/>
              <a:buNone/>
            </a:pPr>
            <a:r>
              <a:t/>
            </a:r>
            <a:endParaRPr/>
          </a:p>
          <a:p>
            <a:pPr indent="-571500" lvl="0" marL="571500" rtl="0" algn="l">
              <a:spcBef>
                <a:spcPts val="600"/>
              </a:spcBef>
              <a:spcAft>
                <a:spcPts val="0"/>
              </a:spcAft>
              <a:buClr>
                <a:schemeClr val="dk1"/>
              </a:buClr>
              <a:buSzPts val="1976"/>
              <a:buFont typeface="Bookman Old Style"/>
              <a:buAutoNum type="romanUcPeriod" startAt="4"/>
            </a:pPr>
            <a:r>
              <a:rPr b="1" lang="en-US"/>
              <a:t>Register [indirect] addressing</a:t>
            </a:r>
            <a:endParaRPr/>
          </a:p>
          <a:p>
            <a:pPr indent="-274320" lvl="1" marL="548640" rtl="0" algn="l">
              <a:spcBef>
                <a:spcPts val="500"/>
              </a:spcBef>
              <a:spcAft>
                <a:spcPts val="0"/>
              </a:spcAft>
              <a:buSzPts val="1976"/>
              <a:buChar char="🞂"/>
            </a:pPr>
            <a:r>
              <a:rPr lang="en-US" sz="2600">
                <a:solidFill>
                  <a:schemeClr val="dk1"/>
                </a:solidFill>
              </a:rPr>
              <a:t>Register supplies the address of the required data</a:t>
            </a:r>
            <a:endParaRPr/>
          </a:p>
          <a:p>
            <a:pPr indent="-274320" lvl="0" marL="274320" rtl="0" algn="ctr">
              <a:spcBef>
                <a:spcPts val="600"/>
              </a:spcBef>
              <a:spcAft>
                <a:spcPts val="0"/>
              </a:spcAft>
              <a:buSzPts val="1976"/>
              <a:buFont typeface="Noto Sans Symbols"/>
              <a:buNone/>
            </a:pPr>
            <a:r>
              <a:t/>
            </a:r>
            <a:endParaRPr b="1"/>
          </a:p>
          <a:p>
            <a:pPr indent="-274320" lvl="0" marL="274320" rtl="0" algn="ctr">
              <a:spcBef>
                <a:spcPts val="600"/>
              </a:spcBef>
              <a:spcAft>
                <a:spcPts val="0"/>
              </a:spcAft>
              <a:buSzPts val="1976"/>
              <a:buFont typeface="Noto Sans Symbols"/>
              <a:buNone/>
            </a:pPr>
            <a:r>
              <a:rPr b="1" lang="en-US"/>
              <a:t>MOV CX, [BX]</a:t>
            </a:r>
            <a:endParaRPr/>
          </a:p>
          <a:p>
            <a:pPr indent="0" lvl="0" marL="0" rtl="0" algn="l">
              <a:spcBef>
                <a:spcPts val="600"/>
              </a:spcBef>
              <a:spcAft>
                <a:spcPts val="0"/>
              </a:spcAft>
              <a:buSzPts val="1976"/>
              <a:buFont typeface="Noto Sans Symbols"/>
              <a:buNone/>
            </a:pPr>
            <a:r>
              <a:t/>
            </a:r>
            <a:endParaRPr/>
          </a:p>
          <a:p>
            <a:pPr indent="-465138" lvl="0" marL="465138" rtl="0" algn="l">
              <a:spcBef>
                <a:spcPts val="600"/>
              </a:spcBef>
              <a:spcAft>
                <a:spcPts val="0"/>
              </a:spcAft>
              <a:buClr>
                <a:schemeClr val="dk1"/>
              </a:buClr>
              <a:buSzPts val="1976"/>
              <a:buNone/>
            </a:pPr>
            <a:r>
              <a:t/>
            </a:r>
            <a:endParaRPr sz="2600">
              <a:solidFill>
                <a:schemeClr val="dk1"/>
              </a:solidFill>
            </a:endParaRPr>
          </a:p>
        </p:txBody>
      </p:sp>
      <p:sp>
        <p:nvSpPr>
          <p:cNvPr id="114" name="Google Shape;114;p1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17e4e7b765_0_379"/>
          <p:cNvSpPr txBox="1"/>
          <p:nvPr>
            <p:ph type="title"/>
          </p:nvPr>
        </p:nvSpPr>
        <p:spPr>
          <a:xfrm>
            <a:off x="457200" y="152400"/>
            <a:ext cx="8229600" cy="990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21" name="Google Shape;121;g317e4e7b765_0_379"/>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22" name="Google Shape;122;g317e4e7b765_0_379"/>
          <p:cNvSpPr txBox="1"/>
          <p:nvPr>
            <p:ph idx="1" type="body"/>
          </p:nvPr>
        </p:nvSpPr>
        <p:spPr>
          <a:xfrm>
            <a:off x="457200" y="1219200"/>
            <a:ext cx="8229600" cy="4937700"/>
          </a:xfrm>
          <a:prstGeom prst="rect">
            <a:avLst/>
          </a:prstGeom>
        </p:spPr>
        <p:txBody>
          <a:bodyPr anchorCtr="0" anchor="t" bIns="45700" lIns="91425" spcFirstLastPara="1" rIns="91425" wrap="square" tIns="45700">
            <a:normAutofit fontScale="92500" lnSpcReduction="20000"/>
          </a:bodyPr>
          <a:lstStyle/>
          <a:p>
            <a:pPr indent="-274320" lvl="0" marL="274320" rtl="0" algn="ctr">
              <a:spcBef>
                <a:spcPts val="600"/>
              </a:spcBef>
              <a:spcAft>
                <a:spcPts val="0"/>
              </a:spcAft>
              <a:buClr>
                <a:schemeClr val="dk1"/>
              </a:buClr>
              <a:buSzPct val="76000"/>
              <a:buFont typeface="Noto Sans Symbols"/>
              <a:buNone/>
            </a:pPr>
            <a:r>
              <a:t/>
            </a:r>
            <a:endParaRPr/>
          </a:p>
          <a:p>
            <a:pPr indent="-562089" lvl="0" marL="571500" rtl="0" algn="l">
              <a:spcBef>
                <a:spcPts val="600"/>
              </a:spcBef>
              <a:spcAft>
                <a:spcPts val="0"/>
              </a:spcAft>
              <a:buClr>
                <a:schemeClr val="dk1"/>
              </a:buClr>
              <a:buSzPct val="76000"/>
              <a:buFont typeface="Bookman Old Style"/>
              <a:buAutoNum type="romanUcPeriod" startAt="4"/>
            </a:pPr>
            <a:r>
              <a:rPr b="1" lang="en-US"/>
              <a:t>Register [indirect] addressing</a:t>
            </a:r>
            <a:endParaRPr/>
          </a:p>
          <a:p>
            <a:pPr indent="-264909" lvl="1" marL="548640" rtl="0" algn="l">
              <a:spcBef>
                <a:spcPts val="500"/>
              </a:spcBef>
              <a:spcAft>
                <a:spcPts val="0"/>
              </a:spcAft>
              <a:buSzPct val="76000"/>
              <a:buChar char="🞂"/>
            </a:pPr>
            <a:r>
              <a:rPr lang="en-US" sz="2600">
                <a:solidFill>
                  <a:schemeClr val="dk1"/>
                </a:solidFill>
              </a:rPr>
              <a:t>Register supplies the address of the required data</a:t>
            </a:r>
            <a:endParaRPr/>
          </a:p>
          <a:p>
            <a:pPr indent="-274320" lvl="0" marL="274320" rtl="0" algn="ctr">
              <a:spcBef>
                <a:spcPts val="600"/>
              </a:spcBef>
              <a:spcAft>
                <a:spcPts val="0"/>
              </a:spcAft>
              <a:buClr>
                <a:schemeClr val="dk1"/>
              </a:buClr>
              <a:buSzPct val="76000"/>
              <a:buFont typeface="Noto Sans Symbols"/>
              <a:buNone/>
            </a:pPr>
            <a:r>
              <a:t/>
            </a:r>
            <a:endParaRPr b="1"/>
          </a:p>
          <a:p>
            <a:pPr indent="-274320" lvl="0" marL="274320" rtl="0" algn="ctr">
              <a:spcBef>
                <a:spcPts val="600"/>
              </a:spcBef>
              <a:spcAft>
                <a:spcPts val="0"/>
              </a:spcAft>
              <a:buNone/>
            </a:pPr>
            <a:r>
              <a:rPr b="1" lang="en-US"/>
              <a:t>MOV CX, [BX]</a:t>
            </a:r>
            <a:endParaRPr b="1"/>
          </a:p>
          <a:p>
            <a:pPr indent="-274320" lvl="0" marL="274320" rtl="0" algn="ctr">
              <a:spcBef>
                <a:spcPts val="600"/>
              </a:spcBef>
              <a:spcAft>
                <a:spcPts val="0"/>
              </a:spcAft>
              <a:buClr>
                <a:schemeClr val="dk1"/>
              </a:buClr>
              <a:buSzPct val="42307"/>
              <a:buFont typeface="Arial"/>
              <a:buNone/>
            </a:pPr>
            <a:r>
              <a:rPr b="1" lang="en-US"/>
              <a:t>MOV BX, [CX]</a:t>
            </a:r>
            <a:endParaRPr b="1"/>
          </a:p>
          <a:p>
            <a:pPr indent="-274320" lvl="0" marL="274320" rtl="0" algn="l">
              <a:spcBef>
                <a:spcPts val="600"/>
              </a:spcBef>
              <a:spcAft>
                <a:spcPts val="0"/>
              </a:spcAft>
              <a:buClr>
                <a:schemeClr val="dk1"/>
              </a:buClr>
              <a:buSzPct val="65866"/>
              <a:buFont typeface="Noto Sans Symbols"/>
              <a:buNone/>
            </a:pPr>
            <a:r>
              <a:rPr lang="en-US" sz="3000"/>
              <a:t>Register indirect addressing transfers a byte or word between a register and a memory location addressed by an index or base register. The index and base registers are BP, BX, DI, and S1. (Example: The MOV AX, [BX] instruction copies the word-sized data from the data segment offset address indexed by BX into register AX.)</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1. Addressing Data</a:t>
            </a:r>
            <a:endParaRPr/>
          </a:p>
        </p:txBody>
      </p:sp>
      <p:sp>
        <p:nvSpPr>
          <p:cNvPr id="128" name="Google Shape;128;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29" name="Google Shape;129;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p>
            <a:pPr indent="-571500" lvl="0" marL="571500" rtl="0" algn="l">
              <a:spcBef>
                <a:spcPts val="0"/>
              </a:spcBef>
              <a:spcAft>
                <a:spcPts val="0"/>
              </a:spcAft>
              <a:buClr>
                <a:schemeClr val="dk1"/>
              </a:buClr>
              <a:buSzPts val="1976"/>
              <a:buFont typeface="Bookman Old Style"/>
              <a:buAutoNum type="romanUcPeriod" startAt="5"/>
            </a:pPr>
            <a:r>
              <a:rPr b="1" lang="en-US"/>
              <a:t>Base-plus-index addressing</a:t>
            </a:r>
            <a:endParaRPr/>
          </a:p>
          <a:p>
            <a:pPr indent="-274320" lvl="1" marL="548640" rtl="0" algn="l">
              <a:spcBef>
                <a:spcPts val="500"/>
              </a:spcBef>
              <a:spcAft>
                <a:spcPts val="0"/>
              </a:spcAft>
              <a:buSzPts val="1976"/>
              <a:buChar char="🞂"/>
            </a:pPr>
            <a:r>
              <a:rPr lang="en-US" sz="2600">
                <a:solidFill>
                  <a:schemeClr val="dk1"/>
                </a:solidFill>
              </a:rPr>
              <a:t>Base register is either BX or BP</a:t>
            </a:r>
            <a:endParaRPr/>
          </a:p>
          <a:p>
            <a:pPr indent="-274320" lvl="1" marL="548640" rtl="0" algn="l">
              <a:spcBef>
                <a:spcPts val="500"/>
              </a:spcBef>
              <a:spcAft>
                <a:spcPts val="0"/>
              </a:spcAft>
              <a:buSzPts val="1976"/>
              <a:buChar char="🞂"/>
            </a:pPr>
            <a:r>
              <a:rPr lang="en-US" sz="2600">
                <a:solidFill>
                  <a:schemeClr val="dk1"/>
                </a:solidFill>
              </a:rPr>
              <a:t>Index register is either DI or SI</a:t>
            </a:r>
            <a:endParaRPr/>
          </a:p>
          <a:p>
            <a:pPr indent="-274320" lvl="1" marL="548640" rtl="0" algn="ctr">
              <a:spcBef>
                <a:spcPts val="500"/>
              </a:spcBef>
              <a:spcAft>
                <a:spcPts val="0"/>
              </a:spcAft>
              <a:buSzPts val="760"/>
              <a:buNone/>
            </a:pPr>
            <a:r>
              <a:t/>
            </a:r>
            <a:endParaRPr sz="1000">
              <a:solidFill>
                <a:schemeClr val="dk1"/>
              </a:solidFill>
            </a:endParaRPr>
          </a:p>
          <a:p>
            <a:pPr indent="-274320" lvl="1" marL="548640" rtl="0" algn="ctr">
              <a:spcBef>
                <a:spcPts val="500"/>
              </a:spcBef>
              <a:spcAft>
                <a:spcPts val="0"/>
              </a:spcAft>
              <a:buSzPts val="1976"/>
              <a:buNone/>
            </a:pPr>
            <a:r>
              <a:rPr b="1" lang="en-US" sz="2600">
                <a:solidFill>
                  <a:schemeClr val="dk1"/>
                </a:solidFill>
              </a:rPr>
              <a:t>MOV DX, [BX+DI]</a:t>
            </a:r>
            <a:endParaRPr/>
          </a:p>
          <a:p>
            <a:pPr indent="-416878" lvl="0" marL="465138" rtl="0" algn="l">
              <a:spcBef>
                <a:spcPts val="600"/>
              </a:spcBef>
              <a:spcAft>
                <a:spcPts val="0"/>
              </a:spcAft>
              <a:buClr>
                <a:schemeClr val="dk1"/>
              </a:buClr>
              <a:buSzPts val="760"/>
              <a:buFont typeface="Gill Sans"/>
              <a:buNone/>
            </a:pPr>
            <a:r>
              <a:t/>
            </a:r>
            <a:endParaRPr sz="1000"/>
          </a:p>
          <a:p>
            <a:pPr indent="-274320" lvl="1" marL="548640" rtl="0" algn="ctr">
              <a:spcBef>
                <a:spcPts val="500"/>
              </a:spcBef>
              <a:spcAft>
                <a:spcPts val="0"/>
              </a:spcAft>
              <a:buSzPts val="1976"/>
              <a:buNone/>
            </a:pPr>
            <a:r>
              <a:t/>
            </a:r>
            <a:endParaRPr/>
          </a:p>
          <a:p>
            <a:pPr indent="-148844" lvl="1" marL="548640" rtl="0" algn="l">
              <a:spcBef>
                <a:spcPts val="500"/>
              </a:spcBef>
              <a:spcAft>
                <a:spcPts val="0"/>
              </a:spcAft>
              <a:buSzPts val="1976"/>
              <a:buNone/>
            </a:pPr>
            <a:r>
              <a:t/>
            </a:r>
            <a:endParaRPr sz="2600">
              <a:solidFill>
                <a:schemeClr val="dk1"/>
              </a:solidFill>
            </a:endParaRPr>
          </a:p>
        </p:txBody>
      </p:sp>
      <p:sp>
        <p:nvSpPr>
          <p:cNvPr id="130" name="Google Shape;130;p1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17e4e7b765_0_397"/>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37" name="Google Shape;137;g317e4e7b765_0_397"/>
          <p:cNvSpPr txBox="1"/>
          <p:nvPr>
            <p:ph idx="1" type="body"/>
          </p:nvPr>
        </p:nvSpPr>
        <p:spPr>
          <a:xfrm>
            <a:off x="457200" y="498375"/>
            <a:ext cx="8229600" cy="5858100"/>
          </a:xfrm>
          <a:prstGeom prst="rect">
            <a:avLst/>
          </a:prstGeom>
        </p:spPr>
        <p:txBody>
          <a:bodyPr anchorCtr="0" anchor="t" bIns="45700" lIns="91425" spcFirstLastPara="1" rIns="91425" wrap="square" tIns="45700">
            <a:normAutofit/>
          </a:bodyPr>
          <a:lstStyle/>
          <a:p>
            <a:pPr indent="-571500" lvl="0" marL="571500" rtl="0" algn="l">
              <a:spcBef>
                <a:spcPts val="600"/>
              </a:spcBef>
              <a:spcAft>
                <a:spcPts val="0"/>
              </a:spcAft>
              <a:buClr>
                <a:schemeClr val="dk1"/>
              </a:buClr>
              <a:buSzPts val="1976"/>
              <a:buFont typeface="Bookman Old Style"/>
              <a:buAutoNum type="romanUcPeriod" startAt="5"/>
            </a:pPr>
            <a:r>
              <a:rPr b="1" lang="en-US"/>
              <a:t>Register relative addressing</a:t>
            </a:r>
            <a:endParaRPr/>
          </a:p>
          <a:p>
            <a:pPr indent="-274320" lvl="1" marL="548640" rtl="0" algn="l">
              <a:spcBef>
                <a:spcPts val="500"/>
              </a:spcBef>
              <a:spcAft>
                <a:spcPts val="0"/>
              </a:spcAft>
              <a:buSzPts val="1976"/>
              <a:buChar char="🞂"/>
            </a:pPr>
            <a:r>
              <a:rPr lang="en-US" sz="2600">
                <a:solidFill>
                  <a:schemeClr val="dk1"/>
                </a:solidFill>
              </a:rPr>
              <a:t>Register can be a base (BX, BP) or an index register (DI, SI)</a:t>
            </a:r>
            <a:endParaRPr/>
          </a:p>
          <a:p>
            <a:pPr indent="-274320" lvl="1" marL="548640" rtl="0" algn="l">
              <a:spcBef>
                <a:spcPts val="500"/>
              </a:spcBef>
              <a:spcAft>
                <a:spcPts val="0"/>
              </a:spcAft>
              <a:buSzPts val="1976"/>
              <a:buChar char="🞂"/>
            </a:pPr>
            <a:r>
              <a:rPr lang="en-US" sz="2600">
                <a:solidFill>
                  <a:schemeClr val="dk1"/>
                </a:solidFill>
              </a:rPr>
              <a:t>Mainly suitable to address array data</a:t>
            </a:r>
            <a:endParaRPr/>
          </a:p>
          <a:p>
            <a:pPr indent="-274320" lvl="1" marL="548640" rtl="0" algn="ctr">
              <a:spcBef>
                <a:spcPts val="500"/>
              </a:spcBef>
              <a:spcAft>
                <a:spcPts val="0"/>
              </a:spcAft>
              <a:buClr>
                <a:schemeClr val="dk1"/>
              </a:buClr>
              <a:buSzPts val="760"/>
              <a:buFont typeface="Arial"/>
              <a:buNone/>
            </a:pPr>
            <a:r>
              <a:t/>
            </a:r>
            <a:endParaRPr sz="1000">
              <a:solidFill>
                <a:schemeClr val="dk1"/>
              </a:solidFill>
            </a:endParaRPr>
          </a:p>
          <a:p>
            <a:pPr indent="-274320" lvl="1" marL="548640" rtl="0" algn="ctr">
              <a:spcBef>
                <a:spcPts val="500"/>
              </a:spcBef>
              <a:spcAft>
                <a:spcPts val="0"/>
              </a:spcAft>
              <a:buNone/>
            </a:pPr>
            <a:r>
              <a:rPr b="1" lang="en-US" sz="2600">
                <a:solidFill>
                  <a:schemeClr val="dk1"/>
                </a:solidFill>
              </a:rPr>
              <a:t>MOV AX, [BX+1000]</a:t>
            </a:r>
            <a:endParaRPr b="1" sz="2600">
              <a:solidFill>
                <a:schemeClr val="dk1"/>
              </a:solidFill>
            </a:endParaRPr>
          </a:p>
          <a:p>
            <a:pPr indent="-274320" lvl="1" marL="548640" rtl="0" algn="just">
              <a:spcBef>
                <a:spcPts val="500"/>
              </a:spcBef>
              <a:spcAft>
                <a:spcPts val="0"/>
              </a:spcAft>
              <a:buClr>
                <a:schemeClr val="dk1"/>
              </a:buClr>
              <a:buSzPts val="1976"/>
              <a:buFont typeface="Arial"/>
              <a:buNone/>
            </a:pPr>
            <a:r>
              <a:rPr lang="en-US" sz="2700">
                <a:solidFill>
                  <a:schemeClr val="dk1"/>
                </a:solidFill>
              </a:rPr>
              <a:t>Register relative addressing moves a byte or word between a register and the memory location addressed by an index or base register plus a displacement. (Example: MOV AX,[BX+4] or MOV AX, ARRAY[BX]. The first instruction loads AX from the data segment address formed by BX plus 4. The second instruction loads AX from the data segment memory location in ARRAY plus the contents of BX.)</a:t>
            </a:r>
            <a:endParaRPr sz="2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1. Addressing Data</a:t>
            </a:r>
            <a:endParaRPr/>
          </a:p>
        </p:txBody>
      </p:sp>
      <p:sp>
        <p:nvSpPr>
          <p:cNvPr id="143" name="Google Shape;143;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44" name="Google Shape;144;p1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571500" lvl="0" marL="571500" rtl="0" algn="l">
              <a:spcBef>
                <a:spcPts val="0"/>
              </a:spcBef>
              <a:spcAft>
                <a:spcPts val="0"/>
              </a:spcAft>
              <a:buClr>
                <a:schemeClr val="dk1"/>
              </a:buClr>
              <a:buSzPts val="1976"/>
              <a:buFont typeface="Bookman Old Style"/>
              <a:buAutoNum type="romanUcPeriod" startAt="7"/>
            </a:pPr>
            <a:r>
              <a:rPr b="1" lang="en-US"/>
              <a:t>Base-relative-plus-index addressing</a:t>
            </a:r>
            <a:endParaRPr/>
          </a:p>
          <a:p>
            <a:pPr indent="-274320" lvl="1" marL="548640" rtl="0" algn="l">
              <a:spcBef>
                <a:spcPts val="500"/>
              </a:spcBef>
              <a:spcAft>
                <a:spcPts val="0"/>
              </a:spcAft>
              <a:buSzPts val="1976"/>
              <a:buChar char="🞂"/>
            </a:pPr>
            <a:r>
              <a:rPr lang="en-US" sz="2600">
                <a:solidFill>
                  <a:schemeClr val="dk1"/>
                </a:solidFill>
              </a:rPr>
              <a:t>Suitable for array addressing</a:t>
            </a:r>
            <a:endParaRPr/>
          </a:p>
          <a:p>
            <a:pPr indent="-274320" lvl="1" marL="548640" rtl="0" algn="ctr">
              <a:spcBef>
                <a:spcPts val="500"/>
              </a:spcBef>
              <a:spcAft>
                <a:spcPts val="0"/>
              </a:spcAft>
              <a:buSzPts val="1976"/>
              <a:buNone/>
            </a:pPr>
            <a:r>
              <a:t/>
            </a:r>
            <a:endParaRPr sz="2600">
              <a:solidFill>
                <a:schemeClr val="dk1"/>
              </a:solidFill>
            </a:endParaRPr>
          </a:p>
          <a:p>
            <a:pPr indent="-274320" lvl="1" marL="548640" rtl="0" algn="ctr">
              <a:spcBef>
                <a:spcPts val="500"/>
              </a:spcBef>
              <a:spcAft>
                <a:spcPts val="0"/>
              </a:spcAft>
              <a:buSzPts val="1976"/>
              <a:buNone/>
            </a:pPr>
            <a:r>
              <a:rPr b="1" lang="en-US" sz="2600">
                <a:solidFill>
                  <a:schemeClr val="dk1"/>
                </a:solidFill>
              </a:rPr>
              <a:t>MOV AX, [BX+DI+10]</a:t>
            </a:r>
            <a:endParaRPr/>
          </a:p>
        </p:txBody>
      </p:sp>
      <p:sp>
        <p:nvSpPr>
          <p:cNvPr id="145" name="Google Shape;145;p1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17e4e7b765_0_356"/>
          <p:cNvSpPr txBox="1"/>
          <p:nvPr>
            <p:ph type="title"/>
          </p:nvPr>
        </p:nvSpPr>
        <p:spPr>
          <a:xfrm>
            <a:off x="457200" y="152400"/>
            <a:ext cx="8229600" cy="990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52" name="Google Shape;152;g317e4e7b765_0_356"/>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53" name="Google Shape;153;g317e4e7b765_0_356"/>
          <p:cNvSpPr txBox="1"/>
          <p:nvPr>
            <p:ph idx="1" type="body"/>
          </p:nvPr>
        </p:nvSpPr>
        <p:spPr>
          <a:xfrm>
            <a:off x="457200" y="1657125"/>
            <a:ext cx="8229600" cy="4500000"/>
          </a:xfrm>
          <a:prstGeom prst="rect">
            <a:avLst/>
          </a:prstGeom>
        </p:spPr>
        <p:txBody>
          <a:bodyPr anchorCtr="0" anchor="t" bIns="45700" lIns="91425" spcFirstLastPara="1" rIns="91425" wrap="square" tIns="45700">
            <a:normAutofit/>
          </a:bodyPr>
          <a:lstStyle/>
          <a:p>
            <a:pPr indent="0" lvl="0" marL="0" rtl="0" algn="l">
              <a:spcBef>
                <a:spcPts val="600"/>
              </a:spcBef>
              <a:spcAft>
                <a:spcPts val="0"/>
              </a:spcAft>
              <a:buNone/>
            </a:pPr>
            <a:r>
              <a:t/>
            </a:r>
            <a:endParaRPr/>
          </a:p>
        </p:txBody>
      </p:sp>
      <p:pic>
        <p:nvPicPr>
          <p:cNvPr id="154" name="Google Shape;154;g317e4e7b765_0_356"/>
          <p:cNvPicPr preferRelativeResize="0"/>
          <p:nvPr/>
        </p:nvPicPr>
        <p:blipFill>
          <a:blip r:embed="rId3">
            <a:alphaModFix/>
          </a:blip>
          <a:stretch>
            <a:fillRect/>
          </a:stretch>
        </p:blipFill>
        <p:spPr>
          <a:xfrm>
            <a:off x="457200" y="743925"/>
            <a:ext cx="8229600" cy="541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17e4e7b765_0_363"/>
          <p:cNvSpPr txBox="1"/>
          <p:nvPr>
            <p:ph type="title"/>
          </p:nvPr>
        </p:nvSpPr>
        <p:spPr>
          <a:xfrm>
            <a:off x="457200" y="152400"/>
            <a:ext cx="8229600" cy="990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61" name="Google Shape;161;g317e4e7b765_0_363"/>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62" name="Google Shape;162;g317e4e7b765_0_363"/>
          <p:cNvSpPr txBox="1"/>
          <p:nvPr>
            <p:ph idx="1" type="body"/>
          </p:nvPr>
        </p:nvSpPr>
        <p:spPr>
          <a:xfrm>
            <a:off x="457200" y="1219200"/>
            <a:ext cx="8229600" cy="4937700"/>
          </a:xfrm>
          <a:prstGeom prst="rect">
            <a:avLst/>
          </a:prstGeom>
        </p:spPr>
        <p:txBody>
          <a:bodyPr anchorCtr="0" anchor="t" bIns="45700" lIns="91425" spcFirstLastPara="1" rIns="91425" wrap="square" tIns="45700">
            <a:normAutofit/>
          </a:bodyPr>
          <a:lstStyle/>
          <a:p>
            <a:pPr indent="0" lvl="0" marL="0" rtl="0" algn="l">
              <a:spcBef>
                <a:spcPts val="600"/>
              </a:spcBef>
              <a:spcAft>
                <a:spcPts val="0"/>
              </a:spcAft>
              <a:buNone/>
            </a:pPr>
            <a:r>
              <a:t/>
            </a:r>
            <a:endParaRPr/>
          </a:p>
        </p:txBody>
      </p:sp>
      <p:pic>
        <p:nvPicPr>
          <p:cNvPr id="163" name="Google Shape;163;g317e4e7b765_0_363"/>
          <p:cNvPicPr preferRelativeResize="0"/>
          <p:nvPr/>
        </p:nvPicPr>
        <p:blipFill>
          <a:blip r:embed="rId3">
            <a:alphaModFix/>
          </a:blip>
          <a:stretch>
            <a:fillRect/>
          </a:stretch>
        </p:blipFill>
        <p:spPr>
          <a:xfrm>
            <a:off x="457200" y="625375"/>
            <a:ext cx="8229599" cy="5637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100000"/>
              <a:buFont typeface="Bookman Old Style"/>
              <a:buNone/>
            </a:pPr>
            <a:r>
              <a:rPr lang="en-US">
                <a:solidFill>
                  <a:schemeClr val="dk1"/>
                </a:solidFill>
              </a:rPr>
              <a:t>2. Addressing Program Codes in Memory</a:t>
            </a:r>
            <a:endParaRPr/>
          </a:p>
        </p:txBody>
      </p:sp>
      <p:sp>
        <p:nvSpPr>
          <p:cNvPr id="169" name="Google Shape;169;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0" name="Google Shape;170;p1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1976"/>
              <a:buChar char="🞂"/>
            </a:pPr>
            <a:r>
              <a:rPr lang="en-US"/>
              <a:t>Used with JMP and CALL instructions</a:t>
            </a:r>
            <a:endParaRPr/>
          </a:p>
          <a:p>
            <a:pPr indent="-465138" lvl="0" marL="465138" rtl="0" algn="l">
              <a:spcBef>
                <a:spcPts val="600"/>
              </a:spcBef>
              <a:spcAft>
                <a:spcPts val="0"/>
              </a:spcAft>
              <a:buSzPts val="1976"/>
              <a:buChar char="🞂"/>
            </a:pPr>
            <a:r>
              <a:rPr lang="en-US"/>
              <a:t>3 distinct forms:</a:t>
            </a:r>
            <a:endParaRPr/>
          </a:p>
          <a:p>
            <a:pPr indent="-465138" lvl="1" marL="739458" rtl="0" algn="l">
              <a:spcBef>
                <a:spcPts val="500"/>
              </a:spcBef>
              <a:spcAft>
                <a:spcPts val="0"/>
              </a:spcAft>
              <a:buSzPts val="1748"/>
              <a:buChar char="🞂"/>
            </a:pPr>
            <a:r>
              <a:rPr lang="en-US" sz="2300">
                <a:solidFill>
                  <a:schemeClr val="dk1"/>
                </a:solidFill>
              </a:rPr>
              <a:t>Direct</a:t>
            </a:r>
            <a:endParaRPr/>
          </a:p>
          <a:p>
            <a:pPr indent="-465138" lvl="1" marL="739458" rtl="0" algn="l">
              <a:spcBef>
                <a:spcPts val="500"/>
              </a:spcBef>
              <a:spcAft>
                <a:spcPts val="0"/>
              </a:spcAft>
              <a:buSzPts val="1976"/>
              <a:buChar char="🞂"/>
            </a:pPr>
            <a:r>
              <a:rPr lang="en-US" sz="2600">
                <a:solidFill>
                  <a:schemeClr val="dk1"/>
                </a:solidFill>
              </a:rPr>
              <a:t>Indirect</a:t>
            </a:r>
            <a:endParaRPr/>
          </a:p>
          <a:p>
            <a:pPr indent="-465138" lvl="1" marL="739458" rtl="0" algn="l">
              <a:spcBef>
                <a:spcPts val="500"/>
              </a:spcBef>
              <a:spcAft>
                <a:spcPts val="0"/>
              </a:spcAft>
              <a:buSzPts val="1976"/>
              <a:buChar char="🞂"/>
            </a:pPr>
            <a:r>
              <a:rPr lang="en-US" sz="2600">
                <a:solidFill>
                  <a:schemeClr val="dk1"/>
                </a:solidFill>
              </a:rPr>
              <a:t>Relative</a:t>
            </a:r>
            <a:endParaRPr/>
          </a:p>
          <a:p>
            <a:pPr indent="-148844" lvl="0" marL="274320" rtl="0" algn="l">
              <a:spcBef>
                <a:spcPts val="600"/>
              </a:spcBef>
              <a:spcAft>
                <a:spcPts val="0"/>
              </a:spcAft>
              <a:buSzPts val="1976"/>
              <a:buNone/>
            </a:pPr>
            <a:r>
              <a:t/>
            </a:r>
            <a:endParaRPr/>
          </a:p>
        </p:txBody>
      </p:sp>
      <p:sp>
        <p:nvSpPr>
          <p:cNvPr id="171" name="Google Shape;171;p1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100000"/>
              <a:buFont typeface="Bookman Old Style"/>
              <a:buNone/>
            </a:pPr>
            <a:r>
              <a:rPr lang="en-US">
                <a:solidFill>
                  <a:schemeClr val="dk1"/>
                </a:solidFill>
              </a:rPr>
              <a:t>2. Addressing Program Codes in Memory</a:t>
            </a:r>
            <a:endParaRPr/>
          </a:p>
        </p:txBody>
      </p:sp>
      <p:sp>
        <p:nvSpPr>
          <p:cNvPr id="177" name="Google Shape;177;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8" name="Google Shape;178;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1976"/>
              <a:buChar char="🞂"/>
            </a:pPr>
            <a:r>
              <a:rPr lang="en-US"/>
              <a:t>Address is directly given in the instruction</a:t>
            </a:r>
            <a:endParaRPr/>
          </a:p>
          <a:p>
            <a:pPr indent="-609600" lvl="0" marL="609600" rtl="0" algn="ctr">
              <a:spcBef>
                <a:spcPts val="600"/>
              </a:spcBef>
              <a:spcAft>
                <a:spcPts val="0"/>
              </a:spcAft>
              <a:buSzPts val="1976"/>
              <a:buFont typeface="Noto Sans Symbols"/>
              <a:buNone/>
            </a:pPr>
            <a:r>
              <a:t/>
            </a:r>
            <a:endParaRPr/>
          </a:p>
          <a:p>
            <a:pPr indent="-609600" lvl="0" marL="609600" rtl="0" algn="l">
              <a:spcBef>
                <a:spcPts val="600"/>
              </a:spcBef>
              <a:spcAft>
                <a:spcPts val="0"/>
              </a:spcAft>
              <a:buSzPts val="1976"/>
              <a:buFont typeface="Noto Sans Symbols"/>
              <a:buNone/>
            </a:pPr>
            <a:r>
              <a:rPr b="1" lang="en-US"/>
              <a:t>	JMP 1000: 0000</a:t>
            </a:r>
            <a:endParaRPr/>
          </a:p>
          <a:p>
            <a:pPr indent="-609600" lvl="0" marL="609600" rtl="0" algn="l">
              <a:spcBef>
                <a:spcPts val="600"/>
              </a:spcBef>
              <a:spcAft>
                <a:spcPts val="0"/>
              </a:spcAft>
              <a:buSzPts val="1976"/>
              <a:buFont typeface="Noto Sans Symbols"/>
              <a:buNone/>
            </a:pPr>
            <a:r>
              <a:rPr b="1" lang="en-US"/>
              <a:t>	</a:t>
            </a:r>
            <a:r>
              <a:rPr lang="en-US"/>
              <a:t>or</a:t>
            </a:r>
            <a:r>
              <a:rPr b="1" lang="en-US"/>
              <a:t> JMP doagain</a:t>
            </a:r>
            <a:r>
              <a:rPr lang="en-US"/>
              <a:t> ; doagain is a </a:t>
            </a:r>
            <a:r>
              <a:rPr b="1" lang="en-US"/>
              <a:t>label</a:t>
            </a:r>
            <a:r>
              <a:rPr lang="en-US"/>
              <a:t> in code</a:t>
            </a:r>
            <a:endParaRPr/>
          </a:p>
          <a:p>
            <a:pPr indent="-609600" lvl="0" marL="609600" rtl="0" algn="l">
              <a:spcBef>
                <a:spcPts val="600"/>
              </a:spcBef>
              <a:spcAft>
                <a:spcPts val="0"/>
              </a:spcAft>
              <a:buSzPts val="1976"/>
              <a:buFont typeface="Noto Sans Symbols"/>
              <a:buNone/>
            </a:pPr>
            <a:r>
              <a:rPr b="1" lang="en-US"/>
              <a:t>	</a:t>
            </a:r>
            <a:endParaRPr/>
          </a:p>
          <a:p>
            <a:pPr indent="-609600" lvl="0" marL="609600" rtl="0" algn="l">
              <a:spcBef>
                <a:spcPts val="600"/>
              </a:spcBef>
              <a:spcAft>
                <a:spcPts val="0"/>
              </a:spcAft>
              <a:buSzPts val="1976"/>
              <a:buFont typeface="Noto Sans Symbols"/>
              <a:buNone/>
            </a:pPr>
            <a:r>
              <a:rPr b="1" lang="en-US"/>
              <a:t>	CALL 1000:0000</a:t>
            </a:r>
            <a:endParaRPr/>
          </a:p>
          <a:p>
            <a:pPr indent="-609600" lvl="0" marL="609600" rtl="0" algn="l">
              <a:spcBef>
                <a:spcPts val="600"/>
              </a:spcBef>
              <a:spcAft>
                <a:spcPts val="0"/>
              </a:spcAft>
              <a:buSzPts val="1976"/>
              <a:buFont typeface="Noto Sans Symbols"/>
              <a:buNone/>
            </a:pPr>
            <a:r>
              <a:rPr b="1" lang="en-US"/>
              <a:t>	</a:t>
            </a:r>
            <a:r>
              <a:rPr lang="en-US"/>
              <a:t>or </a:t>
            </a:r>
            <a:r>
              <a:rPr b="1" lang="en-US"/>
              <a:t>CALL doagain</a:t>
            </a:r>
            <a:r>
              <a:rPr lang="en-US"/>
              <a:t> ; doagain is a </a:t>
            </a:r>
            <a:r>
              <a:rPr b="1" lang="en-US"/>
              <a:t>procedure</a:t>
            </a:r>
            <a:r>
              <a:rPr lang="en-US"/>
              <a:t> in code</a:t>
            </a:r>
            <a:endParaRPr/>
          </a:p>
          <a:p>
            <a:pPr indent="-609600" lvl="0" marL="609600" rtl="0" algn="ctr">
              <a:spcBef>
                <a:spcPts val="600"/>
              </a:spcBef>
              <a:spcAft>
                <a:spcPts val="0"/>
              </a:spcAft>
              <a:buSzPts val="1976"/>
              <a:buFont typeface="Noto Sans Symbols"/>
              <a:buNone/>
            </a:pPr>
            <a:r>
              <a:t/>
            </a:r>
            <a:endParaRPr/>
          </a:p>
          <a:p>
            <a:pPr indent="-465138" lvl="0" marL="465138" rtl="0" algn="l">
              <a:spcBef>
                <a:spcPts val="600"/>
              </a:spcBef>
              <a:spcAft>
                <a:spcPts val="0"/>
              </a:spcAft>
              <a:buSzPts val="1976"/>
              <a:buChar char="🞂"/>
            </a:pPr>
            <a:r>
              <a:rPr lang="en-US"/>
              <a:t>Often known as </a:t>
            </a:r>
            <a:r>
              <a:rPr i="1" lang="en-US"/>
              <a:t>far </a:t>
            </a:r>
            <a:r>
              <a:rPr lang="en-US"/>
              <a:t>jump or </a:t>
            </a:r>
            <a:r>
              <a:rPr i="1" lang="en-US"/>
              <a:t>far</a:t>
            </a:r>
            <a:r>
              <a:rPr lang="en-US"/>
              <a:t> call</a:t>
            </a:r>
            <a:endParaRPr/>
          </a:p>
          <a:p>
            <a:pPr indent="-148844" lvl="0" marL="274320" rtl="0" algn="l">
              <a:spcBef>
                <a:spcPts val="600"/>
              </a:spcBef>
              <a:spcAft>
                <a:spcPts val="0"/>
              </a:spcAft>
              <a:buSzPts val="1976"/>
              <a:buNone/>
            </a:pPr>
            <a:r>
              <a:t/>
            </a:r>
            <a:endParaRPr/>
          </a:p>
        </p:txBody>
      </p:sp>
      <p:sp>
        <p:nvSpPr>
          <p:cNvPr id="179" name="Google Shape;179;p1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100000"/>
              <a:buFont typeface="Bookman Old Style"/>
              <a:buNone/>
            </a:pPr>
            <a:r>
              <a:rPr lang="en-US">
                <a:solidFill>
                  <a:schemeClr val="dk1"/>
                </a:solidFill>
              </a:rPr>
              <a:t>2. Addressing Program Codes in Memory</a:t>
            </a:r>
            <a:endParaRPr/>
          </a:p>
        </p:txBody>
      </p:sp>
      <p:sp>
        <p:nvSpPr>
          <p:cNvPr id="185" name="Google Shape;185;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6" name="Google Shape;186;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SzPts val="1976"/>
              <a:buChar char="🞂"/>
            </a:pPr>
            <a:r>
              <a:rPr lang="en-US"/>
              <a:t>Address can be obtained from </a:t>
            </a:r>
            <a:endParaRPr/>
          </a:p>
          <a:p>
            <a:pPr indent="-533400" lvl="1" marL="990600" rtl="0" algn="l">
              <a:spcBef>
                <a:spcPts val="500"/>
              </a:spcBef>
              <a:spcAft>
                <a:spcPts val="0"/>
              </a:spcAft>
              <a:buSzPts val="1976"/>
              <a:buChar char="🞂"/>
            </a:pPr>
            <a:r>
              <a:rPr b="1" lang="en-US" sz="2600">
                <a:solidFill>
                  <a:schemeClr val="dk1"/>
                </a:solidFill>
              </a:rPr>
              <a:t>a)</a:t>
            </a:r>
            <a:r>
              <a:rPr lang="en-US" sz="2600">
                <a:solidFill>
                  <a:schemeClr val="dk1"/>
                </a:solidFill>
              </a:rPr>
              <a:t> any GP registers (AX,BX,CX,DX,SP,BP,DI,SI)</a:t>
            </a:r>
            <a:endParaRPr sz="2600">
              <a:solidFill>
                <a:schemeClr val="dk1"/>
              </a:solidFill>
            </a:endParaRPr>
          </a:p>
          <a:p>
            <a:pPr indent="-352552" lvl="1" marL="548640" rtl="0" algn="ctr">
              <a:spcBef>
                <a:spcPts val="600"/>
              </a:spcBef>
              <a:spcAft>
                <a:spcPts val="0"/>
              </a:spcAft>
              <a:buClr>
                <a:schemeClr val="dk1"/>
              </a:buClr>
              <a:buSzPts val="2600"/>
              <a:buChar char="🞂"/>
            </a:pPr>
            <a:r>
              <a:rPr lang="en-US" sz="2600">
                <a:solidFill>
                  <a:schemeClr val="dk1"/>
                </a:solidFill>
              </a:rPr>
              <a:t>JMP AX </a:t>
            </a:r>
            <a:r>
              <a:rPr i="1" lang="en-US" sz="1200">
                <a:solidFill>
                  <a:srgbClr val="FF0000"/>
                </a:solidFill>
                <a:latin typeface="Trebuchet MS"/>
                <a:ea typeface="Trebuchet MS"/>
                <a:cs typeface="Trebuchet MS"/>
                <a:sym typeface="Trebuchet MS"/>
              </a:rPr>
              <a:t>IP = AX </a:t>
            </a:r>
            <a:r>
              <a:rPr i="1" lang="en-US" sz="1200">
                <a:solidFill>
                  <a:schemeClr val="dk1"/>
                </a:solidFill>
                <a:latin typeface="Trebuchet MS"/>
                <a:ea typeface="Trebuchet MS"/>
                <a:cs typeface="Trebuchet MS"/>
                <a:sym typeface="Trebuchet MS"/>
              </a:rPr>
              <a:t>; then CS : IP</a:t>
            </a:r>
            <a:endParaRPr sz="2600">
              <a:solidFill>
                <a:schemeClr val="dk1"/>
              </a:solidFill>
            </a:endParaRPr>
          </a:p>
          <a:p>
            <a:pPr indent="-533400" lvl="1" marL="990600" rtl="0" algn="l">
              <a:spcBef>
                <a:spcPts val="500"/>
              </a:spcBef>
              <a:spcAft>
                <a:spcPts val="0"/>
              </a:spcAft>
              <a:buSzPts val="1976"/>
              <a:buChar char="🞂"/>
            </a:pPr>
            <a:r>
              <a:rPr b="1" lang="en-US" sz="2600">
                <a:solidFill>
                  <a:schemeClr val="dk1"/>
                </a:solidFill>
              </a:rPr>
              <a:t>b)</a:t>
            </a:r>
            <a:r>
              <a:rPr lang="en-US" sz="2600">
                <a:solidFill>
                  <a:schemeClr val="dk1"/>
                </a:solidFill>
              </a:rPr>
              <a:t> any relative registers ([BP],[BX],[DI],[SI])</a:t>
            </a:r>
            <a:endParaRPr sz="2600">
              <a:solidFill>
                <a:schemeClr val="dk1"/>
              </a:solidFill>
            </a:endParaRPr>
          </a:p>
          <a:p>
            <a:pPr indent="-352552" lvl="1" marL="548640" rtl="0" algn="ctr">
              <a:spcBef>
                <a:spcPts val="600"/>
              </a:spcBef>
              <a:spcAft>
                <a:spcPts val="0"/>
              </a:spcAft>
              <a:buClr>
                <a:schemeClr val="dk1"/>
              </a:buClr>
              <a:buSzPts val="2600"/>
              <a:buChar char="🞂"/>
            </a:pPr>
            <a:r>
              <a:rPr lang="en-US" sz="2600">
                <a:solidFill>
                  <a:schemeClr val="dk1"/>
                </a:solidFill>
              </a:rPr>
              <a:t>JMP [BX] </a:t>
            </a:r>
            <a:r>
              <a:rPr i="1" lang="en-US" sz="1200">
                <a:solidFill>
                  <a:srgbClr val="FF0000"/>
                </a:solidFill>
                <a:latin typeface="Trebuchet MS"/>
                <a:ea typeface="Trebuchet MS"/>
                <a:cs typeface="Trebuchet MS"/>
                <a:sym typeface="Trebuchet MS"/>
              </a:rPr>
              <a:t>IP = what is inside the physical address of DS : BX </a:t>
            </a:r>
            <a:r>
              <a:rPr i="1" lang="en-US" sz="1200">
                <a:solidFill>
                  <a:schemeClr val="dk1"/>
                </a:solidFill>
                <a:latin typeface="Trebuchet MS"/>
                <a:ea typeface="Trebuchet MS"/>
                <a:cs typeface="Trebuchet MS"/>
                <a:sym typeface="Trebuchet MS"/>
              </a:rPr>
              <a:t>; then CS:IP</a:t>
            </a:r>
            <a:endParaRPr sz="1200">
              <a:solidFill>
                <a:schemeClr val="dk1"/>
              </a:solidFill>
              <a:latin typeface="Trebuchet MS"/>
              <a:ea typeface="Trebuchet MS"/>
              <a:cs typeface="Trebuchet MS"/>
              <a:sym typeface="Trebuchet MS"/>
            </a:endParaRPr>
          </a:p>
          <a:p>
            <a:pPr indent="-352552" lvl="1" marL="548640" rtl="0" algn="ctr">
              <a:spcBef>
                <a:spcPts val="600"/>
              </a:spcBef>
              <a:spcAft>
                <a:spcPts val="0"/>
              </a:spcAft>
              <a:buClr>
                <a:schemeClr val="dk1"/>
              </a:buClr>
              <a:buSzPts val="2600"/>
              <a:buChar char="🞂"/>
            </a:pPr>
            <a:r>
              <a:t/>
            </a:r>
            <a:endParaRPr sz="2600">
              <a:solidFill>
                <a:schemeClr val="dk1"/>
              </a:solidFill>
            </a:endParaRPr>
          </a:p>
          <a:p>
            <a:pPr indent="-533400" lvl="1" marL="990600" rtl="0" algn="l">
              <a:spcBef>
                <a:spcPts val="500"/>
              </a:spcBef>
              <a:spcAft>
                <a:spcPts val="0"/>
              </a:spcAft>
              <a:buSzPts val="1976"/>
              <a:buChar char="🞂"/>
            </a:pPr>
            <a:r>
              <a:rPr b="1" lang="en-US" sz="2600">
                <a:solidFill>
                  <a:schemeClr val="dk1"/>
                </a:solidFill>
              </a:rPr>
              <a:t>c)</a:t>
            </a:r>
            <a:r>
              <a:rPr lang="en-US" sz="2600">
                <a:solidFill>
                  <a:schemeClr val="dk1"/>
                </a:solidFill>
              </a:rPr>
              <a:t> any relative register with displacement</a:t>
            </a:r>
            <a:endParaRPr/>
          </a:p>
          <a:p>
            <a:pPr indent="-274320" lvl="1" marL="548640" rtl="0" algn="ctr">
              <a:spcBef>
                <a:spcPts val="600"/>
              </a:spcBef>
              <a:spcAft>
                <a:spcPts val="0"/>
              </a:spcAft>
              <a:buSzPts val="1368"/>
              <a:buChar char="🞂"/>
            </a:pPr>
            <a:r>
              <a:rPr lang="en-US" sz="2600">
                <a:solidFill>
                  <a:schemeClr val="dk1"/>
                </a:solidFill>
              </a:rPr>
              <a:t>JMP [BX+100H] </a:t>
            </a:r>
            <a:r>
              <a:rPr i="1" lang="en-US" sz="1200">
                <a:solidFill>
                  <a:srgbClr val="FF0000"/>
                </a:solidFill>
                <a:latin typeface="Trebuchet MS"/>
                <a:ea typeface="Trebuchet MS"/>
                <a:cs typeface="Trebuchet MS"/>
                <a:sym typeface="Trebuchet MS"/>
              </a:rPr>
              <a:t>IP = what is inside the physical address of DS : BX +100h </a:t>
            </a:r>
            <a:r>
              <a:rPr i="1" lang="en-US" sz="1200">
                <a:solidFill>
                  <a:schemeClr val="dk1"/>
                </a:solidFill>
                <a:latin typeface="Trebuchet MS"/>
                <a:ea typeface="Trebuchet MS"/>
                <a:cs typeface="Trebuchet MS"/>
                <a:sym typeface="Trebuchet MS"/>
              </a:rPr>
              <a:t>; then CS</a:t>
            </a:r>
            <a:r>
              <a:rPr lang="en-US" sz="1200">
                <a:solidFill>
                  <a:schemeClr val="dk1"/>
                </a:solidFill>
                <a:latin typeface="Trebuchet MS"/>
                <a:ea typeface="Trebuchet MS"/>
                <a:cs typeface="Trebuchet MS"/>
                <a:sym typeface="Trebuchet MS"/>
              </a:rPr>
              <a:t> </a:t>
            </a:r>
            <a:r>
              <a:rPr i="1" lang="en-US" sz="1200">
                <a:solidFill>
                  <a:schemeClr val="dk1"/>
                </a:solidFill>
                <a:latin typeface="Trebuchet MS"/>
                <a:ea typeface="Trebuchet MS"/>
                <a:cs typeface="Trebuchet MS"/>
                <a:sym typeface="Trebuchet MS"/>
              </a:rPr>
              <a:t>: IP</a:t>
            </a:r>
            <a:endParaRPr sz="1200">
              <a:solidFill>
                <a:schemeClr val="dk1"/>
              </a:solidFill>
              <a:latin typeface="Trebuchet MS"/>
              <a:ea typeface="Trebuchet MS"/>
              <a:cs typeface="Trebuchet MS"/>
              <a:sym typeface="Trebuchet MS"/>
            </a:endParaRPr>
          </a:p>
          <a:p>
            <a:pPr indent="-352552" lvl="1" marL="548640" rtl="0" algn="ctr">
              <a:spcBef>
                <a:spcPts val="600"/>
              </a:spcBef>
              <a:spcAft>
                <a:spcPts val="0"/>
              </a:spcAft>
              <a:buClr>
                <a:schemeClr val="dk1"/>
              </a:buClr>
              <a:buSzPts val="2600"/>
              <a:buChar char="🞂"/>
            </a:pPr>
            <a:r>
              <a:t/>
            </a:r>
            <a:endParaRPr sz="2600">
              <a:solidFill>
                <a:schemeClr val="dk1"/>
              </a:solidFill>
            </a:endParaRPr>
          </a:p>
          <a:p>
            <a:pPr indent="-148844" lvl="0" marL="274320" rtl="0" algn="l">
              <a:spcBef>
                <a:spcPts val="600"/>
              </a:spcBef>
              <a:spcAft>
                <a:spcPts val="0"/>
              </a:spcAft>
              <a:buSzPts val="1976"/>
              <a:buNone/>
            </a:pPr>
            <a:r>
              <a:t/>
            </a:r>
            <a:endParaRPr/>
          </a:p>
        </p:txBody>
      </p:sp>
      <p:sp>
        <p:nvSpPr>
          <p:cNvPr id="187" name="Google Shape;187;p1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3. Addressing Stack in Memory</a:t>
            </a:r>
            <a:endParaRPr/>
          </a:p>
        </p:txBody>
      </p:sp>
      <p:sp>
        <p:nvSpPr>
          <p:cNvPr id="193" name="Google Shape;193;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94" name="Google Shape;194;p2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609600" lvl="0" marL="609600" rtl="0" algn="l">
              <a:spcBef>
                <a:spcPts val="0"/>
              </a:spcBef>
              <a:spcAft>
                <a:spcPts val="0"/>
              </a:spcAft>
              <a:buClr>
                <a:schemeClr val="dk1"/>
              </a:buClr>
              <a:buSzPts val="2128"/>
              <a:buFont typeface="Gill Sans"/>
              <a:buChar char="•"/>
            </a:pPr>
            <a:r>
              <a:rPr b="1" lang="en-US" sz="2800"/>
              <a:t>PUSH</a:t>
            </a:r>
            <a:r>
              <a:rPr lang="en-US" sz="2800"/>
              <a:t> and </a:t>
            </a:r>
            <a:r>
              <a:rPr b="1" lang="en-US" sz="2800"/>
              <a:t>POP</a:t>
            </a:r>
            <a:r>
              <a:rPr lang="en-US" sz="2800"/>
              <a:t> instructions are used to move data to and from stack (in particular from stack segment).</a:t>
            </a:r>
            <a:endParaRPr sz="2800"/>
          </a:p>
          <a:p>
            <a:pPr indent="-365252" lvl="0" marL="274320" marR="5440680" rtl="0" algn="l">
              <a:lnSpc>
                <a:spcPct val="162500"/>
              </a:lnSpc>
              <a:spcBef>
                <a:spcPts val="500"/>
              </a:spcBef>
              <a:spcAft>
                <a:spcPts val="0"/>
              </a:spcAft>
              <a:buSzPts val="2800"/>
              <a:buChar char="•"/>
            </a:pPr>
            <a:r>
              <a:rPr lang="en-US" sz="2000">
                <a:latin typeface="Tahoma"/>
                <a:ea typeface="Tahoma"/>
                <a:cs typeface="Tahoma"/>
                <a:sym typeface="Tahoma"/>
              </a:rPr>
              <a:t>    PUSH AX               POP CX</a:t>
            </a:r>
            <a:endParaRPr sz="2800"/>
          </a:p>
          <a:p>
            <a:pPr indent="-609600" lvl="0" marL="609600" rtl="0" algn="l">
              <a:spcBef>
                <a:spcPts val="600"/>
              </a:spcBef>
              <a:spcAft>
                <a:spcPts val="0"/>
              </a:spcAft>
              <a:buClr>
                <a:schemeClr val="dk1"/>
              </a:buClr>
              <a:buSzPts val="2128"/>
              <a:buFont typeface="Gill Sans"/>
              <a:buChar char="•"/>
            </a:pPr>
            <a:r>
              <a:rPr b="1" lang="en-US" sz="2800"/>
              <a:t>CALL</a:t>
            </a:r>
            <a:r>
              <a:rPr lang="en-US" sz="2800"/>
              <a:t> also uses the stack to hold the return address for procedure.</a:t>
            </a:r>
            <a:endParaRPr/>
          </a:p>
          <a:p>
            <a:pPr indent="-474472" lvl="0" marL="609600" rtl="0" algn="l">
              <a:spcBef>
                <a:spcPts val="600"/>
              </a:spcBef>
              <a:spcAft>
                <a:spcPts val="0"/>
              </a:spcAft>
              <a:buClr>
                <a:schemeClr val="dk1"/>
              </a:buClr>
              <a:buSzPts val="2128"/>
              <a:buFont typeface="Gill Sans"/>
              <a:buNone/>
            </a:pPr>
            <a:r>
              <a:t/>
            </a:r>
            <a:endParaRPr sz="2800"/>
          </a:p>
          <a:p>
            <a:pPr indent="0" lvl="0" marL="1069975" rtl="0" algn="l">
              <a:spcBef>
                <a:spcPts val="1995"/>
              </a:spcBef>
              <a:spcAft>
                <a:spcPts val="0"/>
              </a:spcAft>
              <a:buClr>
                <a:schemeClr val="dk1"/>
              </a:buClr>
              <a:buFont typeface="Arial"/>
              <a:buNone/>
            </a:pPr>
            <a:r>
              <a:rPr lang="en-US" sz="2000">
                <a:latin typeface="Tahoma"/>
                <a:ea typeface="Tahoma"/>
                <a:cs typeface="Tahoma"/>
                <a:sym typeface="Tahoma"/>
              </a:rPr>
              <a:t>CALL SUM ; SUM is a procedure name</a:t>
            </a:r>
            <a:endParaRPr sz="2000">
              <a:latin typeface="Tahoma"/>
              <a:ea typeface="Tahoma"/>
              <a:cs typeface="Tahoma"/>
              <a:sym typeface="Tahoma"/>
            </a:endParaRPr>
          </a:p>
          <a:p>
            <a:pPr indent="-148844" lvl="0" marL="274320" rtl="0" algn="l">
              <a:spcBef>
                <a:spcPts val="600"/>
              </a:spcBef>
              <a:spcAft>
                <a:spcPts val="0"/>
              </a:spcAft>
              <a:buSzPts val="1976"/>
              <a:buNone/>
            </a:pPr>
            <a:r>
              <a:t/>
            </a:r>
            <a:endParaRPr/>
          </a:p>
        </p:txBody>
      </p:sp>
      <p:sp>
        <p:nvSpPr>
          <p:cNvPr id="195" name="Google Shape;195;p2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4. Addressing Input and Output Port</a:t>
            </a:r>
            <a:endParaRPr/>
          </a:p>
        </p:txBody>
      </p:sp>
      <p:sp>
        <p:nvSpPr>
          <p:cNvPr id="201" name="Google Shape;201;p2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2" name="Google Shape;202;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609600" lvl="0" marL="609600" rtl="0" algn="l">
              <a:lnSpc>
                <a:spcPct val="80000"/>
              </a:lnSpc>
              <a:spcBef>
                <a:spcPts val="0"/>
              </a:spcBef>
              <a:spcAft>
                <a:spcPts val="0"/>
              </a:spcAft>
              <a:buSzPts val="1976"/>
              <a:buChar char="🞂"/>
            </a:pPr>
            <a:r>
              <a:rPr lang="en-US"/>
              <a:t>IN and OUT instructions are used to address I/O ports</a:t>
            </a:r>
            <a:endParaRPr/>
          </a:p>
          <a:p>
            <a:pPr indent="-484124" lvl="0" marL="609600" rtl="0" algn="l">
              <a:lnSpc>
                <a:spcPct val="80000"/>
              </a:lnSpc>
              <a:spcBef>
                <a:spcPts val="600"/>
              </a:spcBef>
              <a:spcAft>
                <a:spcPts val="0"/>
              </a:spcAft>
              <a:buSzPts val="1976"/>
              <a:buNone/>
            </a:pPr>
            <a:r>
              <a:t/>
            </a:r>
            <a:endParaRPr/>
          </a:p>
          <a:p>
            <a:pPr indent="-609600" lvl="0" marL="609600" rtl="0" algn="l">
              <a:lnSpc>
                <a:spcPct val="80000"/>
              </a:lnSpc>
              <a:spcBef>
                <a:spcPts val="600"/>
              </a:spcBef>
              <a:spcAft>
                <a:spcPts val="0"/>
              </a:spcAft>
              <a:buSzPts val="1976"/>
              <a:buChar char="🞂"/>
            </a:pPr>
            <a:r>
              <a:rPr lang="en-US"/>
              <a:t>Could be </a:t>
            </a:r>
            <a:r>
              <a:rPr i="1" lang="en-US"/>
              <a:t>direct addressing</a:t>
            </a:r>
            <a:endParaRPr/>
          </a:p>
          <a:p>
            <a:pPr indent="-609600" lvl="0" marL="609600" rtl="0" algn="l">
              <a:lnSpc>
                <a:spcPct val="80000"/>
              </a:lnSpc>
              <a:spcBef>
                <a:spcPts val="600"/>
              </a:spcBef>
              <a:spcAft>
                <a:spcPts val="0"/>
              </a:spcAft>
              <a:buSzPts val="1976"/>
              <a:buNone/>
            </a:pPr>
            <a:r>
              <a:rPr b="1" i="1" lang="en-US" sz="2600">
                <a:solidFill>
                  <a:schemeClr val="dk1"/>
                </a:solidFill>
              </a:rPr>
              <a:t>	</a:t>
            </a:r>
            <a:endParaRPr b="1" i="1"/>
          </a:p>
          <a:p>
            <a:pPr indent="-609600" lvl="0" marL="609600" rtl="0" algn="l">
              <a:lnSpc>
                <a:spcPct val="80000"/>
              </a:lnSpc>
              <a:spcBef>
                <a:spcPts val="600"/>
              </a:spcBef>
              <a:spcAft>
                <a:spcPts val="0"/>
              </a:spcAft>
              <a:buSzPts val="1976"/>
              <a:buNone/>
            </a:pPr>
            <a:r>
              <a:rPr b="1" i="1" lang="en-US" sz="2600">
                <a:solidFill>
                  <a:schemeClr val="dk1"/>
                </a:solidFill>
              </a:rPr>
              <a:t>	</a:t>
            </a:r>
            <a:r>
              <a:rPr b="1" lang="en-US" sz="2600">
                <a:solidFill>
                  <a:schemeClr val="dk1"/>
                </a:solidFill>
              </a:rPr>
              <a:t>IN AL, 05h</a:t>
            </a:r>
            <a:r>
              <a:rPr lang="en-US" sz="2600">
                <a:solidFill>
                  <a:schemeClr val="dk1"/>
                </a:solidFill>
              </a:rPr>
              <a:t> ; Here 05h is a input port number</a:t>
            </a:r>
            <a:endParaRPr/>
          </a:p>
          <a:p>
            <a:pPr indent="-484124" lvl="0" marL="609600" rtl="0" algn="l">
              <a:lnSpc>
                <a:spcPct val="80000"/>
              </a:lnSpc>
              <a:spcBef>
                <a:spcPts val="600"/>
              </a:spcBef>
              <a:spcAft>
                <a:spcPts val="0"/>
              </a:spcAft>
              <a:buSzPts val="1976"/>
              <a:buNone/>
            </a:pPr>
            <a:r>
              <a:t/>
            </a:r>
            <a:endParaRPr/>
          </a:p>
          <a:p>
            <a:pPr indent="-609600" lvl="0" marL="609600" rtl="0" algn="l">
              <a:lnSpc>
                <a:spcPct val="80000"/>
              </a:lnSpc>
              <a:spcBef>
                <a:spcPts val="600"/>
              </a:spcBef>
              <a:spcAft>
                <a:spcPts val="0"/>
              </a:spcAft>
              <a:buSzPts val="1976"/>
              <a:buChar char="🞂"/>
            </a:pPr>
            <a:r>
              <a:rPr lang="en-US"/>
              <a:t>or </a:t>
            </a:r>
            <a:r>
              <a:rPr i="1" lang="en-US"/>
              <a:t>indirect addressing</a:t>
            </a:r>
            <a:endParaRPr/>
          </a:p>
          <a:p>
            <a:pPr indent="-609600" lvl="0" marL="609600" rtl="0" algn="ctr">
              <a:lnSpc>
                <a:spcPct val="80000"/>
              </a:lnSpc>
              <a:spcBef>
                <a:spcPts val="600"/>
              </a:spcBef>
              <a:spcAft>
                <a:spcPts val="0"/>
              </a:spcAft>
              <a:buSzPts val="760"/>
              <a:buFont typeface="Noto Sans Symbols"/>
              <a:buNone/>
            </a:pPr>
            <a:r>
              <a:t/>
            </a:r>
            <a:endParaRPr b="1" sz="1000"/>
          </a:p>
          <a:p>
            <a:pPr indent="-609600" lvl="0" marL="609600" rtl="0" algn="ctr">
              <a:lnSpc>
                <a:spcPct val="80000"/>
              </a:lnSpc>
              <a:spcBef>
                <a:spcPts val="600"/>
              </a:spcBef>
              <a:spcAft>
                <a:spcPts val="0"/>
              </a:spcAft>
              <a:buSzPts val="1976"/>
              <a:buFont typeface="Noto Sans Symbols"/>
              <a:buNone/>
            </a:pPr>
            <a:r>
              <a:rPr b="1" lang="en-US"/>
              <a:t>	OUT DX,  AL</a:t>
            </a:r>
            <a:r>
              <a:rPr lang="en-US"/>
              <a:t> ; DX contains the address of I/O port</a:t>
            </a:r>
            <a:endParaRPr/>
          </a:p>
          <a:p>
            <a:pPr indent="-484124" lvl="0" marL="609600" rtl="0" algn="l">
              <a:lnSpc>
                <a:spcPct val="80000"/>
              </a:lnSpc>
              <a:spcBef>
                <a:spcPts val="600"/>
              </a:spcBef>
              <a:spcAft>
                <a:spcPts val="0"/>
              </a:spcAft>
              <a:buSzPts val="1976"/>
              <a:buNone/>
            </a:pPr>
            <a:r>
              <a:t/>
            </a:r>
            <a:endParaRPr/>
          </a:p>
          <a:p>
            <a:pPr indent="-609600" lvl="0" marL="609600" rtl="0" algn="l">
              <a:lnSpc>
                <a:spcPct val="80000"/>
              </a:lnSpc>
              <a:spcBef>
                <a:spcPts val="600"/>
              </a:spcBef>
              <a:spcAft>
                <a:spcPts val="0"/>
              </a:spcAft>
              <a:buSzPts val="1976"/>
              <a:buChar char="🞂"/>
            </a:pPr>
            <a:r>
              <a:rPr lang="en-US"/>
              <a:t>Only DX register can be used to point a I/O port</a:t>
            </a:r>
            <a:endParaRPr/>
          </a:p>
          <a:p>
            <a:pPr indent="-148844" lvl="0" marL="274320" rtl="0" algn="l">
              <a:spcBef>
                <a:spcPts val="600"/>
              </a:spcBef>
              <a:spcAft>
                <a:spcPts val="0"/>
              </a:spcAft>
              <a:buSzPts val="1976"/>
              <a:buNone/>
            </a:pPr>
            <a:r>
              <a:t/>
            </a:r>
            <a:endParaRPr/>
          </a:p>
        </p:txBody>
      </p:sp>
      <p:sp>
        <p:nvSpPr>
          <p:cNvPr id="203" name="Google Shape;203;p2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Bookman Old Style"/>
              <a:buNone/>
            </a:pPr>
            <a:r>
              <a:rPr lang="en-US">
                <a:solidFill>
                  <a:schemeClr val="dk1"/>
                </a:solidFill>
              </a:rPr>
              <a:t>5. Implied Addressing</a:t>
            </a:r>
            <a:endParaRPr/>
          </a:p>
        </p:txBody>
      </p:sp>
      <p:sp>
        <p:nvSpPr>
          <p:cNvPr id="209" name="Google Shape;209;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10" name="Google Shape;210;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609600" lvl="0" marL="609600" rtl="0" algn="l">
              <a:spcBef>
                <a:spcPts val="0"/>
              </a:spcBef>
              <a:spcAft>
                <a:spcPts val="0"/>
              </a:spcAft>
              <a:buClr>
                <a:schemeClr val="dk1"/>
              </a:buClr>
              <a:buSzPts val="1976"/>
              <a:buChar char="🞂"/>
            </a:pPr>
            <a:r>
              <a:rPr lang="en-US"/>
              <a:t>No explicit address is given with the instruction</a:t>
            </a:r>
            <a:endParaRPr/>
          </a:p>
          <a:p>
            <a:pPr indent="-609600" lvl="0" marL="609600" rtl="0" algn="l">
              <a:spcBef>
                <a:spcPts val="600"/>
              </a:spcBef>
              <a:spcAft>
                <a:spcPts val="0"/>
              </a:spcAft>
              <a:buClr>
                <a:schemeClr val="dk1"/>
              </a:buClr>
              <a:buSzPts val="1976"/>
              <a:buChar char="🞂"/>
            </a:pPr>
            <a:r>
              <a:rPr lang="en-US"/>
              <a:t>implied within the instruction itself</a:t>
            </a:r>
            <a:endParaRPr/>
          </a:p>
          <a:p>
            <a:pPr indent="-609600" lvl="0" marL="609600" rtl="0" algn="l">
              <a:spcBef>
                <a:spcPts val="600"/>
              </a:spcBef>
              <a:spcAft>
                <a:spcPts val="0"/>
              </a:spcAft>
              <a:buClr>
                <a:schemeClr val="dk1"/>
              </a:buClr>
              <a:buSzPts val="1976"/>
              <a:buChar char="🞂"/>
            </a:pPr>
            <a:r>
              <a:rPr lang="en-US"/>
              <a:t>Examples:</a:t>
            </a:r>
            <a:endParaRPr/>
          </a:p>
          <a:p>
            <a:pPr indent="-274320" lvl="0" marL="274320" rtl="0" algn="l">
              <a:spcBef>
                <a:spcPts val="600"/>
              </a:spcBef>
              <a:spcAft>
                <a:spcPts val="0"/>
              </a:spcAft>
              <a:buSzPts val="1976"/>
              <a:buNone/>
            </a:pPr>
            <a:r>
              <a:rPr lang="en-US"/>
              <a:t>			</a:t>
            </a:r>
            <a:r>
              <a:rPr b="1" lang="en-US"/>
              <a:t>CLC</a:t>
            </a:r>
            <a:r>
              <a:rPr lang="en-US"/>
              <a:t>  ; clear carry flag</a:t>
            </a:r>
            <a:endParaRPr/>
          </a:p>
          <a:p>
            <a:pPr indent="-274320" lvl="0" marL="274320" rtl="0" algn="l">
              <a:spcBef>
                <a:spcPts val="600"/>
              </a:spcBef>
              <a:spcAft>
                <a:spcPts val="0"/>
              </a:spcAft>
              <a:buSzPts val="1976"/>
              <a:buNone/>
            </a:pPr>
            <a:r>
              <a:rPr lang="en-US"/>
              <a:t>			</a:t>
            </a:r>
            <a:r>
              <a:rPr b="1" lang="en-US"/>
              <a:t>HLT</a:t>
            </a:r>
            <a:r>
              <a:rPr lang="en-US"/>
              <a:t>   ; halts the program</a:t>
            </a:r>
            <a:endParaRPr/>
          </a:p>
          <a:p>
            <a:pPr indent="-274320" lvl="0" marL="274320" rtl="0" algn="l">
              <a:spcBef>
                <a:spcPts val="600"/>
              </a:spcBef>
              <a:spcAft>
                <a:spcPts val="0"/>
              </a:spcAft>
              <a:buSzPts val="1976"/>
              <a:buNone/>
            </a:pPr>
            <a:r>
              <a:rPr lang="en-US"/>
              <a:t>			</a:t>
            </a:r>
            <a:r>
              <a:rPr b="1" lang="en-US"/>
              <a:t>RET</a:t>
            </a:r>
            <a:r>
              <a:rPr lang="en-US"/>
              <a:t>   ; return to DOS</a:t>
            </a:r>
            <a:endParaRPr/>
          </a:p>
          <a:p>
            <a:pPr indent="-148844" lvl="0" marL="274320" rtl="0" algn="l">
              <a:spcBef>
                <a:spcPts val="600"/>
              </a:spcBef>
              <a:spcAft>
                <a:spcPts val="0"/>
              </a:spcAft>
              <a:buSzPts val="1976"/>
              <a:buNone/>
            </a:pPr>
            <a:r>
              <a:t/>
            </a:r>
            <a:endParaRPr/>
          </a:p>
        </p:txBody>
      </p:sp>
      <p:sp>
        <p:nvSpPr>
          <p:cNvPr id="211" name="Google Shape;211;p2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0" sz="1400">
              <a:solidFill>
                <a:schemeClr val="dk1"/>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