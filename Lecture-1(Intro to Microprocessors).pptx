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22"/>
  </p:notesMasterIdLst>
  <p:sldIdLst>
    <p:sldId id="315" r:id="rId2"/>
    <p:sldId id="299" r:id="rId3"/>
    <p:sldId id="309" r:id="rId4"/>
    <p:sldId id="298" r:id="rId5"/>
    <p:sldId id="292" r:id="rId6"/>
    <p:sldId id="293" r:id="rId7"/>
    <p:sldId id="295" r:id="rId8"/>
    <p:sldId id="302" r:id="rId9"/>
    <p:sldId id="296" r:id="rId10"/>
    <p:sldId id="294" r:id="rId11"/>
    <p:sldId id="300" r:id="rId12"/>
    <p:sldId id="297" r:id="rId13"/>
    <p:sldId id="301" r:id="rId14"/>
    <p:sldId id="303" r:id="rId15"/>
    <p:sldId id="316" r:id="rId16"/>
    <p:sldId id="304" r:id="rId17"/>
    <p:sldId id="305" r:id="rId18"/>
    <p:sldId id="318" r:id="rId19"/>
    <p:sldId id="306" r:id="rId20"/>
    <p:sldId id="317" r:id="rId2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033664E2-CB1B-44D9-8561-4583EAEFF74F}" type="datetimeFigureOut">
              <a:rPr lang="en-US" smtClean="0"/>
              <a:pPr/>
              <a:t>10/20/2024</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B6CD7000-B82A-4E34-91D3-ED044FA0E6D3}" type="slidenum">
              <a:rPr lang="en-US" smtClean="0"/>
              <a:pPr/>
              <a:t>‹#›</a:t>
            </a:fld>
            <a:endParaRPr lang="en-US"/>
          </a:p>
        </p:txBody>
      </p:sp>
    </p:spTree>
    <p:extLst>
      <p:ext uri="{BB962C8B-B14F-4D97-AF65-F5344CB8AC3E}">
        <p14:creationId xmlns:p14="http://schemas.microsoft.com/office/powerpoint/2010/main" val="2822855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6CD7000-B82A-4E34-91D3-ED044FA0E6D3}" type="slidenum">
              <a:rPr lang="en-US" smtClean="0"/>
              <a:pPr/>
              <a:t>3</a:t>
            </a:fld>
            <a:endParaRPr lang="en-US"/>
          </a:p>
        </p:txBody>
      </p:sp>
    </p:spTree>
    <p:extLst>
      <p:ext uri="{BB962C8B-B14F-4D97-AF65-F5344CB8AC3E}">
        <p14:creationId xmlns:p14="http://schemas.microsoft.com/office/powerpoint/2010/main" val="3791956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6CD7000-B82A-4E34-91D3-ED044FA0E6D3}" type="slidenum">
              <a:rPr lang="en-US" smtClean="0"/>
              <a:pPr/>
              <a:t>14</a:t>
            </a:fld>
            <a:endParaRPr lang="en-US"/>
          </a:p>
        </p:txBody>
      </p:sp>
    </p:spTree>
    <p:extLst>
      <p:ext uri="{BB962C8B-B14F-4D97-AF65-F5344CB8AC3E}">
        <p14:creationId xmlns:p14="http://schemas.microsoft.com/office/powerpoint/2010/main" val="3312745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61BDF151-2B44-4D7C-AB75-2846D668CC25}" type="datetime1">
              <a:rPr lang="en-US" smtClean="0"/>
              <a:pPr/>
              <a:t>10/20/2024</a:t>
            </a:fld>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B6F15528-21DE-4FAA-801E-634DDDAF4B2B}" type="slidenum">
              <a:rPr lang="en-US" smtClean="0"/>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28A818F2-C44E-4F8D-96FE-78E61365A30A}" type="datetime1">
              <a:rPr lang="en-US" smtClean="0"/>
              <a:pPr/>
              <a:t>10/20/2024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Footer Placeholder 16"/>
          <p:cNvSpPr>
            <a:spLocks noGrp="1"/>
          </p:cNvSpPr>
          <p:nvPr>
            <p:ph type="ftr" sz="quarter" idx="11"/>
          </p:nvPr>
        </p:nvSpPr>
        <p:spPr>
          <a:xfrm>
            <a:off x="2286000" y="6355080"/>
            <a:ext cx="4572000" cy="365760"/>
          </a:xfrm>
        </p:spPr>
        <p:txBody>
          <a:bodyPr/>
          <a:lstStyle/>
          <a:p>
            <a:pPr algn="ctr"/>
            <a:r>
              <a:rPr lang="en-US"/>
              <a:t>CSE-4503: Microprocessors and Assembly Language    Islamic University of Technology (IUT)</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25F5DD79-9224-4BCF-8012-6F757CAE7ECB}" type="datetime1">
              <a:rPr lang="en-US" smtClean="0"/>
              <a:pPr/>
              <a:t>10/20/2024</a:t>
            </a:fld>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B6F15528-21DE-4FAA-801E-634DDDAF4B2B}"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Footer Placeholder 16"/>
          <p:cNvSpPr>
            <a:spLocks noGrp="1"/>
          </p:cNvSpPr>
          <p:nvPr>
            <p:ph type="ftr" sz="quarter" idx="3"/>
          </p:nvPr>
        </p:nvSpPr>
        <p:spPr>
          <a:xfrm>
            <a:off x="2286000" y="6248400"/>
            <a:ext cx="4572000" cy="365760"/>
          </a:xfrm>
          <a:prstGeom prst="rect">
            <a:avLst/>
          </a:prstGeom>
        </p:spPr>
        <p:txBody>
          <a:bodyPr/>
          <a:lstStyle>
            <a:lvl1pPr>
              <a:defRPr sz="1400" b="0"/>
            </a:lvl1pPr>
          </a:lstStyle>
          <a:p>
            <a:pPr algn="ctr"/>
            <a:r>
              <a:rPr lang="en-US"/>
              <a:t>CSE-4503: Microprocessors and Assembly Language    Islamic University of Technology (IUT)</a:t>
            </a:r>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sz="2000" dirty="0">
                <a:latin typeface="Arial" panose="020B0604020202020204" pitchFamily="34" charset="0"/>
                <a:cs typeface="Arial" panose="020B0604020202020204" pitchFamily="34" charset="0"/>
              </a:rPr>
              <a:t>Department of Computer Science and Engineering</a:t>
            </a:r>
          </a:p>
        </p:txBody>
      </p:sp>
      <p:sp>
        <p:nvSpPr>
          <p:cNvPr id="3" name="Subtitle 2"/>
          <p:cNvSpPr>
            <a:spLocks noGrp="1"/>
          </p:cNvSpPr>
          <p:nvPr>
            <p:ph type="subTitle" idx="1"/>
          </p:nvPr>
        </p:nvSpPr>
        <p:spPr>
          <a:xfrm>
            <a:off x="1219200" y="5124450"/>
            <a:ext cx="6858000" cy="895350"/>
          </a:xfrm>
        </p:spPr>
        <p:txBody>
          <a:bodyPr>
            <a:normAutofit/>
          </a:bodyPr>
          <a:lstStyle/>
          <a:p>
            <a:pPr algn="ctr"/>
            <a:r>
              <a:rPr lang="en-US" sz="1400" b="1" dirty="0">
                <a:solidFill>
                  <a:schemeClr val="tx1"/>
                </a:solidFill>
                <a:latin typeface="Arial" panose="020B0604020202020204" pitchFamily="34" charset="0"/>
                <a:cs typeface="Arial" panose="020B0604020202020204" pitchFamily="34" charset="0"/>
              </a:rPr>
              <a:t>Course ID : CSE 3203</a:t>
            </a:r>
          </a:p>
          <a:p>
            <a:pPr algn="ctr"/>
            <a:r>
              <a:rPr lang="en-US" sz="1400" b="1" dirty="0">
                <a:solidFill>
                  <a:schemeClr val="tx1"/>
                </a:solidFill>
                <a:latin typeface="Arial" panose="020B0604020202020204" pitchFamily="34" charset="0"/>
                <a:cs typeface="Arial" panose="020B0604020202020204" pitchFamily="34" charset="0"/>
              </a:rPr>
              <a:t>Course Title : MICROPROCESSORS</a:t>
            </a:r>
          </a:p>
        </p:txBody>
      </p:sp>
      <p:sp>
        <p:nvSpPr>
          <p:cNvPr id="5" name="Rectangle 4"/>
          <p:cNvSpPr/>
          <p:nvPr/>
        </p:nvSpPr>
        <p:spPr>
          <a:xfrm>
            <a:off x="976745" y="1524000"/>
            <a:ext cx="7086600" cy="1828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rial Black" panose="020B0A04020102020204" pitchFamily="34" charset="0"/>
                <a:cs typeface="Arial" panose="020B0604020202020204" pitchFamily="34" charset="0"/>
              </a:rPr>
              <a:t>Introduction </a:t>
            </a:r>
          </a:p>
          <a:p>
            <a:pPr algn="ctr"/>
            <a:r>
              <a:rPr lang="en-US" sz="3600" dirty="0">
                <a:solidFill>
                  <a:schemeClr val="tx1"/>
                </a:solidFill>
                <a:latin typeface="Arial Black" panose="020B0A04020102020204" pitchFamily="34" charset="0"/>
                <a:cs typeface="Arial" panose="020B0604020202020204" pitchFamily="34" charset="0"/>
              </a:rPr>
              <a:t>to </a:t>
            </a:r>
          </a:p>
          <a:p>
            <a:pPr algn="ctr"/>
            <a:r>
              <a:rPr lang="en-US" sz="3600" dirty="0">
                <a:solidFill>
                  <a:schemeClr val="tx1"/>
                </a:solidFill>
                <a:latin typeface="Arial Black" panose="020B0A04020102020204" pitchFamily="34" charset="0"/>
                <a:cs typeface="Arial" panose="020B0604020202020204" pitchFamily="34" charset="0"/>
              </a:rPr>
              <a:t>Microprocessors</a:t>
            </a:r>
          </a:p>
        </p:txBody>
      </p:sp>
    </p:spTree>
    <p:extLst>
      <p:ext uri="{BB962C8B-B14F-4D97-AF65-F5344CB8AC3E}">
        <p14:creationId xmlns:p14="http://schemas.microsoft.com/office/powerpoint/2010/main" val="3537960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Topics to be Covered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a:t>
            </a:fld>
            <a:endParaRPr lang="en-US"/>
          </a:p>
        </p:txBody>
      </p:sp>
      <p:sp>
        <p:nvSpPr>
          <p:cNvPr id="4" name="Content Placeholder 3"/>
          <p:cNvSpPr>
            <a:spLocks noGrp="1"/>
          </p:cNvSpPr>
          <p:nvPr>
            <p:ph sz="quarter" idx="1"/>
          </p:nvPr>
        </p:nvSpPr>
        <p:spPr/>
        <p:txBody>
          <a:bodyPr>
            <a:normAutofit/>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Microprocessors and Microcontrollers </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Applications of microprocessors and microcontrollers</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Intel 8086 Microprocessor: Internal architecture, Register structure, Addressing modes, Instruction set etc.</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An overview of Intel 80186, 80286, 80386, 80486 and Pentium microprocessors</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RISC and CISC processors.</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Coprocessors.</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Assembly language programming</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
        <p:nvSpPr>
          <p:cNvPr id="6" name="Footer Placeholder 4"/>
          <p:cNvSpPr>
            <a:spLocks noGrp="1"/>
          </p:cNvSpPr>
          <p:nvPr>
            <p:ph type="ftr" sz="quarter" idx="11"/>
          </p:nvPr>
        </p:nvSpPr>
        <p:spPr>
          <a:xfrm>
            <a:off x="1828800" y="6355080"/>
            <a:ext cx="6172200" cy="365760"/>
          </a:xfrm>
        </p:spPr>
        <p:txBody>
          <a:bodyPr/>
          <a:lstStyle/>
          <a:p>
            <a:pPr algn="ct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Recommended Texts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3</a:t>
            </a:fld>
            <a:endParaRPr lang="en-US"/>
          </a:p>
        </p:txBody>
      </p:sp>
      <p:sp>
        <p:nvSpPr>
          <p:cNvPr id="4" name="Content Placeholder 3"/>
          <p:cNvSpPr>
            <a:spLocks noGrp="1"/>
          </p:cNvSpPr>
          <p:nvPr>
            <p:ph sz="quarter" idx="1"/>
          </p:nvPr>
        </p:nvSpPr>
        <p:spPr/>
        <p:txBody>
          <a:bodyPr>
            <a:normAutofit fontScale="32500" lnSpcReduction="20000"/>
          </a:bodyPr>
          <a:lstStyle/>
          <a:p>
            <a:pPr lvl="0">
              <a:lnSpc>
                <a:spcPct val="120000"/>
              </a:lnSpc>
              <a:buFont typeface="Wingdings" panose="05000000000000000000" pitchFamily="2" charset="2"/>
              <a:buChar char="Ø"/>
            </a:pPr>
            <a:endParaRPr lang="en-GB" sz="5100" i="1" dirty="0">
              <a:latin typeface="Times New Roman" panose="02020603050405020304" pitchFamily="18" charset="0"/>
              <a:cs typeface="Times New Roman" panose="02020603050405020304" pitchFamily="18" charset="0"/>
            </a:endParaRPr>
          </a:p>
          <a:p>
            <a:pPr lvl="0">
              <a:lnSpc>
                <a:spcPct val="120000"/>
              </a:lnSpc>
              <a:buFont typeface="Wingdings" panose="05000000000000000000" pitchFamily="2" charset="2"/>
              <a:buChar char="Ø"/>
            </a:pPr>
            <a:r>
              <a:rPr lang="en-GB" sz="5100" i="1" dirty="0">
                <a:latin typeface="Times New Roman" panose="02020603050405020304" pitchFamily="18" charset="0"/>
                <a:cs typeface="Times New Roman" panose="02020603050405020304" pitchFamily="18" charset="0"/>
              </a:rPr>
              <a:t>Microprocessors and Interfacing: Programming and Hardware, by </a:t>
            </a:r>
            <a:r>
              <a:rPr lang="en-GB" sz="5100" b="1" dirty="0">
                <a:latin typeface="Times New Roman" panose="02020603050405020304" pitchFamily="18" charset="0"/>
                <a:cs typeface="Times New Roman" panose="02020603050405020304" pitchFamily="18" charset="0"/>
              </a:rPr>
              <a:t>Douglas V. Hall</a:t>
            </a:r>
          </a:p>
          <a:p>
            <a:pPr lvl="0">
              <a:lnSpc>
                <a:spcPct val="120000"/>
              </a:lnSpc>
              <a:buFont typeface="Wingdings" panose="05000000000000000000" pitchFamily="2" charset="2"/>
              <a:buChar char="Ø"/>
            </a:pPr>
            <a:endParaRPr lang="en-US" sz="5100" b="1" dirty="0">
              <a:latin typeface="Times New Roman" panose="02020603050405020304" pitchFamily="18" charset="0"/>
              <a:cs typeface="Times New Roman" panose="02020603050405020304" pitchFamily="18" charset="0"/>
            </a:endParaRPr>
          </a:p>
          <a:p>
            <a:pPr lvl="0">
              <a:lnSpc>
                <a:spcPct val="120000"/>
              </a:lnSpc>
              <a:buFont typeface="Wingdings" panose="05000000000000000000" pitchFamily="2" charset="2"/>
              <a:buChar char="Ø"/>
            </a:pPr>
            <a:r>
              <a:rPr lang="en-GB" sz="5100" i="1" dirty="0">
                <a:latin typeface="Times New Roman" panose="02020603050405020304" pitchFamily="18" charset="0"/>
                <a:cs typeface="Times New Roman" panose="02020603050405020304" pitchFamily="18" charset="0"/>
              </a:rPr>
              <a:t>Assembly Language Programming and Organization of the IBM PC, by </a:t>
            </a:r>
            <a:r>
              <a:rPr lang="en-GB" sz="5100" b="1" dirty="0" err="1">
                <a:latin typeface="Times New Roman" panose="02020603050405020304" pitchFamily="18" charset="0"/>
                <a:cs typeface="Times New Roman" panose="02020603050405020304" pitchFamily="18" charset="0"/>
              </a:rPr>
              <a:t>Ytha</a:t>
            </a:r>
            <a:r>
              <a:rPr lang="en-GB" sz="5100" b="1" dirty="0">
                <a:latin typeface="Times New Roman" panose="02020603050405020304" pitchFamily="18" charset="0"/>
                <a:cs typeface="Times New Roman" panose="02020603050405020304" pitchFamily="18" charset="0"/>
              </a:rPr>
              <a:t> Y. Yu, Charles </a:t>
            </a:r>
            <a:r>
              <a:rPr lang="en-GB" sz="5100" b="1" dirty="0" err="1">
                <a:latin typeface="Times New Roman" panose="02020603050405020304" pitchFamily="18" charset="0"/>
                <a:cs typeface="Times New Roman" panose="02020603050405020304" pitchFamily="18" charset="0"/>
              </a:rPr>
              <a:t>Marut</a:t>
            </a:r>
            <a:endParaRPr lang="en-GB" sz="5100" b="1" dirty="0">
              <a:latin typeface="Times New Roman" panose="02020603050405020304" pitchFamily="18" charset="0"/>
              <a:cs typeface="Times New Roman" panose="02020603050405020304" pitchFamily="18" charset="0"/>
            </a:endParaRPr>
          </a:p>
          <a:p>
            <a:pPr lvl="0">
              <a:lnSpc>
                <a:spcPct val="120000"/>
              </a:lnSpc>
              <a:buFont typeface="Wingdings" panose="05000000000000000000" pitchFamily="2" charset="2"/>
              <a:buChar char="Ø"/>
            </a:pPr>
            <a:endParaRPr lang="en-US" sz="5100" b="1" dirty="0">
              <a:latin typeface="Times New Roman" panose="02020603050405020304" pitchFamily="18" charset="0"/>
              <a:cs typeface="Times New Roman" panose="02020603050405020304" pitchFamily="18" charset="0"/>
            </a:endParaRPr>
          </a:p>
          <a:p>
            <a:pPr lvl="0">
              <a:lnSpc>
                <a:spcPct val="120000"/>
              </a:lnSpc>
              <a:buFont typeface="Wingdings" panose="05000000000000000000" pitchFamily="2" charset="2"/>
              <a:buChar char="Ø"/>
            </a:pPr>
            <a:r>
              <a:rPr lang="en-GB" sz="5100" i="1" dirty="0">
                <a:latin typeface="Times New Roman" panose="02020603050405020304" pitchFamily="18" charset="0"/>
                <a:cs typeface="Times New Roman" panose="02020603050405020304" pitchFamily="18" charset="0"/>
              </a:rPr>
              <a:t>Microprocessor, architecture, programming &amp; application with the 8085, by</a:t>
            </a:r>
            <a:r>
              <a:rPr lang="en-GB" sz="5100" dirty="0">
                <a:latin typeface="Times New Roman" panose="02020603050405020304" pitchFamily="18" charset="0"/>
                <a:cs typeface="Times New Roman" panose="02020603050405020304" pitchFamily="18" charset="0"/>
              </a:rPr>
              <a:t> </a:t>
            </a:r>
            <a:r>
              <a:rPr lang="en-GB" sz="5100" b="1" dirty="0">
                <a:latin typeface="Times New Roman" panose="02020603050405020304" pitchFamily="18" charset="0"/>
                <a:cs typeface="Times New Roman" panose="02020603050405020304" pitchFamily="18" charset="0"/>
              </a:rPr>
              <a:t>Ramesh </a:t>
            </a:r>
            <a:r>
              <a:rPr lang="en-GB" sz="5100" b="1" dirty="0" err="1">
                <a:latin typeface="Times New Roman" panose="02020603050405020304" pitchFamily="18" charset="0"/>
                <a:cs typeface="Times New Roman" panose="02020603050405020304" pitchFamily="18" charset="0"/>
              </a:rPr>
              <a:t>Gaonkar</a:t>
            </a:r>
            <a:endParaRPr lang="en-GB" sz="5100" b="1" dirty="0">
              <a:latin typeface="Times New Roman" panose="02020603050405020304" pitchFamily="18" charset="0"/>
              <a:cs typeface="Times New Roman" panose="02020603050405020304" pitchFamily="18" charset="0"/>
            </a:endParaRPr>
          </a:p>
          <a:p>
            <a:pPr lvl="0">
              <a:lnSpc>
                <a:spcPct val="120000"/>
              </a:lnSpc>
              <a:buFont typeface="Wingdings" panose="05000000000000000000" pitchFamily="2" charset="2"/>
              <a:buChar char="Ø"/>
            </a:pPr>
            <a:endParaRPr lang="en-US" sz="5100" b="1" dirty="0">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Ø"/>
            </a:pPr>
            <a:r>
              <a:rPr lang="en-GB" sz="5100" i="1" dirty="0">
                <a:latin typeface="Times New Roman" panose="02020603050405020304" pitchFamily="18" charset="0"/>
                <a:cs typeface="Times New Roman" panose="02020603050405020304" pitchFamily="18" charset="0"/>
              </a:rPr>
              <a:t>The Intel Microprocessor, by </a:t>
            </a:r>
            <a:r>
              <a:rPr lang="en-GB" sz="5100" b="1" dirty="0">
                <a:latin typeface="Times New Roman" panose="02020603050405020304" pitchFamily="18" charset="0"/>
                <a:cs typeface="Times New Roman" panose="02020603050405020304" pitchFamily="18" charset="0"/>
              </a:rPr>
              <a:t>Barry B. Bray</a:t>
            </a:r>
          </a:p>
          <a:p>
            <a:pPr>
              <a:lnSpc>
                <a:spcPct val="120000"/>
              </a:lnSpc>
              <a:buFont typeface="Wingdings" panose="05000000000000000000" pitchFamily="2" charset="2"/>
              <a:buChar char="Ø"/>
            </a:pPr>
            <a:endParaRPr lang="en-GB" sz="5100" b="1" dirty="0">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Ø"/>
            </a:pPr>
            <a:r>
              <a:rPr lang="en-US" sz="5100" i="1" dirty="0">
                <a:latin typeface="Times New Roman" panose="02020603050405020304" pitchFamily="18" charset="0"/>
                <a:cs typeface="Times New Roman" panose="02020603050405020304" pitchFamily="18" charset="0"/>
              </a:rPr>
              <a:t>Microprocessor and Microcomputer – Based System Design</a:t>
            </a:r>
            <a:r>
              <a:rPr lang="en-US" sz="5100" dirty="0">
                <a:latin typeface="Times New Roman" panose="02020603050405020304" pitchFamily="18" charset="0"/>
                <a:cs typeface="Times New Roman" panose="02020603050405020304" pitchFamily="18" charset="0"/>
              </a:rPr>
              <a:t>, </a:t>
            </a:r>
            <a:r>
              <a:rPr lang="en-US" sz="5100" i="1" dirty="0">
                <a:latin typeface="Times New Roman" panose="02020603050405020304" pitchFamily="18" charset="0"/>
                <a:cs typeface="Times New Roman" panose="02020603050405020304" pitchFamily="18" charset="0"/>
              </a:rPr>
              <a:t>by</a:t>
            </a:r>
            <a:r>
              <a:rPr lang="en-US" sz="5100" dirty="0">
                <a:latin typeface="Times New Roman" panose="02020603050405020304" pitchFamily="18" charset="0"/>
                <a:cs typeface="Times New Roman" panose="02020603050405020304" pitchFamily="18" charset="0"/>
              </a:rPr>
              <a:t> </a:t>
            </a:r>
            <a:r>
              <a:rPr lang="en-US" sz="5100" b="1" dirty="0">
                <a:latin typeface="Times New Roman" panose="02020603050405020304" pitchFamily="18" charset="0"/>
                <a:cs typeface="Times New Roman" panose="02020603050405020304" pitchFamily="18" charset="0"/>
              </a:rPr>
              <a:t>Mohamed </a:t>
            </a:r>
            <a:r>
              <a:rPr lang="en-US" sz="5100" b="1" dirty="0" err="1">
                <a:latin typeface="Times New Roman" panose="02020603050405020304" pitchFamily="18" charset="0"/>
                <a:cs typeface="Times New Roman" panose="02020603050405020304" pitchFamily="18" charset="0"/>
              </a:rPr>
              <a:t>Rafiquzzaman</a:t>
            </a:r>
            <a:endParaRPr lang="en-US" sz="5100" b="1" dirty="0">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Ø"/>
            </a:pPr>
            <a:endParaRPr lang="en-GB" sz="5100" b="1" dirty="0">
              <a:latin typeface="Times New Roman" panose="02020603050405020304" pitchFamily="18" charset="0"/>
              <a:cs typeface="Times New Roman" panose="02020603050405020304" pitchFamily="18" charset="0"/>
            </a:endParaRPr>
          </a:p>
          <a:p>
            <a:pPr marL="0" indent="0">
              <a:buNone/>
            </a:pPr>
            <a:endParaRPr lang="en-US" dirty="0"/>
          </a:p>
          <a:p>
            <a:pPr marL="0" indent="0">
              <a:buNone/>
            </a:pPr>
            <a:r>
              <a:rPr lang="en-US" b="1" dirty="0"/>
              <a:t> </a:t>
            </a:r>
            <a:endParaRPr lang="en-US" dirty="0"/>
          </a:p>
        </p:txBody>
      </p:sp>
      <p:sp>
        <p:nvSpPr>
          <p:cNvPr id="6" name="Footer Placeholder 4"/>
          <p:cNvSpPr>
            <a:spLocks noGrp="1"/>
          </p:cNvSpPr>
          <p:nvPr>
            <p:ph type="ftr" sz="quarter" idx="11"/>
          </p:nvPr>
        </p:nvSpPr>
        <p:spPr>
          <a:xfrm>
            <a:off x="1828800" y="6355080"/>
            <a:ext cx="6172200" cy="365760"/>
          </a:xfrm>
        </p:spPr>
        <p:txBody>
          <a:bodyPr/>
          <a:lstStyle/>
          <a:p>
            <a:pPr algn="ct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Some tips before we begin</a:t>
            </a:r>
          </a:p>
        </p:txBody>
      </p:sp>
      <p:sp>
        <p:nvSpPr>
          <p:cNvPr id="3" name="Slide Number Placeholder 2"/>
          <p:cNvSpPr>
            <a:spLocks noGrp="1"/>
          </p:cNvSpPr>
          <p:nvPr>
            <p:ph type="sldNum" sz="quarter" idx="12"/>
          </p:nvPr>
        </p:nvSpPr>
        <p:spPr/>
        <p:txBody>
          <a:bodyPr/>
          <a:lstStyle/>
          <a:p>
            <a:fld id="{B6F15528-21DE-4FAA-801E-634DDDAF4B2B}" type="slidenum">
              <a:rPr lang="en-US" smtClean="0"/>
              <a:pPr/>
              <a:t>4</a:t>
            </a:fld>
            <a:endParaRPr lang="en-US"/>
          </a:p>
        </p:txBody>
      </p:sp>
      <p:sp>
        <p:nvSpPr>
          <p:cNvPr id="4" name="Content Placeholder 3"/>
          <p:cNvSpPr>
            <a:spLocks noGrp="1"/>
          </p:cNvSpPr>
          <p:nvPr>
            <p:ph sz="quarter" idx="1"/>
          </p:nvPr>
        </p:nvSpPr>
        <p:spPr/>
        <p:txBody>
          <a:bodyPr>
            <a:normAutofit/>
          </a:bodyPr>
          <a:lstStyle/>
          <a:p>
            <a:pPr marL="0" indent="0">
              <a:buNone/>
            </a:pPr>
            <a:endParaRPr lang="en-US" dirty="0"/>
          </a:p>
          <a:p>
            <a:pPr marL="0" indent="0">
              <a:buNone/>
            </a:pPr>
            <a:endParaRPr lang="en-US" dirty="0"/>
          </a:p>
          <a:p>
            <a:pPr lvl="1"/>
            <a:r>
              <a:rPr lang="en-US" sz="1800" dirty="0">
                <a:solidFill>
                  <a:schemeClr val="tx1"/>
                </a:solidFill>
                <a:latin typeface="Times New Roman" panose="02020603050405020304" pitchFamily="18" charset="0"/>
                <a:cs typeface="Times New Roman" panose="02020603050405020304" pitchFamily="18" charset="0"/>
              </a:rPr>
              <a:t>Number Systems and their Conversion</a:t>
            </a:r>
          </a:p>
          <a:p>
            <a:pPr marL="274320" lvl="1" indent="0">
              <a:buNone/>
            </a:pPr>
            <a:endParaRPr lang="en-US" sz="1800" dirty="0">
              <a:solidFill>
                <a:schemeClr val="tx1"/>
              </a:solidFill>
              <a:latin typeface="Times New Roman" panose="02020603050405020304" pitchFamily="18" charset="0"/>
              <a:cs typeface="Times New Roman" panose="02020603050405020304" pitchFamily="18" charset="0"/>
            </a:endParaRPr>
          </a:p>
          <a:p>
            <a:pPr lvl="1"/>
            <a:r>
              <a:rPr lang="en-US" sz="1800" dirty="0">
                <a:solidFill>
                  <a:schemeClr val="tx1"/>
                </a:solidFill>
                <a:latin typeface="Times New Roman" panose="02020603050405020304" pitchFamily="18" charset="0"/>
                <a:cs typeface="Times New Roman" panose="02020603050405020304" pitchFamily="18" charset="0"/>
              </a:rPr>
              <a:t>Basics of “Digital Logic Design” </a:t>
            </a:r>
          </a:p>
          <a:p>
            <a:pPr lvl="1"/>
            <a:endParaRPr lang="en-US" sz="1800" dirty="0">
              <a:solidFill>
                <a:schemeClr val="tx1"/>
              </a:solidFill>
              <a:latin typeface="Times New Roman" panose="02020603050405020304" pitchFamily="18" charset="0"/>
              <a:cs typeface="Times New Roman" panose="02020603050405020304" pitchFamily="18" charset="0"/>
            </a:endParaRPr>
          </a:p>
          <a:p>
            <a:pPr lvl="1"/>
            <a:r>
              <a:rPr lang="en-US" sz="1800" dirty="0">
                <a:solidFill>
                  <a:schemeClr val="tx1"/>
                </a:solidFill>
                <a:latin typeface="Times New Roman" panose="02020603050405020304" pitchFamily="18" charset="0"/>
                <a:cs typeface="Times New Roman" panose="02020603050405020304" pitchFamily="18" charset="0"/>
              </a:rPr>
              <a:t>Basics of “Computer Architecture”</a:t>
            </a:r>
          </a:p>
          <a:p>
            <a:pPr marL="274320" lvl="1" indent="0">
              <a:buNone/>
            </a:pPr>
            <a:r>
              <a:rPr lang="en-US" sz="1800" dirty="0">
                <a:solidFill>
                  <a:schemeClr val="tx1"/>
                </a:solidFill>
                <a:latin typeface="Times New Roman" panose="02020603050405020304" pitchFamily="18" charset="0"/>
                <a:cs typeface="Times New Roman" panose="02020603050405020304" pitchFamily="18" charset="0"/>
              </a:rPr>
              <a:t> </a:t>
            </a:r>
          </a:p>
          <a:p>
            <a:pPr lvl="1"/>
            <a:r>
              <a:rPr lang="en-US" sz="1800" dirty="0">
                <a:solidFill>
                  <a:schemeClr val="tx1"/>
                </a:solidFill>
                <a:latin typeface="Times New Roman" panose="02020603050405020304" pitchFamily="18" charset="0"/>
                <a:cs typeface="Times New Roman" panose="02020603050405020304" pitchFamily="18" charset="0"/>
              </a:rPr>
              <a:t>Basic Programming</a:t>
            </a:r>
          </a:p>
          <a:p>
            <a:pPr>
              <a:buNone/>
            </a:pPr>
            <a:endParaRPr lang="en-US" dirty="0"/>
          </a:p>
        </p:txBody>
      </p:sp>
      <p:sp>
        <p:nvSpPr>
          <p:cNvPr id="7" name="Footer Placeholder 4"/>
          <p:cNvSpPr>
            <a:spLocks noGrp="1"/>
          </p:cNvSpPr>
          <p:nvPr>
            <p:ph type="ftr" sz="quarter" idx="11"/>
          </p:nvPr>
        </p:nvSpPr>
        <p:spPr>
          <a:xfrm>
            <a:off x="1828800" y="6355080"/>
            <a:ext cx="6172200" cy="365760"/>
          </a:xfrm>
        </p:spPr>
        <p:txBody>
          <a:bodyPr/>
          <a:lstStyle/>
          <a:p>
            <a:pPr algn="ct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Concept of Computer</a:t>
            </a:r>
          </a:p>
        </p:txBody>
      </p:sp>
      <p:sp>
        <p:nvSpPr>
          <p:cNvPr id="3" name="Slide Number Placeholder 2"/>
          <p:cNvSpPr>
            <a:spLocks noGrp="1"/>
          </p:cNvSpPr>
          <p:nvPr>
            <p:ph type="sldNum" sz="quarter" idx="12"/>
          </p:nvPr>
        </p:nvSpPr>
        <p:spPr/>
        <p:txBody>
          <a:bodyPr/>
          <a:lstStyle/>
          <a:p>
            <a:fld id="{B6F15528-21DE-4FAA-801E-634DDDAF4B2B}" type="slidenum">
              <a:rPr lang="en-US" smtClean="0"/>
              <a:pPr/>
              <a:t>5</a:t>
            </a:fld>
            <a:endParaRPr lang="en-US"/>
          </a:p>
        </p:txBody>
      </p:sp>
      <p:grpSp>
        <p:nvGrpSpPr>
          <p:cNvPr id="15" name="Group 2"/>
          <p:cNvGrpSpPr>
            <a:grpSpLocks/>
          </p:cNvGrpSpPr>
          <p:nvPr/>
        </p:nvGrpSpPr>
        <p:grpSpPr bwMode="auto">
          <a:xfrm>
            <a:off x="1752600" y="1905000"/>
            <a:ext cx="2362200" cy="2286000"/>
            <a:chOff x="672" y="768"/>
            <a:chExt cx="1488" cy="1440"/>
          </a:xfrm>
        </p:grpSpPr>
        <p:sp>
          <p:nvSpPr>
            <p:cNvPr id="16" name="Text Box 3"/>
            <p:cNvSpPr txBox="1">
              <a:spLocks noChangeArrowheads="1"/>
            </p:cNvSpPr>
            <p:nvPr/>
          </p:nvSpPr>
          <p:spPr bwMode="auto">
            <a:xfrm>
              <a:off x="672" y="768"/>
              <a:ext cx="1488" cy="365"/>
            </a:xfrm>
            <a:prstGeom prst="rect">
              <a:avLst/>
            </a:prstGeom>
            <a:noFill/>
            <a:ln w="9525">
              <a:noFill/>
              <a:miter lim="800000"/>
              <a:headEnd/>
              <a:tailEnd/>
            </a:ln>
            <a:effectLst/>
          </p:spPr>
          <p:txBody>
            <a:bodyPr>
              <a:spAutoFit/>
            </a:bodyPr>
            <a:lstStyle/>
            <a:p>
              <a:pPr algn="ctr" eaLnBrk="0" hangingPunct="0"/>
              <a:r>
                <a:rPr lang="en-US" sz="3200" b="1">
                  <a:latin typeface="Times New Roman" pitchFamily="18" charset="0"/>
                </a:rPr>
                <a:t>Computer</a:t>
              </a:r>
            </a:p>
          </p:txBody>
        </p:sp>
        <p:grpSp>
          <p:nvGrpSpPr>
            <p:cNvPr id="17" name="Group 4"/>
            <p:cNvGrpSpPr>
              <a:grpSpLocks/>
            </p:cNvGrpSpPr>
            <p:nvPr/>
          </p:nvGrpSpPr>
          <p:grpSpPr bwMode="auto">
            <a:xfrm>
              <a:off x="768" y="1248"/>
              <a:ext cx="1200" cy="960"/>
              <a:chOff x="960" y="1920"/>
              <a:chExt cx="1200" cy="960"/>
            </a:xfrm>
          </p:grpSpPr>
          <p:sp>
            <p:nvSpPr>
              <p:cNvPr id="18" name="Rectangle 5"/>
              <p:cNvSpPr>
                <a:spLocks noChangeArrowheads="1"/>
              </p:cNvSpPr>
              <p:nvPr/>
            </p:nvSpPr>
            <p:spPr bwMode="auto">
              <a:xfrm>
                <a:off x="1152" y="1920"/>
                <a:ext cx="816" cy="720"/>
              </a:xfrm>
              <a:prstGeom prst="rect">
                <a:avLst/>
              </a:prstGeom>
              <a:solidFill>
                <a:srgbClr val="333300"/>
              </a:solidFill>
              <a:ln w="9525">
                <a:solidFill>
                  <a:schemeClr val="tx1"/>
                </a:solidFill>
                <a:miter lim="800000"/>
                <a:headEnd/>
                <a:tailEnd/>
              </a:ln>
              <a:effectLst/>
            </p:spPr>
            <p:txBody>
              <a:bodyPr wrap="none" anchor="ctr"/>
              <a:lstStyle/>
              <a:p>
                <a:endParaRPr lang="en-US"/>
              </a:p>
            </p:txBody>
          </p:sp>
          <p:sp>
            <p:nvSpPr>
              <p:cNvPr id="19" name="AutoShape 6"/>
              <p:cNvSpPr>
                <a:spLocks noChangeArrowheads="1"/>
              </p:cNvSpPr>
              <p:nvPr/>
            </p:nvSpPr>
            <p:spPr bwMode="auto">
              <a:xfrm flipV="1">
                <a:off x="960" y="2688"/>
                <a:ext cx="1200" cy="19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969696"/>
              </a:solidFill>
              <a:ln w="9525">
                <a:solidFill>
                  <a:schemeClr val="tx1"/>
                </a:solidFill>
                <a:miter lim="800000"/>
                <a:headEnd/>
                <a:tailEnd/>
              </a:ln>
              <a:effectLst/>
            </p:spPr>
            <p:txBody>
              <a:bodyPr wrap="none" anchor="ctr"/>
              <a:lstStyle/>
              <a:p>
                <a:endParaRPr lang="en-US"/>
              </a:p>
            </p:txBody>
          </p:sp>
          <p:sp>
            <p:nvSpPr>
              <p:cNvPr id="20" name="Rectangle 7"/>
              <p:cNvSpPr>
                <a:spLocks noChangeArrowheads="1"/>
              </p:cNvSpPr>
              <p:nvPr/>
            </p:nvSpPr>
            <p:spPr bwMode="auto">
              <a:xfrm>
                <a:off x="1248" y="2016"/>
                <a:ext cx="624" cy="528"/>
              </a:xfrm>
              <a:prstGeom prst="rect">
                <a:avLst/>
              </a:prstGeom>
              <a:solidFill>
                <a:schemeClr val="bg2"/>
              </a:solidFill>
              <a:ln w="9525">
                <a:solidFill>
                  <a:schemeClr val="tx1"/>
                </a:solidFill>
                <a:miter lim="800000"/>
                <a:headEnd/>
                <a:tailEnd/>
              </a:ln>
              <a:effectLst/>
            </p:spPr>
            <p:txBody>
              <a:bodyPr wrap="none" anchor="ctr"/>
              <a:lstStyle/>
              <a:p>
                <a:endParaRPr lang="en-US"/>
              </a:p>
            </p:txBody>
          </p:sp>
        </p:grpSp>
      </p:grpSp>
      <p:sp>
        <p:nvSpPr>
          <p:cNvPr id="21" name="AutoShape 8"/>
          <p:cNvSpPr>
            <a:spLocks noChangeArrowheads="1"/>
          </p:cNvSpPr>
          <p:nvPr/>
        </p:nvSpPr>
        <p:spPr bwMode="auto">
          <a:xfrm>
            <a:off x="4267200" y="1676400"/>
            <a:ext cx="3352800" cy="1143000"/>
          </a:xfrm>
          <a:prstGeom prst="wedgeEllipseCallout">
            <a:avLst>
              <a:gd name="adj1" fmla="val -57528"/>
              <a:gd name="adj2" fmla="val 55417"/>
            </a:avLst>
          </a:prstGeom>
          <a:solidFill>
            <a:srgbClr val="CCFFCC"/>
          </a:solidFill>
          <a:ln w="9525">
            <a:solidFill>
              <a:schemeClr val="tx1"/>
            </a:solidFill>
            <a:miter lim="800000"/>
            <a:headEnd/>
            <a:tailEnd/>
          </a:ln>
          <a:effectLst/>
        </p:spPr>
        <p:txBody>
          <a:bodyPr wrap="none" anchor="ctr"/>
          <a:lstStyle/>
          <a:p>
            <a:pPr algn="ctr" eaLnBrk="0" hangingPunct="0"/>
            <a:r>
              <a:rPr lang="en-US" sz="2800" b="1">
                <a:latin typeface="Times New Roman" pitchFamily="18" charset="0"/>
              </a:rPr>
              <a:t>Data Processing</a:t>
            </a:r>
            <a:endParaRPr lang="en-US">
              <a:latin typeface="Times New Roman" pitchFamily="18" charset="0"/>
            </a:endParaRPr>
          </a:p>
        </p:txBody>
      </p:sp>
      <p:sp>
        <p:nvSpPr>
          <p:cNvPr id="22" name="AutoShape 9"/>
          <p:cNvSpPr>
            <a:spLocks noChangeArrowheads="1"/>
          </p:cNvSpPr>
          <p:nvPr/>
        </p:nvSpPr>
        <p:spPr bwMode="auto">
          <a:xfrm>
            <a:off x="4191000" y="4038600"/>
            <a:ext cx="3429000" cy="1066800"/>
          </a:xfrm>
          <a:prstGeom prst="wedgeEllipseCallout">
            <a:avLst>
              <a:gd name="adj1" fmla="val -50556"/>
              <a:gd name="adj2" fmla="val -71130"/>
            </a:avLst>
          </a:prstGeom>
          <a:solidFill>
            <a:srgbClr val="CCFFFF"/>
          </a:solidFill>
          <a:ln w="9525">
            <a:solidFill>
              <a:schemeClr val="tx1"/>
            </a:solidFill>
            <a:miter lim="800000"/>
            <a:headEnd/>
            <a:tailEnd/>
          </a:ln>
          <a:effectLst/>
        </p:spPr>
        <p:txBody>
          <a:bodyPr wrap="none" anchor="ctr"/>
          <a:lstStyle/>
          <a:p>
            <a:pPr algn="ctr" eaLnBrk="0" hangingPunct="0"/>
            <a:r>
              <a:rPr lang="en-US" sz="2800" b="1">
                <a:latin typeface="Times New Roman" pitchFamily="18" charset="0"/>
              </a:rPr>
              <a:t>Data Storage</a:t>
            </a:r>
          </a:p>
        </p:txBody>
      </p:sp>
      <p:sp>
        <p:nvSpPr>
          <p:cNvPr id="23" name="Footer Placeholder 4"/>
          <p:cNvSpPr>
            <a:spLocks noGrp="1"/>
          </p:cNvSpPr>
          <p:nvPr>
            <p:ph type="ftr" sz="quarter" idx="11"/>
          </p:nvPr>
        </p:nvSpPr>
        <p:spPr>
          <a:xfrm>
            <a:off x="1828800" y="6355080"/>
            <a:ext cx="6172200" cy="365760"/>
          </a:xfrm>
        </p:spPr>
        <p:txBody>
          <a:bodyPr/>
          <a:lstStyle/>
          <a:p>
            <a:pPr algn="ct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Major Components of Computer</a:t>
            </a:r>
          </a:p>
        </p:txBody>
      </p:sp>
      <p:sp>
        <p:nvSpPr>
          <p:cNvPr id="3" name="Slide Number Placeholder 2"/>
          <p:cNvSpPr>
            <a:spLocks noGrp="1"/>
          </p:cNvSpPr>
          <p:nvPr>
            <p:ph type="sldNum" sz="quarter" idx="12"/>
          </p:nvPr>
        </p:nvSpPr>
        <p:spPr/>
        <p:txBody>
          <a:bodyPr/>
          <a:lstStyle/>
          <a:p>
            <a:fld id="{B6F15528-21DE-4FAA-801E-634DDDAF4B2B}" type="slidenum">
              <a:rPr lang="en-US" smtClean="0">
                <a:solidFill>
                  <a:schemeClr val="tx1"/>
                </a:solidFill>
              </a:rPr>
              <a:pPr/>
              <a:t>6</a:t>
            </a:fld>
            <a:endParaRPr lang="en-US">
              <a:solidFill>
                <a:schemeClr val="tx1"/>
              </a:solidFill>
            </a:endParaRPr>
          </a:p>
        </p:txBody>
      </p:sp>
      <p:grpSp>
        <p:nvGrpSpPr>
          <p:cNvPr id="6" name="Group 3"/>
          <p:cNvGrpSpPr>
            <a:grpSpLocks/>
          </p:cNvGrpSpPr>
          <p:nvPr/>
        </p:nvGrpSpPr>
        <p:grpSpPr bwMode="auto">
          <a:xfrm>
            <a:off x="838200" y="1319213"/>
            <a:ext cx="7488237" cy="4518025"/>
            <a:chOff x="609" y="831"/>
            <a:chExt cx="4717" cy="2846"/>
          </a:xfrm>
        </p:grpSpPr>
        <p:sp>
          <p:nvSpPr>
            <p:cNvPr id="7" name="Oval 4"/>
            <p:cNvSpPr>
              <a:spLocks noChangeArrowheads="1"/>
            </p:cNvSpPr>
            <p:nvPr/>
          </p:nvSpPr>
          <p:spPr bwMode="auto">
            <a:xfrm>
              <a:off x="609" y="831"/>
              <a:ext cx="4717" cy="2846"/>
            </a:xfrm>
            <a:prstGeom prst="ellipse">
              <a:avLst/>
            </a:prstGeom>
            <a:solidFill>
              <a:schemeClr val="hlink"/>
            </a:solidFill>
            <a:ln w="9525">
              <a:solidFill>
                <a:schemeClr val="tx1"/>
              </a:solidFill>
              <a:round/>
              <a:headEnd/>
              <a:tailEnd/>
            </a:ln>
            <a:effectLst/>
          </p:spPr>
          <p:txBody>
            <a:bodyPr wrap="none" anchor="ctr"/>
            <a:lstStyle/>
            <a:p>
              <a:endParaRPr lang="en-US"/>
            </a:p>
          </p:txBody>
        </p:sp>
        <p:grpSp>
          <p:nvGrpSpPr>
            <p:cNvPr id="8" name="Group 5"/>
            <p:cNvGrpSpPr>
              <a:grpSpLocks/>
            </p:cNvGrpSpPr>
            <p:nvPr/>
          </p:nvGrpSpPr>
          <p:grpSpPr bwMode="auto">
            <a:xfrm>
              <a:off x="4240" y="2337"/>
              <a:ext cx="1043" cy="995"/>
              <a:chOff x="672" y="768"/>
              <a:chExt cx="1488" cy="1440"/>
            </a:xfrm>
          </p:grpSpPr>
          <p:sp>
            <p:nvSpPr>
              <p:cNvPr id="9" name="Text Box 6"/>
              <p:cNvSpPr txBox="1">
                <a:spLocks noChangeArrowheads="1"/>
              </p:cNvSpPr>
              <p:nvPr/>
            </p:nvSpPr>
            <p:spPr bwMode="auto">
              <a:xfrm>
                <a:off x="672" y="768"/>
                <a:ext cx="1488" cy="337"/>
              </a:xfrm>
              <a:prstGeom prst="rect">
                <a:avLst/>
              </a:prstGeom>
              <a:noFill/>
              <a:ln w="9525">
                <a:noFill/>
                <a:miter lim="800000"/>
                <a:headEnd/>
                <a:tailEnd/>
              </a:ln>
              <a:effectLst/>
            </p:spPr>
            <p:txBody>
              <a:bodyPr>
                <a:spAutoFit/>
              </a:bodyPr>
              <a:lstStyle/>
              <a:p>
                <a:pPr algn="ctr" eaLnBrk="0" hangingPunct="0"/>
                <a:r>
                  <a:rPr lang="en-US" b="1" dirty="0">
                    <a:latin typeface="Times New Roman" pitchFamily="18" charset="0"/>
                  </a:rPr>
                  <a:t>Computer</a:t>
                </a:r>
              </a:p>
            </p:txBody>
          </p:sp>
          <p:grpSp>
            <p:nvGrpSpPr>
              <p:cNvPr id="10" name="Group 7"/>
              <p:cNvGrpSpPr>
                <a:grpSpLocks/>
              </p:cNvGrpSpPr>
              <p:nvPr/>
            </p:nvGrpSpPr>
            <p:grpSpPr bwMode="auto">
              <a:xfrm>
                <a:off x="768" y="1248"/>
                <a:ext cx="1200" cy="960"/>
                <a:chOff x="960" y="1920"/>
                <a:chExt cx="1200" cy="960"/>
              </a:xfrm>
            </p:grpSpPr>
            <p:sp>
              <p:nvSpPr>
                <p:cNvPr id="11" name="Rectangle 8"/>
                <p:cNvSpPr>
                  <a:spLocks noChangeArrowheads="1"/>
                </p:cNvSpPr>
                <p:nvPr/>
              </p:nvSpPr>
              <p:spPr bwMode="auto">
                <a:xfrm>
                  <a:off x="1152" y="1920"/>
                  <a:ext cx="816" cy="720"/>
                </a:xfrm>
                <a:prstGeom prst="rect">
                  <a:avLst/>
                </a:prstGeom>
                <a:solidFill>
                  <a:srgbClr val="333300"/>
                </a:solidFill>
                <a:ln w="9525">
                  <a:solidFill>
                    <a:schemeClr val="tx1"/>
                  </a:solidFill>
                  <a:miter lim="800000"/>
                  <a:headEnd/>
                  <a:tailEnd/>
                </a:ln>
                <a:effectLst/>
              </p:spPr>
              <p:txBody>
                <a:bodyPr wrap="none" anchor="ctr"/>
                <a:lstStyle/>
                <a:p>
                  <a:endParaRPr lang="en-US"/>
                </a:p>
              </p:txBody>
            </p:sp>
            <p:sp>
              <p:nvSpPr>
                <p:cNvPr id="12" name="AutoShape 9"/>
                <p:cNvSpPr>
                  <a:spLocks noChangeArrowheads="1"/>
                </p:cNvSpPr>
                <p:nvPr/>
              </p:nvSpPr>
              <p:spPr bwMode="auto">
                <a:xfrm flipV="1">
                  <a:off x="960" y="2688"/>
                  <a:ext cx="1200" cy="19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969696"/>
                </a:solidFill>
                <a:ln w="9525">
                  <a:solidFill>
                    <a:schemeClr val="tx1"/>
                  </a:solidFill>
                  <a:miter lim="800000"/>
                  <a:headEnd/>
                  <a:tailEnd/>
                </a:ln>
                <a:effectLst/>
              </p:spPr>
              <p:txBody>
                <a:bodyPr wrap="none" anchor="ctr"/>
                <a:lstStyle/>
                <a:p>
                  <a:endParaRPr lang="en-US"/>
                </a:p>
              </p:txBody>
            </p:sp>
            <p:sp>
              <p:nvSpPr>
                <p:cNvPr id="13" name="Rectangle 10"/>
                <p:cNvSpPr>
                  <a:spLocks noChangeArrowheads="1"/>
                </p:cNvSpPr>
                <p:nvPr/>
              </p:nvSpPr>
              <p:spPr bwMode="auto">
                <a:xfrm>
                  <a:off x="1248" y="2016"/>
                  <a:ext cx="624" cy="528"/>
                </a:xfrm>
                <a:prstGeom prst="rect">
                  <a:avLst/>
                </a:prstGeom>
                <a:solidFill>
                  <a:schemeClr val="bg2"/>
                </a:solidFill>
                <a:ln w="9525">
                  <a:solidFill>
                    <a:schemeClr val="tx1"/>
                  </a:solidFill>
                  <a:miter lim="800000"/>
                  <a:headEnd/>
                  <a:tailEnd/>
                </a:ln>
                <a:effectLst/>
              </p:spPr>
              <p:txBody>
                <a:bodyPr wrap="none" anchor="ctr"/>
                <a:lstStyle/>
                <a:p>
                  <a:endParaRPr lang="en-US"/>
                </a:p>
              </p:txBody>
            </p:sp>
          </p:grpSp>
        </p:grpSp>
      </p:grpSp>
      <p:grpSp>
        <p:nvGrpSpPr>
          <p:cNvPr id="14" name="Group 11"/>
          <p:cNvGrpSpPr>
            <a:grpSpLocks/>
          </p:cNvGrpSpPr>
          <p:nvPr/>
        </p:nvGrpSpPr>
        <p:grpSpPr bwMode="auto">
          <a:xfrm>
            <a:off x="3646488" y="3889375"/>
            <a:ext cx="2135187" cy="1822450"/>
            <a:chOff x="2368" y="2508"/>
            <a:chExt cx="1345" cy="1148"/>
          </a:xfrm>
        </p:grpSpPr>
        <p:sp>
          <p:nvSpPr>
            <p:cNvPr id="15" name="Oval 12"/>
            <p:cNvSpPr>
              <a:spLocks noChangeArrowheads="1"/>
            </p:cNvSpPr>
            <p:nvPr/>
          </p:nvSpPr>
          <p:spPr bwMode="auto">
            <a:xfrm>
              <a:off x="2368" y="2508"/>
              <a:ext cx="1345" cy="1148"/>
            </a:xfrm>
            <a:prstGeom prst="ellipse">
              <a:avLst/>
            </a:prstGeom>
            <a:solidFill>
              <a:srgbClr val="FFFFCC"/>
            </a:solidFill>
            <a:ln w="9525">
              <a:solidFill>
                <a:schemeClr val="tx1"/>
              </a:solidFill>
              <a:round/>
              <a:headEnd/>
              <a:tailEnd/>
            </a:ln>
            <a:effectLst/>
          </p:spPr>
          <p:txBody>
            <a:bodyPr wrap="none" anchor="ctr"/>
            <a:lstStyle/>
            <a:p>
              <a:endParaRPr lang="en-US"/>
            </a:p>
          </p:txBody>
        </p:sp>
        <p:sp>
          <p:nvSpPr>
            <p:cNvPr id="16" name="Text Box 13"/>
            <p:cNvSpPr txBox="1">
              <a:spLocks noChangeArrowheads="1"/>
            </p:cNvSpPr>
            <p:nvPr/>
          </p:nvSpPr>
          <p:spPr bwMode="auto">
            <a:xfrm>
              <a:off x="2578" y="2942"/>
              <a:ext cx="902" cy="233"/>
            </a:xfrm>
            <a:prstGeom prst="rect">
              <a:avLst/>
            </a:prstGeom>
            <a:solidFill>
              <a:srgbClr val="FFFFCC"/>
            </a:solidFill>
            <a:ln w="9525">
              <a:noFill/>
              <a:miter lim="800000"/>
              <a:headEnd/>
              <a:tailEnd/>
            </a:ln>
            <a:effectLst/>
          </p:spPr>
          <p:txBody>
            <a:bodyPr>
              <a:spAutoFit/>
            </a:bodyPr>
            <a:lstStyle/>
            <a:p>
              <a:pPr algn="ctr" eaLnBrk="0" hangingPunct="0">
                <a:spcBef>
                  <a:spcPct val="50000"/>
                </a:spcBef>
              </a:pPr>
              <a:r>
                <a:rPr lang="en-US">
                  <a:latin typeface="Times New Roman" pitchFamily="18" charset="0"/>
                </a:rPr>
                <a:t>CPU</a:t>
              </a:r>
            </a:p>
          </p:txBody>
        </p:sp>
      </p:grpSp>
      <p:grpSp>
        <p:nvGrpSpPr>
          <p:cNvPr id="17" name="Group 14"/>
          <p:cNvGrpSpPr>
            <a:grpSpLocks/>
          </p:cNvGrpSpPr>
          <p:nvPr/>
        </p:nvGrpSpPr>
        <p:grpSpPr bwMode="auto">
          <a:xfrm>
            <a:off x="5337175" y="1716088"/>
            <a:ext cx="2135188" cy="1822450"/>
            <a:chOff x="3432" y="1244"/>
            <a:chExt cx="1345" cy="1148"/>
          </a:xfrm>
        </p:grpSpPr>
        <p:sp>
          <p:nvSpPr>
            <p:cNvPr id="18" name="Oval 15"/>
            <p:cNvSpPr>
              <a:spLocks noChangeArrowheads="1"/>
            </p:cNvSpPr>
            <p:nvPr/>
          </p:nvSpPr>
          <p:spPr bwMode="auto">
            <a:xfrm>
              <a:off x="3432" y="1244"/>
              <a:ext cx="1345" cy="1148"/>
            </a:xfrm>
            <a:prstGeom prst="ellipse">
              <a:avLst/>
            </a:prstGeom>
            <a:solidFill>
              <a:srgbClr val="FFFFCC"/>
            </a:solidFill>
            <a:ln w="9525">
              <a:solidFill>
                <a:schemeClr val="tx1"/>
              </a:solidFill>
              <a:round/>
              <a:headEnd/>
              <a:tailEnd/>
            </a:ln>
            <a:effectLst/>
          </p:spPr>
          <p:txBody>
            <a:bodyPr wrap="none" anchor="ctr"/>
            <a:lstStyle/>
            <a:p>
              <a:endParaRPr lang="en-US"/>
            </a:p>
          </p:txBody>
        </p:sp>
        <p:sp>
          <p:nvSpPr>
            <p:cNvPr id="19" name="Text Box 16"/>
            <p:cNvSpPr txBox="1">
              <a:spLocks noChangeArrowheads="1"/>
            </p:cNvSpPr>
            <p:nvPr/>
          </p:nvSpPr>
          <p:spPr bwMode="auto">
            <a:xfrm>
              <a:off x="3607" y="1654"/>
              <a:ext cx="1031" cy="233"/>
            </a:xfrm>
            <a:prstGeom prst="rect">
              <a:avLst/>
            </a:prstGeom>
            <a:solidFill>
              <a:srgbClr val="FFFFCC"/>
            </a:solidFill>
            <a:ln w="9525">
              <a:noFill/>
              <a:miter lim="800000"/>
              <a:headEnd/>
              <a:tailEnd/>
            </a:ln>
            <a:effectLst/>
          </p:spPr>
          <p:txBody>
            <a:bodyPr>
              <a:spAutoFit/>
            </a:bodyPr>
            <a:lstStyle/>
            <a:p>
              <a:pPr algn="ctr" eaLnBrk="0" hangingPunct="0">
                <a:spcBef>
                  <a:spcPct val="50000"/>
                </a:spcBef>
              </a:pPr>
              <a:r>
                <a:rPr lang="en-US">
                  <a:latin typeface="Times New Roman" pitchFamily="18" charset="0"/>
                </a:rPr>
                <a:t>MEMORY</a:t>
              </a:r>
            </a:p>
          </p:txBody>
        </p:sp>
      </p:grpSp>
      <p:grpSp>
        <p:nvGrpSpPr>
          <p:cNvPr id="20" name="Group 17"/>
          <p:cNvGrpSpPr>
            <a:grpSpLocks/>
          </p:cNvGrpSpPr>
          <p:nvPr/>
        </p:nvGrpSpPr>
        <p:grpSpPr bwMode="auto">
          <a:xfrm>
            <a:off x="1812925" y="2125663"/>
            <a:ext cx="2135188" cy="1822450"/>
            <a:chOff x="2368" y="2508"/>
            <a:chExt cx="1345" cy="1148"/>
          </a:xfrm>
        </p:grpSpPr>
        <p:sp>
          <p:nvSpPr>
            <p:cNvPr id="21" name="Oval 18"/>
            <p:cNvSpPr>
              <a:spLocks noChangeArrowheads="1"/>
            </p:cNvSpPr>
            <p:nvPr/>
          </p:nvSpPr>
          <p:spPr bwMode="auto">
            <a:xfrm>
              <a:off x="2368" y="2508"/>
              <a:ext cx="1345" cy="1148"/>
            </a:xfrm>
            <a:prstGeom prst="ellipse">
              <a:avLst/>
            </a:prstGeom>
            <a:solidFill>
              <a:srgbClr val="FFFFCC"/>
            </a:solidFill>
            <a:ln w="9525">
              <a:solidFill>
                <a:schemeClr val="tx1"/>
              </a:solidFill>
              <a:round/>
              <a:headEnd/>
              <a:tailEnd/>
            </a:ln>
            <a:effectLst/>
          </p:spPr>
          <p:txBody>
            <a:bodyPr wrap="none" anchor="ctr"/>
            <a:lstStyle/>
            <a:p>
              <a:endParaRPr lang="en-US"/>
            </a:p>
          </p:txBody>
        </p:sp>
        <p:sp>
          <p:nvSpPr>
            <p:cNvPr id="22" name="Text Box 19"/>
            <p:cNvSpPr txBox="1">
              <a:spLocks noChangeArrowheads="1"/>
            </p:cNvSpPr>
            <p:nvPr/>
          </p:nvSpPr>
          <p:spPr bwMode="auto">
            <a:xfrm>
              <a:off x="2578" y="2942"/>
              <a:ext cx="902" cy="233"/>
            </a:xfrm>
            <a:prstGeom prst="rect">
              <a:avLst/>
            </a:prstGeom>
            <a:solidFill>
              <a:srgbClr val="FFFFCC"/>
            </a:solidFill>
            <a:ln w="9525">
              <a:noFill/>
              <a:miter lim="800000"/>
              <a:headEnd/>
              <a:tailEnd/>
            </a:ln>
            <a:effectLst/>
          </p:spPr>
          <p:txBody>
            <a:bodyPr>
              <a:spAutoFit/>
            </a:bodyPr>
            <a:lstStyle/>
            <a:p>
              <a:pPr algn="ctr" eaLnBrk="0" hangingPunct="0">
                <a:spcBef>
                  <a:spcPct val="50000"/>
                </a:spcBef>
              </a:pPr>
              <a:r>
                <a:rPr lang="en-US">
                  <a:latin typeface="Times New Roman" pitchFamily="18" charset="0"/>
                </a:rPr>
                <a:t>I/O</a:t>
              </a:r>
            </a:p>
          </p:txBody>
        </p:sp>
      </p:grpSp>
      <p:grpSp>
        <p:nvGrpSpPr>
          <p:cNvPr id="23" name="Group 20"/>
          <p:cNvGrpSpPr>
            <a:grpSpLocks/>
          </p:cNvGrpSpPr>
          <p:nvPr/>
        </p:nvGrpSpPr>
        <p:grpSpPr bwMode="auto">
          <a:xfrm>
            <a:off x="3624263" y="2451100"/>
            <a:ext cx="2135187" cy="1822450"/>
            <a:chOff x="2341" y="2014"/>
            <a:chExt cx="1345" cy="1148"/>
          </a:xfrm>
        </p:grpSpPr>
        <p:sp>
          <p:nvSpPr>
            <p:cNvPr id="24" name="Oval 21"/>
            <p:cNvSpPr>
              <a:spLocks noChangeArrowheads="1"/>
            </p:cNvSpPr>
            <p:nvPr/>
          </p:nvSpPr>
          <p:spPr bwMode="auto">
            <a:xfrm>
              <a:off x="2341" y="2014"/>
              <a:ext cx="1345" cy="1148"/>
            </a:xfrm>
            <a:prstGeom prst="ellipse">
              <a:avLst/>
            </a:prstGeom>
            <a:noFill/>
            <a:ln w="9525">
              <a:solidFill>
                <a:schemeClr val="tx1"/>
              </a:solidFill>
              <a:round/>
              <a:headEnd/>
              <a:tailEnd/>
            </a:ln>
            <a:effectLst/>
          </p:spPr>
          <p:txBody>
            <a:bodyPr wrap="none" anchor="ctr"/>
            <a:lstStyle/>
            <a:p>
              <a:endParaRPr lang="en-US"/>
            </a:p>
          </p:txBody>
        </p:sp>
        <p:sp>
          <p:nvSpPr>
            <p:cNvPr id="25" name="Text Box 22"/>
            <p:cNvSpPr txBox="1">
              <a:spLocks noChangeArrowheads="1"/>
            </p:cNvSpPr>
            <p:nvPr/>
          </p:nvSpPr>
          <p:spPr bwMode="auto">
            <a:xfrm>
              <a:off x="2563" y="2320"/>
              <a:ext cx="902" cy="407"/>
            </a:xfrm>
            <a:prstGeom prst="rect">
              <a:avLst/>
            </a:prstGeom>
            <a:noFill/>
            <a:ln w="9525">
              <a:noFill/>
              <a:miter lim="800000"/>
              <a:headEnd/>
              <a:tailEnd/>
            </a:ln>
            <a:effectLst/>
          </p:spPr>
          <p:txBody>
            <a:bodyPr>
              <a:spAutoFit/>
            </a:bodyPr>
            <a:lstStyle/>
            <a:p>
              <a:pPr algn="ctr" eaLnBrk="0" hangingPunct="0">
                <a:spcBef>
                  <a:spcPct val="50000"/>
                </a:spcBef>
              </a:pPr>
              <a:r>
                <a:rPr lang="en-US">
                  <a:latin typeface="Times New Roman" pitchFamily="18" charset="0"/>
                </a:rPr>
                <a:t>SYSTEM BUS</a:t>
              </a:r>
            </a:p>
          </p:txBody>
        </p:sp>
      </p:grpSp>
      <p:sp>
        <p:nvSpPr>
          <p:cNvPr id="27" name="Footer Placeholder 4"/>
          <p:cNvSpPr>
            <a:spLocks noGrp="1"/>
          </p:cNvSpPr>
          <p:nvPr>
            <p:ph type="ftr" sz="quarter" idx="11"/>
          </p:nvPr>
        </p:nvSpPr>
        <p:spPr>
          <a:xfrm>
            <a:off x="1828800" y="6355080"/>
            <a:ext cx="6172200" cy="365760"/>
          </a:xfrm>
        </p:spPr>
        <p:txBody>
          <a:bodyPr/>
          <a:lstStyle/>
          <a:p>
            <a:pPr algn="ct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32"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ox(ou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Central Processing Unit</a:t>
            </a:r>
          </a:p>
        </p:txBody>
      </p:sp>
      <p:sp>
        <p:nvSpPr>
          <p:cNvPr id="3" name="Slide Number Placeholder 2"/>
          <p:cNvSpPr>
            <a:spLocks noGrp="1"/>
          </p:cNvSpPr>
          <p:nvPr>
            <p:ph type="sldNum" sz="quarter" idx="12"/>
          </p:nvPr>
        </p:nvSpPr>
        <p:spPr/>
        <p:txBody>
          <a:bodyPr/>
          <a:lstStyle/>
          <a:p>
            <a:fld id="{B6F15528-21DE-4FAA-801E-634DDDAF4B2B}" type="slidenum">
              <a:rPr lang="en-US" smtClean="0">
                <a:solidFill>
                  <a:schemeClr val="tx1"/>
                </a:solidFill>
              </a:rPr>
              <a:pPr/>
              <a:t>7</a:t>
            </a:fld>
            <a:endParaRPr lang="en-US">
              <a:solidFill>
                <a:schemeClr val="tx1"/>
              </a:solidFill>
            </a:endParaRPr>
          </a:p>
        </p:txBody>
      </p:sp>
      <p:sp>
        <p:nvSpPr>
          <p:cNvPr id="4" name="Content Placeholder 3"/>
          <p:cNvSpPr>
            <a:spLocks noGrp="1"/>
          </p:cNvSpPr>
          <p:nvPr>
            <p:ph sz="quarter" idx="1"/>
          </p:nvPr>
        </p:nvSpPr>
        <p:spPr/>
        <p:txBody>
          <a:bodyPr>
            <a:normAutofit/>
          </a:bodyPr>
          <a:lstStyle/>
          <a:p>
            <a:endParaRPr lang="en-US" dirty="0"/>
          </a:p>
          <a:p>
            <a:pPr>
              <a:buFont typeface="Wingdings" panose="05000000000000000000" pitchFamily="2" charset="2"/>
              <a:buChar char="Ø"/>
            </a:pPr>
            <a:r>
              <a:rPr lang="en-US" dirty="0"/>
              <a:t>A </a:t>
            </a:r>
            <a:r>
              <a:rPr lang="en-US" b="1" dirty="0"/>
              <a:t>central processing unit</a:t>
            </a:r>
            <a:r>
              <a:rPr lang="en-US" dirty="0"/>
              <a:t> (</a:t>
            </a:r>
            <a:r>
              <a:rPr lang="en-US" b="1" dirty="0"/>
              <a:t>CPU</a:t>
            </a:r>
            <a:r>
              <a:rPr lang="en-US" dirty="0"/>
              <a:t>) is a description of a class of logic machines that can execute </a:t>
            </a:r>
            <a:r>
              <a:rPr lang="en-US" b="1" u="sng" dirty="0"/>
              <a:t>computer programs</a:t>
            </a:r>
            <a:r>
              <a:rPr lang="en-US" dirty="0"/>
              <a:t>. </a:t>
            </a:r>
          </a:p>
          <a:p>
            <a:pPr fontAlgn="auto">
              <a:spcAft>
                <a:spcPts val="0"/>
              </a:spcAft>
              <a:buFont typeface="Wingdings" panose="05000000000000000000" pitchFamily="2" charset="2"/>
              <a:buChar char="Ø"/>
              <a:defRPr/>
            </a:pPr>
            <a:endParaRPr lang="en-US" dirty="0"/>
          </a:p>
          <a:p>
            <a:pPr fontAlgn="auto">
              <a:spcAft>
                <a:spcPts val="0"/>
              </a:spcAft>
              <a:buFont typeface="Wingdings" panose="05000000000000000000" pitchFamily="2" charset="2"/>
              <a:buChar char="Ø"/>
              <a:defRPr/>
            </a:pPr>
            <a:r>
              <a:rPr lang="en-US" dirty="0"/>
              <a:t>The form, design and implementation of CPUs have changed dramatically since the earliest examples, but their fundamental operation has remained much the same.</a:t>
            </a:r>
          </a:p>
          <a:p>
            <a:endParaRPr lang="en-US" dirty="0"/>
          </a:p>
        </p:txBody>
      </p:sp>
      <p:sp>
        <p:nvSpPr>
          <p:cNvPr id="7" name="Footer Placeholder 4"/>
          <p:cNvSpPr>
            <a:spLocks noGrp="1"/>
          </p:cNvSpPr>
          <p:nvPr>
            <p:ph type="ftr" sz="quarter" idx="11"/>
          </p:nvPr>
        </p:nvSpPr>
        <p:spPr>
          <a:xfrm>
            <a:off x="1828800" y="6355080"/>
            <a:ext cx="6172200" cy="365760"/>
          </a:xfrm>
        </p:spPr>
        <p:txBody>
          <a:bodyPr/>
          <a:lstStyle/>
          <a:p>
            <a:pPr algn="ct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tx1"/>
                </a:solidFill>
              </a:rPr>
              <a:t>Central Processing Unit</a:t>
            </a:r>
          </a:p>
        </p:txBody>
      </p:sp>
      <p:sp>
        <p:nvSpPr>
          <p:cNvPr id="3" name="Slide Number Placeholder 2"/>
          <p:cNvSpPr>
            <a:spLocks noGrp="1"/>
          </p:cNvSpPr>
          <p:nvPr>
            <p:ph type="sldNum" sz="quarter" idx="12"/>
          </p:nvPr>
        </p:nvSpPr>
        <p:spPr/>
        <p:txBody>
          <a:bodyPr/>
          <a:lstStyle/>
          <a:p>
            <a:fld id="{B6F15528-21DE-4FAA-801E-634DDDAF4B2B}" type="slidenum">
              <a:rPr lang="en-US" smtClean="0"/>
              <a:pPr/>
              <a:t>8</a:t>
            </a:fld>
            <a:endParaRPr lang="en-US"/>
          </a:p>
        </p:txBody>
      </p:sp>
      <p:sp>
        <p:nvSpPr>
          <p:cNvPr id="6" name="Rectangle 8"/>
          <p:cNvSpPr>
            <a:spLocks noChangeArrowheads="1"/>
          </p:cNvSpPr>
          <p:nvPr/>
        </p:nvSpPr>
        <p:spPr bwMode="auto">
          <a:xfrm>
            <a:off x="1417638" y="1600200"/>
            <a:ext cx="6324600" cy="3878263"/>
          </a:xfrm>
          <a:prstGeom prst="rect">
            <a:avLst/>
          </a:prstGeom>
          <a:solidFill>
            <a:srgbClr val="CCFFFF"/>
          </a:solidFill>
          <a:ln w="9525">
            <a:solidFill>
              <a:schemeClr val="tx1"/>
            </a:solidFill>
            <a:miter lim="800000"/>
            <a:headEnd/>
            <a:tailEnd/>
          </a:ln>
          <a:effectLst/>
        </p:spPr>
        <p:txBody>
          <a:bodyPr wrap="none" anchor="ctr"/>
          <a:lstStyle/>
          <a:p>
            <a:endParaRPr lang="en-US"/>
          </a:p>
        </p:txBody>
      </p:sp>
      <p:sp>
        <p:nvSpPr>
          <p:cNvPr id="8" name="Text Box 11"/>
          <p:cNvSpPr txBox="1">
            <a:spLocks noChangeArrowheads="1"/>
          </p:cNvSpPr>
          <p:nvPr/>
        </p:nvSpPr>
        <p:spPr bwMode="auto">
          <a:xfrm>
            <a:off x="1751013" y="1828800"/>
            <a:ext cx="3043237" cy="831850"/>
          </a:xfrm>
          <a:prstGeom prst="rect">
            <a:avLst/>
          </a:prstGeom>
          <a:solidFill>
            <a:srgbClr val="FFFFCC"/>
          </a:solidFill>
          <a:ln w="9525">
            <a:solidFill>
              <a:schemeClr val="tx1"/>
            </a:solidFill>
            <a:miter lim="800000"/>
            <a:headEnd/>
            <a:tailEnd/>
          </a:ln>
          <a:effectLst/>
        </p:spPr>
        <p:txBody>
          <a:bodyPr>
            <a:spAutoFit/>
          </a:bodyPr>
          <a:lstStyle/>
          <a:p>
            <a:pPr algn="ctr" eaLnBrk="0" hangingPunct="0">
              <a:spcBef>
                <a:spcPct val="50000"/>
              </a:spcBef>
            </a:pPr>
            <a:r>
              <a:rPr lang="en-US" sz="2400" dirty="0">
                <a:latin typeface="Times New Roman" pitchFamily="18" charset="0"/>
              </a:rPr>
              <a:t>Control Unit &amp; Instruction Decoder</a:t>
            </a:r>
          </a:p>
        </p:txBody>
      </p:sp>
      <p:sp>
        <p:nvSpPr>
          <p:cNvPr id="9" name="Text Box 12"/>
          <p:cNvSpPr txBox="1">
            <a:spLocks noChangeArrowheads="1"/>
          </p:cNvSpPr>
          <p:nvPr/>
        </p:nvSpPr>
        <p:spPr bwMode="auto">
          <a:xfrm>
            <a:off x="2970212" y="3800475"/>
            <a:ext cx="3201988" cy="466725"/>
          </a:xfrm>
          <a:prstGeom prst="rect">
            <a:avLst/>
          </a:prstGeom>
          <a:solidFill>
            <a:srgbClr val="FFFFCC"/>
          </a:solidFill>
          <a:ln w="9525">
            <a:solidFill>
              <a:schemeClr val="tx1"/>
            </a:solidFill>
            <a:miter lim="800000"/>
            <a:headEnd/>
            <a:tailEnd/>
          </a:ln>
          <a:effectLst/>
        </p:spPr>
        <p:txBody>
          <a:bodyPr>
            <a:spAutoFit/>
          </a:bodyPr>
          <a:lstStyle/>
          <a:p>
            <a:pPr algn="ctr" eaLnBrk="0" hangingPunct="0">
              <a:spcBef>
                <a:spcPct val="50000"/>
              </a:spcBef>
            </a:pPr>
            <a:r>
              <a:rPr lang="en-US" sz="2400" dirty="0">
                <a:latin typeface="Times New Roman" pitchFamily="18" charset="0"/>
              </a:rPr>
              <a:t>Arithmetic/Logic Unit</a:t>
            </a:r>
          </a:p>
        </p:txBody>
      </p:sp>
      <p:sp>
        <p:nvSpPr>
          <p:cNvPr id="10" name="Text Box 13"/>
          <p:cNvSpPr txBox="1">
            <a:spLocks noChangeArrowheads="1"/>
          </p:cNvSpPr>
          <p:nvPr/>
        </p:nvSpPr>
        <p:spPr bwMode="auto">
          <a:xfrm>
            <a:off x="4495800" y="4800600"/>
            <a:ext cx="3114675" cy="466725"/>
          </a:xfrm>
          <a:prstGeom prst="rect">
            <a:avLst/>
          </a:prstGeom>
          <a:solidFill>
            <a:srgbClr val="FFFFCC"/>
          </a:solidFill>
          <a:ln w="9525">
            <a:solidFill>
              <a:schemeClr val="tx1"/>
            </a:solidFill>
            <a:miter lim="800000"/>
            <a:headEnd/>
            <a:tailEnd/>
          </a:ln>
          <a:effectLst/>
        </p:spPr>
        <p:txBody>
          <a:bodyPr>
            <a:spAutoFit/>
          </a:bodyPr>
          <a:lstStyle/>
          <a:p>
            <a:pPr algn="ctr" eaLnBrk="0" hangingPunct="0">
              <a:spcBef>
                <a:spcPct val="50000"/>
              </a:spcBef>
            </a:pPr>
            <a:r>
              <a:rPr lang="en-US" sz="2400">
                <a:latin typeface="Times New Roman" pitchFamily="18" charset="0"/>
              </a:rPr>
              <a:t>Registers</a:t>
            </a:r>
          </a:p>
        </p:txBody>
      </p:sp>
      <p:sp>
        <p:nvSpPr>
          <p:cNvPr id="11" name="AutoShape 6"/>
          <p:cNvSpPr>
            <a:spLocks noChangeArrowheads="1"/>
          </p:cNvSpPr>
          <p:nvPr/>
        </p:nvSpPr>
        <p:spPr bwMode="auto">
          <a:xfrm>
            <a:off x="0" y="2743200"/>
            <a:ext cx="4191000" cy="990600"/>
          </a:xfrm>
          <a:prstGeom prst="wedgeRectCallout">
            <a:avLst>
              <a:gd name="adj1" fmla="val 44239"/>
              <a:gd name="adj2" fmla="val -59744"/>
            </a:avLst>
          </a:prstGeom>
          <a:solidFill>
            <a:srgbClr val="CCFFCC"/>
          </a:solidFill>
          <a:ln w="9525">
            <a:solidFill>
              <a:schemeClr val="tx1"/>
            </a:solidFill>
            <a:miter lim="800000"/>
            <a:headEnd/>
            <a:tailEnd/>
          </a:ln>
          <a:effectLst/>
        </p:spPr>
        <p:txBody>
          <a:bodyPr wrap="none" anchor="ctr"/>
          <a:lstStyle/>
          <a:p>
            <a:pPr algn="ctr" eaLnBrk="0" hangingPunct="0">
              <a:spcBef>
                <a:spcPct val="50000"/>
              </a:spcBef>
            </a:pPr>
            <a:r>
              <a:rPr lang="en-US" sz="2000" dirty="0">
                <a:latin typeface="Times New Roman" pitchFamily="18" charset="0"/>
              </a:rPr>
              <a:t>To decode instruction and </a:t>
            </a:r>
          </a:p>
          <a:p>
            <a:pPr algn="ctr" eaLnBrk="0" hangingPunct="0">
              <a:spcBef>
                <a:spcPct val="50000"/>
              </a:spcBef>
            </a:pPr>
            <a:r>
              <a:rPr lang="en-US" sz="2000" dirty="0">
                <a:latin typeface="Times New Roman" pitchFamily="18" charset="0"/>
              </a:rPr>
              <a:t>pass the necessary control signals to CU</a:t>
            </a:r>
          </a:p>
        </p:txBody>
      </p:sp>
      <p:sp>
        <p:nvSpPr>
          <p:cNvPr id="12" name="AutoShape 7"/>
          <p:cNvSpPr>
            <a:spLocks noChangeArrowheads="1"/>
          </p:cNvSpPr>
          <p:nvPr/>
        </p:nvSpPr>
        <p:spPr bwMode="auto">
          <a:xfrm>
            <a:off x="4875213" y="1190625"/>
            <a:ext cx="3582987" cy="1019175"/>
          </a:xfrm>
          <a:prstGeom prst="wedgeRectCallout">
            <a:avLst>
              <a:gd name="adj1" fmla="val -52358"/>
              <a:gd name="adj2" fmla="val 75819"/>
            </a:avLst>
          </a:prstGeom>
          <a:solidFill>
            <a:srgbClr val="CCFFCC"/>
          </a:solidFill>
          <a:ln w="9525">
            <a:solidFill>
              <a:schemeClr val="tx1"/>
            </a:solidFill>
            <a:miter lim="800000"/>
            <a:headEnd/>
            <a:tailEnd/>
          </a:ln>
          <a:effectLst/>
        </p:spPr>
        <p:txBody>
          <a:bodyPr wrap="none" anchor="ctr"/>
          <a:lstStyle/>
          <a:p>
            <a:pPr algn="ctr" eaLnBrk="0" hangingPunct="0">
              <a:spcBef>
                <a:spcPct val="50000"/>
              </a:spcBef>
            </a:pPr>
            <a:r>
              <a:rPr lang="en-US" sz="2000" dirty="0">
                <a:latin typeface="Times New Roman" pitchFamily="18" charset="0"/>
              </a:rPr>
              <a:t>To synchronize and control the </a:t>
            </a:r>
          </a:p>
          <a:p>
            <a:pPr algn="ctr" eaLnBrk="0" hangingPunct="0">
              <a:spcBef>
                <a:spcPct val="50000"/>
              </a:spcBef>
            </a:pPr>
            <a:r>
              <a:rPr lang="en-US" sz="2000" dirty="0">
                <a:latin typeface="Times New Roman" pitchFamily="18" charset="0"/>
              </a:rPr>
              <a:t>overall operation of the </a:t>
            </a:r>
            <a:r>
              <a:rPr lang="en-US" sz="2000" dirty="0">
                <a:latin typeface="Times New Roman" pitchFamily="18" charset="0"/>
                <a:sym typeface="Symbol" pitchFamily="18" charset="2"/>
              </a:rPr>
              <a:t>CPU</a:t>
            </a:r>
            <a:endParaRPr lang="en-US" sz="2000" b="1" dirty="0">
              <a:latin typeface="Times New Roman" pitchFamily="18" charset="0"/>
            </a:endParaRPr>
          </a:p>
        </p:txBody>
      </p:sp>
      <p:sp>
        <p:nvSpPr>
          <p:cNvPr id="13" name="AutoShape 9"/>
          <p:cNvSpPr>
            <a:spLocks noChangeArrowheads="1"/>
          </p:cNvSpPr>
          <p:nvPr/>
        </p:nvSpPr>
        <p:spPr bwMode="auto">
          <a:xfrm>
            <a:off x="4419600" y="2743200"/>
            <a:ext cx="4724400" cy="838200"/>
          </a:xfrm>
          <a:prstGeom prst="wedgeRectCallout">
            <a:avLst>
              <a:gd name="adj1" fmla="val -28242"/>
              <a:gd name="adj2" fmla="val 73398"/>
            </a:avLst>
          </a:prstGeom>
          <a:solidFill>
            <a:srgbClr val="CCFFCC"/>
          </a:solidFill>
          <a:ln w="9525">
            <a:solidFill>
              <a:schemeClr val="tx1"/>
            </a:solidFill>
            <a:miter lim="800000"/>
            <a:headEnd/>
            <a:tailEnd/>
          </a:ln>
          <a:effectLst/>
        </p:spPr>
        <p:txBody>
          <a:bodyPr wrap="none" anchor="ctr"/>
          <a:lstStyle/>
          <a:p>
            <a:pPr lvl="2" algn="ctr" eaLnBrk="0" hangingPunct="0">
              <a:buFont typeface="Symbol" pitchFamily="18" charset="2"/>
              <a:buNone/>
            </a:pPr>
            <a:r>
              <a:rPr lang="en-US" sz="2000" dirty="0">
                <a:latin typeface="Times New Roman" pitchFamily="18" charset="0"/>
              </a:rPr>
              <a:t>To perform the arithmetic and logical </a:t>
            </a:r>
          </a:p>
          <a:p>
            <a:pPr lvl="2" algn="ctr" eaLnBrk="0" hangingPunct="0">
              <a:buFont typeface="Symbol" pitchFamily="18" charset="2"/>
              <a:buNone/>
            </a:pPr>
            <a:r>
              <a:rPr lang="en-US" sz="2000" dirty="0">
                <a:latin typeface="Times New Roman" pitchFamily="18" charset="0"/>
              </a:rPr>
              <a:t>operations within the CPU </a:t>
            </a:r>
            <a:endParaRPr lang="en-US" sz="2000" b="1" dirty="0">
              <a:latin typeface="Times New Roman" pitchFamily="18" charset="0"/>
            </a:endParaRPr>
          </a:p>
        </p:txBody>
      </p:sp>
      <p:sp>
        <p:nvSpPr>
          <p:cNvPr id="14" name="AutoShape 10"/>
          <p:cNvSpPr>
            <a:spLocks noChangeArrowheads="1"/>
          </p:cNvSpPr>
          <p:nvPr/>
        </p:nvSpPr>
        <p:spPr bwMode="auto">
          <a:xfrm>
            <a:off x="0" y="4572000"/>
            <a:ext cx="3541711" cy="885825"/>
          </a:xfrm>
          <a:prstGeom prst="wedgeRectCallout">
            <a:avLst>
              <a:gd name="adj1" fmla="val 57132"/>
              <a:gd name="adj2" fmla="val -83684"/>
            </a:avLst>
          </a:prstGeom>
          <a:solidFill>
            <a:srgbClr val="CCFFCC"/>
          </a:solidFill>
          <a:ln w="9525">
            <a:solidFill>
              <a:schemeClr val="tx1"/>
            </a:solidFill>
            <a:miter lim="800000"/>
            <a:headEnd/>
            <a:tailEnd/>
          </a:ln>
          <a:effectLst/>
        </p:spPr>
        <p:txBody>
          <a:bodyPr wrap="none" anchor="ctr"/>
          <a:lstStyle/>
          <a:p>
            <a:pPr algn="ctr" eaLnBrk="0" hangingPunct="0"/>
            <a:r>
              <a:rPr lang="en-US" sz="2000" dirty="0">
                <a:latin typeface="Times New Roman" pitchFamily="18" charset="0"/>
              </a:rPr>
              <a:t>To perform shift and rotate </a:t>
            </a:r>
          </a:p>
          <a:p>
            <a:pPr algn="ctr" eaLnBrk="0" hangingPunct="0"/>
            <a:r>
              <a:rPr lang="en-US" sz="2000" dirty="0">
                <a:latin typeface="Times New Roman" pitchFamily="18" charset="0"/>
              </a:rPr>
              <a:t>operations that may either be </a:t>
            </a:r>
          </a:p>
          <a:p>
            <a:pPr algn="ctr" eaLnBrk="0" hangingPunct="0"/>
            <a:r>
              <a:rPr lang="en-US" sz="2000" dirty="0">
                <a:latin typeface="Times New Roman" pitchFamily="18" charset="0"/>
              </a:rPr>
              <a:t>arithmetic or logical in nature</a:t>
            </a:r>
          </a:p>
        </p:txBody>
      </p:sp>
      <p:sp>
        <p:nvSpPr>
          <p:cNvPr id="15" name="AutoShape 9"/>
          <p:cNvSpPr>
            <a:spLocks noChangeArrowheads="1"/>
          </p:cNvSpPr>
          <p:nvPr/>
        </p:nvSpPr>
        <p:spPr bwMode="auto">
          <a:xfrm>
            <a:off x="4114800" y="5562600"/>
            <a:ext cx="3200399" cy="828675"/>
          </a:xfrm>
          <a:prstGeom prst="wedgeRectCallout">
            <a:avLst>
              <a:gd name="adj1" fmla="val -21612"/>
              <a:gd name="adj2" fmla="val -84039"/>
            </a:avLst>
          </a:prstGeom>
          <a:solidFill>
            <a:srgbClr val="CCFFCC"/>
          </a:solidFill>
          <a:ln w="9525">
            <a:solidFill>
              <a:schemeClr val="tx1"/>
            </a:solidFill>
            <a:miter lim="800000"/>
            <a:headEnd/>
            <a:tailEnd/>
          </a:ln>
          <a:effectLst/>
        </p:spPr>
        <p:txBody>
          <a:bodyPr wrap="none" anchor="ctr"/>
          <a:lstStyle/>
          <a:p>
            <a:pPr eaLnBrk="0" hangingPunct="0">
              <a:buFontTx/>
              <a:buChar char="•"/>
            </a:pPr>
            <a:r>
              <a:rPr lang="en-US" sz="2000">
                <a:latin typeface="Times New Roman" pitchFamily="18" charset="0"/>
              </a:rPr>
              <a:t> Control and Status Registers</a:t>
            </a:r>
          </a:p>
          <a:p>
            <a:pPr eaLnBrk="0" hangingPunct="0">
              <a:buFontTx/>
              <a:buChar char="•"/>
            </a:pPr>
            <a:r>
              <a:rPr lang="en-US" sz="2000">
                <a:latin typeface="Times New Roman" pitchFamily="18" charset="0"/>
              </a:rPr>
              <a:t> User-Variable Registers</a:t>
            </a:r>
          </a:p>
        </p:txBody>
      </p:sp>
      <p:sp>
        <p:nvSpPr>
          <p:cNvPr id="16" name="AutoShape 10"/>
          <p:cNvSpPr>
            <a:spLocks noChangeArrowheads="1"/>
          </p:cNvSpPr>
          <p:nvPr/>
        </p:nvSpPr>
        <p:spPr bwMode="auto">
          <a:xfrm>
            <a:off x="6293837" y="3886200"/>
            <a:ext cx="2850163" cy="621506"/>
          </a:xfrm>
          <a:prstGeom prst="wedgeRectCallout">
            <a:avLst>
              <a:gd name="adj1" fmla="val -23022"/>
              <a:gd name="adj2" fmla="val 98382"/>
            </a:avLst>
          </a:prstGeom>
          <a:solidFill>
            <a:srgbClr val="CCFFCC"/>
          </a:solidFill>
          <a:ln w="9525">
            <a:solidFill>
              <a:schemeClr val="tx1"/>
            </a:solidFill>
            <a:miter lim="800000"/>
            <a:headEnd/>
            <a:tailEnd/>
          </a:ln>
          <a:effectLst/>
        </p:spPr>
        <p:txBody>
          <a:bodyPr wrap="none" anchor="ctr"/>
          <a:lstStyle/>
          <a:p>
            <a:pPr algn="ctr" eaLnBrk="0" hangingPunct="0"/>
            <a:r>
              <a:rPr lang="en-US" sz="2000" dirty="0">
                <a:latin typeface="Times New Roman" pitchFamily="18" charset="0"/>
              </a:rPr>
              <a:t>A set of internal storage</a:t>
            </a:r>
          </a:p>
          <a:p>
            <a:pPr algn="ctr" eaLnBrk="0" hangingPunct="0"/>
            <a:r>
              <a:rPr lang="en-US" sz="2000" dirty="0">
                <a:latin typeface="Times New Roman" pitchFamily="18" charset="0"/>
              </a:rPr>
              <a:t>locations within the CPU</a:t>
            </a:r>
          </a:p>
        </p:txBody>
      </p:sp>
      <p:sp>
        <p:nvSpPr>
          <p:cNvPr id="18" name="Footer Placeholder 4"/>
          <p:cNvSpPr>
            <a:spLocks noGrp="1"/>
          </p:cNvSpPr>
          <p:nvPr>
            <p:ph type="ftr" sz="quarter" idx="11"/>
          </p:nvPr>
        </p:nvSpPr>
        <p:spPr>
          <a:xfrm>
            <a:off x="1828800" y="6355080"/>
            <a:ext cx="6172200" cy="365760"/>
          </a:xfrm>
        </p:spPr>
        <p:txBody>
          <a:bodyPr/>
          <a:lstStyle/>
          <a:p>
            <a:pPr algn="ct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autoUpdateAnimBg="0"/>
      <p:bldP spid="12" grpId="0" animBg="1" autoUpdateAnimBg="0"/>
      <p:bldP spid="13" grpId="0" animBg="1" autoUpdateAnimBg="0"/>
      <p:bldP spid="14" grpId="0" animBg="1" autoUpdateAnimBg="0"/>
      <p:bldP spid="15" grpId="0" animBg="1" autoUpdateAnimBg="0"/>
      <p:bldP spid="16"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So .. What is Microprocessor?</a:t>
            </a:r>
          </a:p>
        </p:txBody>
      </p:sp>
      <p:sp>
        <p:nvSpPr>
          <p:cNvPr id="3" name="Slide Number Placeholder 2"/>
          <p:cNvSpPr>
            <a:spLocks noGrp="1"/>
          </p:cNvSpPr>
          <p:nvPr>
            <p:ph type="sldNum" sz="quarter" idx="12"/>
          </p:nvPr>
        </p:nvSpPr>
        <p:spPr/>
        <p:txBody>
          <a:bodyPr/>
          <a:lstStyle/>
          <a:p>
            <a:fld id="{B6F15528-21DE-4FAA-801E-634DDDAF4B2B}" type="slidenum">
              <a:rPr lang="en-US" smtClean="0">
                <a:solidFill>
                  <a:schemeClr val="tx1"/>
                </a:solidFill>
              </a:rPr>
              <a:pPr/>
              <a:t>9</a:t>
            </a:fld>
            <a:endParaRPr lang="en-US">
              <a:solidFill>
                <a:schemeClr val="tx1"/>
              </a:solidFill>
            </a:endParaRPr>
          </a:p>
        </p:txBody>
      </p:sp>
      <p:sp>
        <p:nvSpPr>
          <p:cNvPr id="4" name="Content Placeholder 3"/>
          <p:cNvSpPr>
            <a:spLocks noGrp="1"/>
          </p:cNvSpPr>
          <p:nvPr>
            <p:ph sz="quarter" idx="1"/>
          </p:nvPr>
        </p:nvSpPr>
        <p:spPr/>
        <p:txBody>
          <a:bodyPr>
            <a:normAutofit fontScale="92500" lnSpcReduction="10000"/>
          </a:bodyPr>
          <a:lstStyle/>
          <a:p>
            <a:pPr algn="just"/>
            <a:r>
              <a:rPr lang="en-GB" dirty="0"/>
              <a:t>A microprocessor (abbreviated as µP) is a Silicon Chip that contains an electronic central processing unit (CPU). In the world the word µP or CPU is now used interchangeably. It is made from miniaturized transistors and other circuit elements on a single semiconductor integrated circuit (IC).</a:t>
            </a:r>
          </a:p>
          <a:p>
            <a:r>
              <a:rPr lang="en-US" dirty="0"/>
              <a:t>The integration of the whole CPU onto a single </a:t>
            </a:r>
            <a:r>
              <a:rPr lang="en-US" b="1" dirty="0"/>
              <a:t>VLSI Chip</a:t>
            </a:r>
            <a:r>
              <a:rPr lang="en-US" dirty="0"/>
              <a:t> therefore greatly reduced the cost of processing capacity.</a:t>
            </a:r>
          </a:p>
          <a:p>
            <a:r>
              <a:rPr lang="en-US" b="1" dirty="0"/>
              <a:t>Architectures of Microprocessors:</a:t>
            </a:r>
          </a:p>
          <a:p>
            <a:pPr lvl="1"/>
            <a:r>
              <a:rPr lang="en-US" sz="2400" dirty="0">
                <a:solidFill>
                  <a:schemeClr val="tx1"/>
                </a:solidFill>
              </a:rPr>
              <a:t>8-bit designs</a:t>
            </a:r>
          </a:p>
          <a:p>
            <a:pPr lvl="1"/>
            <a:r>
              <a:rPr lang="en-US" sz="2400" dirty="0">
                <a:solidFill>
                  <a:schemeClr val="tx1"/>
                </a:solidFill>
              </a:rPr>
              <a:t>16-bit designs</a:t>
            </a:r>
          </a:p>
          <a:p>
            <a:pPr lvl="1"/>
            <a:r>
              <a:rPr lang="en-US" sz="2400" dirty="0">
                <a:solidFill>
                  <a:schemeClr val="tx1"/>
                </a:solidFill>
              </a:rPr>
              <a:t>32-bit designs</a:t>
            </a:r>
          </a:p>
          <a:p>
            <a:pPr lvl="1"/>
            <a:r>
              <a:rPr lang="en-US" sz="2400" dirty="0">
                <a:solidFill>
                  <a:schemeClr val="tx1"/>
                </a:solidFill>
              </a:rPr>
              <a:t>64-bit designs</a:t>
            </a:r>
          </a:p>
          <a:p>
            <a:pPr lvl="1"/>
            <a:r>
              <a:rPr lang="en-US" sz="2400" dirty="0">
                <a:solidFill>
                  <a:schemeClr val="tx1"/>
                </a:solidFill>
              </a:rPr>
              <a:t>Multi-core designs</a:t>
            </a:r>
          </a:p>
          <a:p>
            <a:pPr lvl="1"/>
            <a:endParaRPr lang="en-US" sz="2400" dirty="0">
              <a:solidFill>
                <a:schemeClr val="tx1"/>
              </a:solidFill>
            </a:endParaRPr>
          </a:p>
        </p:txBody>
      </p:sp>
      <p:sp>
        <p:nvSpPr>
          <p:cNvPr id="6" name="Rectangle 5"/>
          <p:cNvSpPr/>
          <p:nvPr/>
        </p:nvSpPr>
        <p:spPr>
          <a:xfrm>
            <a:off x="3200400" y="4114800"/>
            <a:ext cx="5943600" cy="1744067"/>
          </a:xfrm>
          <a:prstGeom prst="rect">
            <a:avLst/>
          </a:prstGeom>
        </p:spPr>
        <p:txBody>
          <a:bodyPr wrap="square">
            <a:spAutoFit/>
          </a:bodyPr>
          <a:lstStyle/>
          <a:p>
            <a:pPr marL="548640" lvl="1" indent="-274320">
              <a:lnSpc>
                <a:spcPct val="90000"/>
              </a:lnSpc>
              <a:spcBef>
                <a:spcPts val="500"/>
              </a:spcBef>
              <a:buClr>
                <a:schemeClr val="accent2"/>
              </a:buClr>
              <a:buSzPct val="76000"/>
              <a:buFont typeface="Wingdings 3"/>
              <a:buChar char=""/>
            </a:pPr>
            <a:r>
              <a:rPr lang="en-US" sz="2200" dirty="0"/>
              <a:t>RISC (Reduced Instruction Set Computer)</a:t>
            </a:r>
          </a:p>
          <a:p>
            <a:pPr marL="548640" lvl="1" indent="-274320">
              <a:lnSpc>
                <a:spcPct val="90000"/>
              </a:lnSpc>
              <a:spcBef>
                <a:spcPts val="500"/>
              </a:spcBef>
              <a:buClr>
                <a:schemeClr val="accent2"/>
              </a:buClr>
              <a:buSzPct val="76000"/>
              <a:buFont typeface="Wingdings 3"/>
              <a:buChar char=""/>
            </a:pPr>
            <a:r>
              <a:rPr lang="en-US" sz="2200" dirty="0"/>
              <a:t>CISC (Complex Instruction Set Computer)</a:t>
            </a:r>
          </a:p>
          <a:p>
            <a:pPr marL="548640" lvl="1" indent="-274320">
              <a:lnSpc>
                <a:spcPct val="90000"/>
              </a:lnSpc>
              <a:spcBef>
                <a:spcPts val="500"/>
              </a:spcBef>
              <a:buClr>
                <a:schemeClr val="accent2"/>
              </a:buClr>
              <a:buSzPct val="76000"/>
              <a:buFont typeface="Wingdings 3"/>
              <a:buChar char=""/>
            </a:pPr>
            <a:r>
              <a:rPr lang="en-US" sz="2200" dirty="0"/>
              <a:t>Special-purpose designs: Microcontrollers,  Digital Signal Processors (DSP) and Graphics Processing Units (GPU).</a:t>
            </a:r>
          </a:p>
        </p:txBody>
      </p:sp>
      <p:sp>
        <p:nvSpPr>
          <p:cNvPr id="8" name="Footer Placeholder 4"/>
          <p:cNvSpPr>
            <a:spLocks noGrp="1"/>
          </p:cNvSpPr>
          <p:nvPr>
            <p:ph type="ftr" sz="quarter" idx="11"/>
          </p:nvPr>
        </p:nvSpPr>
        <p:spPr>
          <a:xfrm>
            <a:off x="1828800" y="6355080"/>
            <a:ext cx="6172200" cy="365760"/>
          </a:xfrm>
        </p:spPr>
        <p:txBody>
          <a:bodyPr/>
          <a:lstStyle/>
          <a:p>
            <a:pPr algn="ct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Concept about Microprocessor</a:t>
            </a:r>
          </a:p>
        </p:txBody>
      </p:sp>
      <p:sp>
        <p:nvSpPr>
          <p:cNvPr id="3" name="Slide Number Placeholder 2"/>
          <p:cNvSpPr>
            <a:spLocks noGrp="1"/>
          </p:cNvSpPr>
          <p:nvPr>
            <p:ph type="sldNum" sz="quarter" idx="12"/>
          </p:nvPr>
        </p:nvSpPr>
        <p:spPr/>
        <p:txBody>
          <a:bodyPr/>
          <a:lstStyle/>
          <a:p>
            <a:fld id="{B6F15528-21DE-4FAA-801E-634DDDAF4B2B}" type="slidenum">
              <a:rPr lang="en-US" smtClean="0">
                <a:solidFill>
                  <a:schemeClr val="tx1"/>
                </a:solidFill>
              </a:rPr>
              <a:pPr/>
              <a:t>10</a:t>
            </a:fld>
            <a:endParaRPr lang="en-US">
              <a:solidFill>
                <a:schemeClr val="tx1"/>
              </a:solidFill>
            </a:endParaRPr>
          </a:p>
        </p:txBody>
      </p:sp>
      <p:sp>
        <p:nvSpPr>
          <p:cNvPr id="4" name="Content Placeholder 3"/>
          <p:cNvSpPr>
            <a:spLocks noGrp="1"/>
          </p:cNvSpPr>
          <p:nvPr>
            <p:ph sz="quarter" idx="1"/>
          </p:nvPr>
        </p:nvSpPr>
        <p:spPr/>
        <p:txBody>
          <a:bodyPr/>
          <a:lstStyle/>
          <a:p>
            <a:r>
              <a:rPr lang="en-US" dirty="0"/>
              <a:t>A </a:t>
            </a:r>
            <a:r>
              <a:rPr lang="en-US" b="1" dirty="0"/>
              <a:t>microprocessor</a:t>
            </a:r>
            <a:r>
              <a:rPr lang="en-US" dirty="0"/>
              <a:t> incorporates most or all of the functions of a </a:t>
            </a:r>
            <a:r>
              <a:rPr lang="en-US" u="sng" dirty="0"/>
              <a:t>central processing unit (CPU)</a:t>
            </a:r>
            <a:r>
              <a:rPr lang="en-US" dirty="0"/>
              <a:t> on a single </a:t>
            </a:r>
            <a:r>
              <a:rPr lang="en-US" b="1" dirty="0"/>
              <a:t>integrated circuit </a:t>
            </a:r>
            <a:r>
              <a:rPr lang="en-US" dirty="0"/>
              <a:t>(IC).</a:t>
            </a:r>
          </a:p>
        </p:txBody>
      </p:sp>
      <p:grpSp>
        <p:nvGrpSpPr>
          <p:cNvPr id="6" name="Group 15"/>
          <p:cNvGrpSpPr>
            <a:grpSpLocks/>
          </p:cNvGrpSpPr>
          <p:nvPr/>
        </p:nvGrpSpPr>
        <p:grpSpPr bwMode="auto">
          <a:xfrm>
            <a:off x="228600" y="2971800"/>
            <a:ext cx="4406900" cy="2514600"/>
            <a:chOff x="728" y="987"/>
            <a:chExt cx="4177" cy="2200"/>
          </a:xfrm>
        </p:grpSpPr>
        <p:grpSp>
          <p:nvGrpSpPr>
            <p:cNvPr id="7" name="Group 14"/>
            <p:cNvGrpSpPr>
              <a:grpSpLocks/>
            </p:cNvGrpSpPr>
            <p:nvPr/>
          </p:nvGrpSpPr>
          <p:grpSpPr bwMode="auto">
            <a:xfrm>
              <a:off x="728" y="987"/>
              <a:ext cx="4168" cy="2200"/>
              <a:chOff x="728" y="987"/>
              <a:chExt cx="4168" cy="2200"/>
            </a:xfrm>
          </p:grpSpPr>
          <p:pic>
            <p:nvPicPr>
              <p:cNvPr id="11" name="Picture 7" descr="D:\Ecp2042\homepage\images\IC.jpg"/>
              <p:cNvPicPr>
                <a:picLocks noChangeAspect="1" noChangeArrowheads="1"/>
              </p:cNvPicPr>
              <p:nvPr/>
            </p:nvPicPr>
            <p:blipFill>
              <a:blip r:embed="rId2" cstate="print"/>
              <a:srcRect/>
              <a:stretch>
                <a:fillRect/>
              </a:stretch>
            </p:blipFill>
            <p:spPr bwMode="auto">
              <a:xfrm>
                <a:off x="4214" y="2679"/>
                <a:ext cx="682" cy="508"/>
              </a:xfrm>
              <a:prstGeom prst="rect">
                <a:avLst/>
              </a:prstGeom>
              <a:noFill/>
            </p:spPr>
          </p:pic>
          <p:grpSp>
            <p:nvGrpSpPr>
              <p:cNvPr id="12" name="Group 8"/>
              <p:cNvGrpSpPr>
                <a:grpSpLocks/>
              </p:cNvGrpSpPr>
              <p:nvPr/>
            </p:nvGrpSpPr>
            <p:grpSpPr bwMode="auto">
              <a:xfrm>
                <a:off x="728" y="987"/>
                <a:ext cx="1778" cy="1535"/>
                <a:chOff x="2368" y="2508"/>
                <a:chExt cx="1345" cy="1148"/>
              </a:xfrm>
            </p:grpSpPr>
            <p:sp>
              <p:nvSpPr>
                <p:cNvPr id="13" name="Oval 9"/>
                <p:cNvSpPr>
                  <a:spLocks noChangeArrowheads="1"/>
                </p:cNvSpPr>
                <p:nvPr/>
              </p:nvSpPr>
              <p:spPr bwMode="auto">
                <a:xfrm>
                  <a:off x="2368" y="2508"/>
                  <a:ext cx="1345" cy="1148"/>
                </a:xfrm>
                <a:prstGeom prst="ellipse">
                  <a:avLst/>
                </a:prstGeom>
                <a:solidFill>
                  <a:srgbClr val="FFFFCC"/>
                </a:solidFill>
                <a:ln w="9525">
                  <a:solidFill>
                    <a:schemeClr val="tx1"/>
                  </a:solidFill>
                  <a:round/>
                  <a:headEnd/>
                  <a:tailEnd/>
                </a:ln>
                <a:effectLst/>
              </p:spPr>
              <p:txBody>
                <a:bodyPr wrap="none" anchor="ctr"/>
                <a:lstStyle/>
                <a:p>
                  <a:endParaRPr lang="en-US"/>
                </a:p>
              </p:txBody>
            </p:sp>
            <p:sp>
              <p:nvSpPr>
                <p:cNvPr id="14" name="Text Box 10"/>
                <p:cNvSpPr txBox="1">
                  <a:spLocks noChangeArrowheads="1"/>
                </p:cNvSpPr>
                <p:nvPr/>
              </p:nvSpPr>
              <p:spPr bwMode="auto">
                <a:xfrm>
                  <a:off x="2578" y="2942"/>
                  <a:ext cx="902" cy="423"/>
                </a:xfrm>
                <a:prstGeom prst="rect">
                  <a:avLst/>
                </a:prstGeom>
                <a:solidFill>
                  <a:srgbClr val="FFFFCC"/>
                </a:solidFill>
                <a:ln w="9525">
                  <a:noFill/>
                  <a:miter lim="800000"/>
                  <a:headEnd/>
                  <a:tailEnd/>
                </a:ln>
                <a:effectLst/>
              </p:spPr>
              <p:txBody>
                <a:bodyPr>
                  <a:spAutoFit/>
                </a:bodyPr>
                <a:lstStyle/>
                <a:p>
                  <a:pPr algn="ctr" eaLnBrk="0" hangingPunct="0">
                    <a:spcBef>
                      <a:spcPct val="50000"/>
                    </a:spcBef>
                  </a:pPr>
                  <a:r>
                    <a:rPr lang="en-US" sz="3600" dirty="0">
                      <a:latin typeface="Times New Roman" pitchFamily="18" charset="0"/>
                    </a:rPr>
                    <a:t>CPU</a:t>
                  </a:r>
                </a:p>
              </p:txBody>
            </p:sp>
          </p:grpSp>
        </p:grpSp>
        <p:grpSp>
          <p:nvGrpSpPr>
            <p:cNvPr id="8" name="Group 13"/>
            <p:cNvGrpSpPr>
              <a:grpSpLocks/>
            </p:cNvGrpSpPr>
            <p:nvPr/>
          </p:nvGrpSpPr>
          <p:grpSpPr bwMode="auto">
            <a:xfrm>
              <a:off x="1499" y="1088"/>
              <a:ext cx="3406" cy="2074"/>
              <a:chOff x="1499" y="1088"/>
              <a:chExt cx="3406" cy="2074"/>
            </a:xfrm>
          </p:grpSpPr>
          <p:sp>
            <p:nvSpPr>
              <p:cNvPr id="9" name="Line 11"/>
              <p:cNvSpPr>
                <a:spLocks noChangeShapeType="1"/>
              </p:cNvSpPr>
              <p:nvPr/>
            </p:nvSpPr>
            <p:spPr bwMode="auto">
              <a:xfrm>
                <a:off x="2095" y="1088"/>
                <a:ext cx="2810" cy="1617"/>
              </a:xfrm>
              <a:prstGeom prst="line">
                <a:avLst/>
              </a:prstGeom>
              <a:noFill/>
              <a:ln w="9525">
                <a:solidFill>
                  <a:schemeClr val="tx1"/>
                </a:solidFill>
                <a:round/>
                <a:headEnd/>
                <a:tailEnd/>
              </a:ln>
              <a:effectLst/>
            </p:spPr>
            <p:txBody>
              <a:bodyPr wrap="none" anchor="ctr"/>
              <a:lstStyle/>
              <a:p>
                <a:endParaRPr lang="en-US"/>
              </a:p>
            </p:txBody>
          </p:sp>
          <p:sp>
            <p:nvSpPr>
              <p:cNvPr id="10" name="Line 12"/>
              <p:cNvSpPr>
                <a:spLocks noChangeShapeType="1"/>
              </p:cNvSpPr>
              <p:nvPr/>
            </p:nvSpPr>
            <p:spPr bwMode="auto">
              <a:xfrm>
                <a:off x="1499" y="2517"/>
                <a:ext cx="2716" cy="645"/>
              </a:xfrm>
              <a:prstGeom prst="line">
                <a:avLst/>
              </a:prstGeom>
              <a:noFill/>
              <a:ln w="9525">
                <a:solidFill>
                  <a:schemeClr val="tx1"/>
                </a:solidFill>
                <a:round/>
                <a:headEnd/>
                <a:tailEnd/>
              </a:ln>
              <a:effectLst/>
            </p:spPr>
            <p:txBody>
              <a:bodyPr wrap="none" anchor="ctr"/>
              <a:lstStyle/>
              <a:p>
                <a:endParaRPr lang="en-US"/>
              </a:p>
            </p:txBody>
          </p:sp>
        </p:grpSp>
      </p:grpSp>
      <p:sp>
        <p:nvSpPr>
          <p:cNvPr id="15" name="Rectangle 14"/>
          <p:cNvSpPr/>
          <p:nvPr/>
        </p:nvSpPr>
        <p:spPr>
          <a:xfrm>
            <a:off x="4038600" y="2209800"/>
            <a:ext cx="5105400" cy="1107996"/>
          </a:xfrm>
          <a:prstGeom prst="rect">
            <a:avLst/>
          </a:prstGeom>
        </p:spPr>
        <p:txBody>
          <a:bodyPr wrap="square">
            <a:spAutoFit/>
          </a:bodyPr>
          <a:lstStyle/>
          <a:p>
            <a:pPr algn="ctr"/>
            <a:r>
              <a:rPr lang="en-US" sz="2200" dirty="0"/>
              <a:t>Die of an Intel </a:t>
            </a:r>
            <a:r>
              <a:rPr lang="en-US" sz="2200" b="1" u="sng" dirty="0"/>
              <a:t>80486DX2</a:t>
            </a:r>
            <a:r>
              <a:rPr lang="en-US" sz="2200" dirty="0"/>
              <a:t> microprocessor (actual size: 12×6.75 mm) in its packaging</a:t>
            </a:r>
          </a:p>
        </p:txBody>
      </p:sp>
      <p:pic>
        <p:nvPicPr>
          <p:cNvPr id="16" name="Picture 2" descr="http://upload.wikimedia.org/wikipedia/commons/0/02/80486dx2-large.jpg"/>
          <p:cNvPicPr>
            <a:picLocks noChangeAspect="1" noChangeArrowheads="1"/>
          </p:cNvPicPr>
          <p:nvPr/>
        </p:nvPicPr>
        <p:blipFill>
          <a:blip r:embed="rId3" cstate="print"/>
          <a:srcRect/>
          <a:stretch>
            <a:fillRect/>
          </a:stretch>
        </p:blipFill>
        <p:spPr bwMode="auto">
          <a:xfrm>
            <a:off x="5334000" y="3352800"/>
            <a:ext cx="2971800" cy="2220455"/>
          </a:xfrm>
          <a:prstGeom prst="rect">
            <a:avLst/>
          </a:prstGeom>
          <a:noFill/>
          <a:ln w="9525">
            <a:noFill/>
            <a:miter lim="800000"/>
            <a:headEnd/>
            <a:tailEnd/>
          </a:ln>
        </p:spPr>
      </p:pic>
      <p:sp>
        <p:nvSpPr>
          <p:cNvPr id="18" name="Footer Placeholder 4"/>
          <p:cNvSpPr>
            <a:spLocks noGrp="1"/>
          </p:cNvSpPr>
          <p:nvPr>
            <p:ph type="ftr" sz="quarter" idx="11"/>
          </p:nvPr>
        </p:nvSpPr>
        <p:spPr>
          <a:xfrm>
            <a:off x="1828800" y="6355080"/>
            <a:ext cx="6172200" cy="365760"/>
          </a:xfrm>
        </p:spPr>
        <p:txBody>
          <a:bodyPr/>
          <a:lstStyle/>
          <a:p>
            <a:pPr algn="ct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List of Microprocessors</a:t>
            </a:r>
          </a:p>
        </p:txBody>
      </p:sp>
      <p:sp>
        <p:nvSpPr>
          <p:cNvPr id="3" name="Slide Number Placeholder 2"/>
          <p:cNvSpPr>
            <a:spLocks noGrp="1"/>
          </p:cNvSpPr>
          <p:nvPr>
            <p:ph type="sldNum" sz="quarter" idx="12"/>
          </p:nvPr>
        </p:nvSpPr>
        <p:spPr/>
        <p:txBody>
          <a:bodyPr/>
          <a:lstStyle/>
          <a:p>
            <a:fld id="{B6F15528-21DE-4FAA-801E-634DDDAF4B2B}" type="slidenum">
              <a:rPr lang="en-US" smtClean="0">
                <a:solidFill>
                  <a:schemeClr val="tx1"/>
                </a:solidFill>
              </a:rPr>
              <a:pPr/>
              <a:t>11</a:t>
            </a:fld>
            <a:endParaRPr lang="en-US">
              <a:solidFill>
                <a:schemeClr val="tx1"/>
              </a:solidFill>
            </a:endParaRPr>
          </a:p>
        </p:txBody>
      </p:sp>
      <p:sp>
        <p:nvSpPr>
          <p:cNvPr id="6" name="Text Box 7"/>
          <p:cNvSpPr txBox="1">
            <a:spLocks noChangeArrowheads="1"/>
          </p:cNvSpPr>
          <p:nvPr/>
        </p:nvSpPr>
        <p:spPr bwMode="auto">
          <a:xfrm>
            <a:off x="782638" y="1440090"/>
            <a:ext cx="7527925" cy="400110"/>
          </a:xfrm>
          <a:prstGeom prst="rect">
            <a:avLst/>
          </a:prstGeom>
          <a:noFill/>
          <a:ln w="9525">
            <a:noFill/>
            <a:miter lim="800000"/>
            <a:headEnd/>
            <a:tailEnd/>
          </a:ln>
          <a:effectLst/>
        </p:spPr>
        <p:txBody>
          <a:bodyPr>
            <a:spAutoFit/>
          </a:bodyPr>
          <a:lstStyle/>
          <a:p>
            <a:pPr eaLnBrk="0" hangingPunct="0">
              <a:spcBef>
                <a:spcPct val="50000"/>
              </a:spcBef>
            </a:pPr>
            <a:r>
              <a:rPr lang="en-US" sz="2000" b="1" dirty="0"/>
              <a:t>1971</a:t>
            </a:r>
            <a:r>
              <a:rPr lang="en-US" sz="2000" dirty="0"/>
              <a:t> - Intel 4004, 1st single chip CPU, 4-bit processor, 46 instructions</a:t>
            </a:r>
          </a:p>
        </p:txBody>
      </p:sp>
      <p:sp>
        <p:nvSpPr>
          <p:cNvPr id="7" name="Text Box 8"/>
          <p:cNvSpPr txBox="1">
            <a:spLocks noChangeArrowheads="1"/>
          </p:cNvSpPr>
          <p:nvPr/>
        </p:nvSpPr>
        <p:spPr bwMode="auto">
          <a:xfrm>
            <a:off x="782638" y="1751013"/>
            <a:ext cx="7527925" cy="400110"/>
          </a:xfrm>
          <a:prstGeom prst="rect">
            <a:avLst/>
          </a:prstGeom>
          <a:noFill/>
          <a:ln w="9525">
            <a:noFill/>
            <a:miter lim="800000"/>
            <a:headEnd/>
            <a:tailEnd/>
          </a:ln>
          <a:effectLst/>
        </p:spPr>
        <p:txBody>
          <a:bodyPr>
            <a:spAutoFit/>
          </a:bodyPr>
          <a:lstStyle/>
          <a:p>
            <a:pPr eaLnBrk="0" hangingPunct="0">
              <a:spcBef>
                <a:spcPct val="50000"/>
              </a:spcBef>
            </a:pPr>
            <a:r>
              <a:rPr lang="en-US" sz="2000" b="1" dirty="0"/>
              <a:t>1972</a:t>
            </a:r>
            <a:r>
              <a:rPr lang="en-US" sz="2000" dirty="0"/>
              <a:t> - Intel 4040, enhanced 4004, 60 instructions</a:t>
            </a:r>
          </a:p>
        </p:txBody>
      </p:sp>
      <p:sp>
        <p:nvSpPr>
          <p:cNvPr id="8" name="Rectangle 9"/>
          <p:cNvSpPr>
            <a:spLocks noChangeArrowheads="1"/>
          </p:cNvSpPr>
          <p:nvPr/>
        </p:nvSpPr>
        <p:spPr bwMode="auto">
          <a:xfrm>
            <a:off x="790575" y="2139950"/>
            <a:ext cx="2920992" cy="400110"/>
          </a:xfrm>
          <a:prstGeom prst="rect">
            <a:avLst/>
          </a:prstGeom>
          <a:noFill/>
          <a:ln w="9525">
            <a:noFill/>
            <a:miter lim="800000"/>
            <a:headEnd/>
            <a:tailEnd/>
          </a:ln>
          <a:effectLst/>
        </p:spPr>
        <p:txBody>
          <a:bodyPr wrap="none">
            <a:spAutoFit/>
          </a:bodyPr>
          <a:lstStyle/>
          <a:p>
            <a:pPr eaLnBrk="0" hangingPunct="0"/>
            <a:r>
              <a:rPr lang="en-US" sz="2000" b="1" dirty="0"/>
              <a:t>1972</a:t>
            </a:r>
            <a:r>
              <a:rPr lang="en-US" sz="2000" dirty="0"/>
              <a:t> - Intel 8008, 8-bit </a:t>
            </a:r>
            <a:r>
              <a:rPr lang="en-US" sz="2000" dirty="0">
                <a:sym typeface="Symbol" pitchFamily="18" charset="2"/>
              </a:rPr>
              <a:t>P</a:t>
            </a:r>
          </a:p>
        </p:txBody>
      </p:sp>
      <p:sp>
        <p:nvSpPr>
          <p:cNvPr id="9" name="Rectangle 10"/>
          <p:cNvSpPr>
            <a:spLocks noChangeArrowheads="1"/>
          </p:cNvSpPr>
          <p:nvPr/>
        </p:nvSpPr>
        <p:spPr bwMode="auto">
          <a:xfrm>
            <a:off x="787400" y="2555875"/>
            <a:ext cx="5931560" cy="400110"/>
          </a:xfrm>
          <a:prstGeom prst="rect">
            <a:avLst/>
          </a:prstGeom>
          <a:noFill/>
          <a:ln w="9525">
            <a:noFill/>
            <a:miter lim="800000"/>
            <a:headEnd/>
            <a:tailEnd/>
          </a:ln>
          <a:effectLst/>
        </p:spPr>
        <p:txBody>
          <a:bodyPr wrap="none">
            <a:spAutoFit/>
          </a:bodyPr>
          <a:lstStyle/>
          <a:p>
            <a:pPr eaLnBrk="0" hangingPunct="0"/>
            <a:r>
              <a:rPr lang="en-US" sz="2000" b="1" dirty="0"/>
              <a:t>1972</a:t>
            </a:r>
            <a:r>
              <a:rPr lang="en-US" sz="2000" dirty="0"/>
              <a:t> - Texas Instrument TMS 1000, 1st single </a:t>
            </a:r>
            <a:r>
              <a:rPr lang="en-US" sz="2000" dirty="0">
                <a:sym typeface="Symbol" pitchFamily="18" charset="2"/>
              </a:rPr>
              <a:t></a:t>
            </a:r>
            <a:r>
              <a:rPr lang="en-US" sz="2000" dirty="0"/>
              <a:t>C, 4-bit</a:t>
            </a:r>
          </a:p>
        </p:txBody>
      </p:sp>
      <p:sp>
        <p:nvSpPr>
          <p:cNvPr id="10" name="Rectangle 11"/>
          <p:cNvSpPr>
            <a:spLocks noChangeArrowheads="1"/>
          </p:cNvSpPr>
          <p:nvPr/>
        </p:nvSpPr>
        <p:spPr bwMode="auto">
          <a:xfrm>
            <a:off x="788988" y="2957513"/>
            <a:ext cx="6463629" cy="400110"/>
          </a:xfrm>
          <a:prstGeom prst="rect">
            <a:avLst/>
          </a:prstGeom>
          <a:noFill/>
          <a:ln w="9525">
            <a:noFill/>
            <a:miter lim="800000"/>
            <a:headEnd/>
            <a:tailEnd/>
          </a:ln>
          <a:effectLst/>
        </p:spPr>
        <p:txBody>
          <a:bodyPr wrap="none">
            <a:spAutoFit/>
          </a:bodyPr>
          <a:lstStyle/>
          <a:p>
            <a:pPr eaLnBrk="0" hangingPunct="0"/>
            <a:r>
              <a:rPr lang="en-US" sz="2000" b="1" dirty="0"/>
              <a:t>1974</a:t>
            </a:r>
            <a:r>
              <a:rPr lang="en-US" sz="2000" dirty="0"/>
              <a:t> - Intel 8080, successor to the 8008, used in Altair 8800</a:t>
            </a:r>
          </a:p>
        </p:txBody>
      </p:sp>
      <p:sp>
        <p:nvSpPr>
          <p:cNvPr id="11" name="Rectangle 12"/>
          <p:cNvSpPr>
            <a:spLocks noChangeArrowheads="1"/>
          </p:cNvSpPr>
          <p:nvPr/>
        </p:nvSpPr>
        <p:spPr bwMode="auto">
          <a:xfrm>
            <a:off x="784225" y="3368675"/>
            <a:ext cx="4920258" cy="400110"/>
          </a:xfrm>
          <a:prstGeom prst="rect">
            <a:avLst/>
          </a:prstGeom>
          <a:noFill/>
          <a:ln w="9525">
            <a:noFill/>
            <a:miter lim="800000"/>
            <a:headEnd/>
            <a:tailEnd/>
          </a:ln>
          <a:effectLst/>
        </p:spPr>
        <p:txBody>
          <a:bodyPr wrap="none">
            <a:spAutoFit/>
          </a:bodyPr>
          <a:lstStyle/>
          <a:p>
            <a:pPr eaLnBrk="0" hangingPunct="0"/>
            <a:r>
              <a:rPr lang="en-US" sz="2000" b="1" dirty="0"/>
              <a:t>1975 </a:t>
            </a:r>
            <a:r>
              <a:rPr lang="en-US" sz="2000" dirty="0"/>
              <a:t>- Motorola 6800, used MOS technology</a:t>
            </a:r>
          </a:p>
        </p:txBody>
      </p:sp>
      <p:sp>
        <p:nvSpPr>
          <p:cNvPr id="12" name="Rectangle 13"/>
          <p:cNvSpPr>
            <a:spLocks noChangeArrowheads="1"/>
          </p:cNvSpPr>
          <p:nvPr/>
        </p:nvSpPr>
        <p:spPr bwMode="auto">
          <a:xfrm>
            <a:off x="790575" y="3770313"/>
            <a:ext cx="5506829" cy="400110"/>
          </a:xfrm>
          <a:prstGeom prst="rect">
            <a:avLst/>
          </a:prstGeom>
          <a:noFill/>
          <a:ln w="9525">
            <a:noFill/>
            <a:miter lim="800000"/>
            <a:headEnd/>
            <a:tailEnd/>
          </a:ln>
          <a:effectLst/>
        </p:spPr>
        <p:txBody>
          <a:bodyPr wrap="none">
            <a:spAutoFit/>
          </a:bodyPr>
          <a:lstStyle/>
          <a:p>
            <a:pPr eaLnBrk="0" hangingPunct="0"/>
            <a:r>
              <a:rPr lang="en-US" sz="2000" b="1"/>
              <a:t>1976</a:t>
            </a:r>
            <a:r>
              <a:rPr lang="en-US" sz="2000"/>
              <a:t> - Intel 8085, updated 8080, +5V power supply</a:t>
            </a:r>
          </a:p>
        </p:txBody>
      </p:sp>
      <p:sp>
        <p:nvSpPr>
          <p:cNvPr id="13" name="Rectangle 14"/>
          <p:cNvSpPr>
            <a:spLocks noChangeArrowheads="1"/>
          </p:cNvSpPr>
          <p:nvPr/>
        </p:nvSpPr>
        <p:spPr bwMode="auto">
          <a:xfrm>
            <a:off x="784225" y="4192588"/>
            <a:ext cx="3629520" cy="400110"/>
          </a:xfrm>
          <a:prstGeom prst="rect">
            <a:avLst/>
          </a:prstGeom>
          <a:noFill/>
          <a:ln w="9525">
            <a:noFill/>
            <a:miter lim="800000"/>
            <a:headEnd/>
            <a:tailEnd/>
          </a:ln>
          <a:effectLst/>
        </p:spPr>
        <p:txBody>
          <a:bodyPr wrap="none">
            <a:spAutoFit/>
          </a:bodyPr>
          <a:lstStyle/>
          <a:p>
            <a:pPr eaLnBrk="0" hangingPunct="0"/>
            <a:r>
              <a:rPr lang="en-US" sz="2000" b="1"/>
              <a:t>1976</a:t>
            </a:r>
            <a:r>
              <a:rPr lang="en-US" sz="2000"/>
              <a:t> - Zilog Z80, improved 8080</a:t>
            </a:r>
          </a:p>
        </p:txBody>
      </p:sp>
      <p:sp>
        <p:nvSpPr>
          <p:cNvPr id="15" name="Rectangle 16"/>
          <p:cNvSpPr>
            <a:spLocks noChangeArrowheads="1"/>
          </p:cNvSpPr>
          <p:nvPr/>
        </p:nvSpPr>
        <p:spPr bwMode="auto">
          <a:xfrm>
            <a:off x="784225" y="4584700"/>
            <a:ext cx="3822393" cy="400110"/>
          </a:xfrm>
          <a:prstGeom prst="rect">
            <a:avLst/>
          </a:prstGeom>
          <a:noFill/>
          <a:ln w="9525">
            <a:noFill/>
            <a:miter lim="800000"/>
            <a:headEnd/>
            <a:tailEnd/>
          </a:ln>
          <a:effectLst/>
        </p:spPr>
        <p:txBody>
          <a:bodyPr wrap="none">
            <a:spAutoFit/>
          </a:bodyPr>
          <a:lstStyle/>
          <a:p>
            <a:pPr eaLnBrk="0" hangingPunct="0"/>
            <a:r>
              <a:rPr lang="en-US" sz="2000" b="1"/>
              <a:t>1976</a:t>
            </a:r>
            <a:r>
              <a:rPr lang="en-US" sz="2000"/>
              <a:t> - TI TMS 9900, 1st 16-bit </a:t>
            </a:r>
            <a:r>
              <a:rPr lang="en-US" sz="2000">
                <a:sym typeface="Symbol" pitchFamily="18" charset="2"/>
              </a:rPr>
              <a:t>P</a:t>
            </a:r>
            <a:r>
              <a:rPr lang="en-US" sz="2000"/>
              <a:t> </a:t>
            </a:r>
          </a:p>
        </p:txBody>
      </p:sp>
      <p:sp>
        <p:nvSpPr>
          <p:cNvPr id="16" name="Rectangle 18"/>
          <p:cNvSpPr>
            <a:spLocks noChangeArrowheads="1"/>
          </p:cNvSpPr>
          <p:nvPr/>
        </p:nvSpPr>
        <p:spPr bwMode="auto">
          <a:xfrm>
            <a:off x="771525" y="4964113"/>
            <a:ext cx="5133265" cy="400110"/>
          </a:xfrm>
          <a:prstGeom prst="rect">
            <a:avLst/>
          </a:prstGeom>
          <a:noFill/>
          <a:ln w="9525">
            <a:noFill/>
            <a:miter lim="800000"/>
            <a:headEnd/>
            <a:tailEnd/>
          </a:ln>
          <a:effectLst/>
        </p:spPr>
        <p:txBody>
          <a:bodyPr wrap="none">
            <a:spAutoFit/>
          </a:bodyPr>
          <a:lstStyle/>
          <a:p>
            <a:pPr eaLnBrk="0" hangingPunct="0"/>
            <a:r>
              <a:rPr lang="en-US" sz="2000" b="1"/>
              <a:t>1978</a:t>
            </a:r>
            <a:r>
              <a:rPr lang="en-US" sz="2000"/>
              <a:t> - </a:t>
            </a:r>
            <a:r>
              <a:rPr lang="en-US" sz="2000">
                <a:sym typeface="Symbol" pitchFamily="18" charset="2"/>
              </a:rPr>
              <a:t>Zilog Z8000, Motorola 68000, </a:t>
            </a:r>
            <a:r>
              <a:rPr lang="en-US" sz="2000"/>
              <a:t>16-bit </a:t>
            </a:r>
            <a:r>
              <a:rPr lang="en-US" sz="2000">
                <a:sym typeface="Symbol" pitchFamily="18" charset="2"/>
              </a:rPr>
              <a:t>P</a:t>
            </a:r>
            <a:r>
              <a:rPr lang="en-US" sz="2000"/>
              <a:t> </a:t>
            </a:r>
          </a:p>
        </p:txBody>
      </p:sp>
      <p:sp>
        <p:nvSpPr>
          <p:cNvPr id="17" name="Rectangle 19"/>
          <p:cNvSpPr>
            <a:spLocks noChangeArrowheads="1"/>
          </p:cNvSpPr>
          <p:nvPr/>
        </p:nvSpPr>
        <p:spPr bwMode="auto">
          <a:xfrm>
            <a:off x="769938" y="5368925"/>
            <a:ext cx="4466544" cy="400110"/>
          </a:xfrm>
          <a:prstGeom prst="rect">
            <a:avLst/>
          </a:prstGeom>
          <a:noFill/>
          <a:ln w="9525">
            <a:noFill/>
            <a:miter lim="800000"/>
            <a:headEnd/>
            <a:tailEnd/>
          </a:ln>
          <a:effectLst/>
        </p:spPr>
        <p:txBody>
          <a:bodyPr wrap="none">
            <a:spAutoFit/>
          </a:bodyPr>
          <a:lstStyle/>
          <a:p>
            <a:pPr eaLnBrk="0" hangingPunct="0"/>
            <a:r>
              <a:rPr lang="en-US" sz="2000" b="1"/>
              <a:t>1978</a:t>
            </a:r>
            <a:r>
              <a:rPr lang="en-US" sz="2000"/>
              <a:t> - Intel 8086, 16-bit, IBM’s choice...</a:t>
            </a:r>
            <a:r>
              <a:rPr lang="en-US" sz="2000">
                <a:sym typeface="Symbol" pitchFamily="18" charset="2"/>
              </a:rPr>
              <a:t> </a:t>
            </a:r>
          </a:p>
        </p:txBody>
      </p:sp>
      <p:sp>
        <p:nvSpPr>
          <p:cNvPr id="19" name="Footer Placeholder 4"/>
          <p:cNvSpPr>
            <a:spLocks noGrp="1"/>
          </p:cNvSpPr>
          <p:nvPr>
            <p:ph type="ftr" sz="quarter" idx="11"/>
          </p:nvPr>
        </p:nvSpPr>
        <p:spPr>
          <a:xfrm>
            <a:off x="1828800" y="6355080"/>
            <a:ext cx="6172200" cy="365760"/>
          </a:xfrm>
        </p:spPr>
        <p:txBody>
          <a:bodyPr/>
          <a:lstStyle/>
          <a:p>
            <a:pPr algn="ct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tx1"/>
                </a:solidFill>
              </a:rPr>
              <a:t>Microcontroller (</a:t>
            </a:r>
            <a:r>
              <a:rPr lang="en-US" b="1" dirty="0">
                <a:solidFill>
                  <a:schemeClr val="tx1"/>
                </a:solidFill>
                <a:latin typeface="Times New Roman" pitchFamily="18" charset="0"/>
                <a:sym typeface="Symbol" pitchFamily="18" charset="2"/>
              </a:rPr>
              <a:t>C</a:t>
            </a:r>
            <a:r>
              <a:rPr lang="en-US" b="1" dirty="0">
                <a:solidFill>
                  <a:schemeClr val="tx1"/>
                </a:solidFill>
              </a:rPr>
              <a:t>)</a:t>
            </a:r>
          </a:p>
        </p:txBody>
      </p:sp>
      <p:sp>
        <p:nvSpPr>
          <p:cNvPr id="3" name="Slide Number Placeholder 2"/>
          <p:cNvSpPr>
            <a:spLocks noGrp="1"/>
          </p:cNvSpPr>
          <p:nvPr>
            <p:ph type="sldNum" sz="quarter" idx="12"/>
          </p:nvPr>
        </p:nvSpPr>
        <p:spPr/>
        <p:txBody>
          <a:bodyPr/>
          <a:lstStyle/>
          <a:p>
            <a:fld id="{B6F15528-21DE-4FAA-801E-634DDDAF4B2B}" type="slidenum">
              <a:rPr lang="en-US" smtClean="0">
                <a:solidFill>
                  <a:schemeClr val="tx1"/>
                </a:solidFill>
              </a:rPr>
              <a:pPr/>
              <a:t>12</a:t>
            </a:fld>
            <a:endParaRPr lang="en-US">
              <a:solidFill>
                <a:schemeClr val="tx1"/>
              </a:solidFill>
            </a:endParaRPr>
          </a:p>
        </p:txBody>
      </p:sp>
      <p:sp>
        <p:nvSpPr>
          <p:cNvPr id="4" name="Content Placeholder 3"/>
          <p:cNvSpPr>
            <a:spLocks noGrp="1"/>
          </p:cNvSpPr>
          <p:nvPr>
            <p:ph sz="quarter" idx="1"/>
          </p:nvPr>
        </p:nvSpPr>
        <p:spPr>
          <a:xfrm>
            <a:off x="457200" y="1219200"/>
            <a:ext cx="4267200" cy="4937760"/>
          </a:xfrm>
        </p:spPr>
        <p:txBody>
          <a:bodyPr>
            <a:noAutofit/>
          </a:bodyPr>
          <a:lstStyle/>
          <a:p>
            <a:r>
              <a:rPr lang="en-GB" sz="2400" b="1" dirty="0"/>
              <a:t>Microcontroller</a:t>
            </a:r>
            <a:r>
              <a:rPr lang="en-GB" sz="2400" dirty="0"/>
              <a:t> is an IC d</a:t>
            </a:r>
            <a:r>
              <a:rPr lang="en-GB" sz="2400" dirty="0">
                <a:solidFill>
                  <a:schemeClr val="tx1"/>
                </a:solidFill>
              </a:rPr>
              <a:t>edicated to perform </a:t>
            </a:r>
            <a:r>
              <a:rPr lang="en-GB" sz="2400" dirty="0"/>
              <a:t>simpler</a:t>
            </a:r>
            <a:r>
              <a:rPr lang="en-GB" sz="2400" dirty="0">
                <a:solidFill>
                  <a:schemeClr val="tx1"/>
                </a:solidFill>
              </a:rPr>
              <a:t> tasks. </a:t>
            </a:r>
          </a:p>
          <a:p>
            <a:pPr marL="0" indent="0">
              <a:buNone/>
            </a:pPr>
            <a:endParaRPr lang="en-GB" sz="2400" dirty="0">
              <a:solidFill>
                <a:schemeClr val="tx1"/>
              </a:solidFill>
            </a:endParaRPr>
          </a:p>
          <a:p>
            <a:pPr lvl="1"/>
            <a:r>
              <a:rPr lang="en-GB" sz="2200" dirty="0">
                <a:solidFill>
                  <a:schemeClr val="tx1"/>
                </a:solidFill>
              </a:rPr>
              <a:t>A microcontroller is the integration of </a:t>
            </a:r>
          </a:p>
          <a:p>
            <a:pPr lvl="2"/>
            <a:r>
              <a:rPr lang="en-GB" dirty="0"/>
              <a:t>Processor</a:t>
            </a:r>
          </a:p>
          <a:p>
            <a:pPr lvl="2"/>
            <a:r>
              <a:rPr lang="en-GB" dirty="0"/>
              <a:t>Memory (RAM, ROM)</a:t>
            </a:r>
          </a:p>
          <a:p>
            <a:pPr lvl="2"/>
            <a:r>
              <a:rPr lang="en-GB" dirty="0"/>
              <a:t>I/O ports</a:t>
            </a:r>
            <a:r>
              <a:rPr lang="en-GB" sz="2000" dirty="0"/>
              <a:t> </a:t>
            </a:r>
          </a:p>
        </p:txBody>
      </p:sp>
      <p:grpSp>
        <p:nvGrpSpPr>
          <p:cNvPr id="6" name="Group 37"/>
          <p:cNvGrpSpPr>
            <a:grpSpLocks/>
          </p:cNvGrpSpPr>
          <p:nvPr/>
        </p:nvGrpSpPr>
        <p:grpSpPr bwMode="auto">
          <a:xfrm>
            <a:off x="4343400" y="1858963"/>
            <a:ext cx="4648200" cy="3551237"/>
            <a:chOff x="787" y="230"/>
            <a:chExt cx="4109" cy="2957"/>
          </a:xfrm>
        </p:grpSpPr>
        <p:pic>
          <p:nvPicPr>
            <p:cNvPr id="7" name="Picture 8" descr="D:\Ecp2042\homepage\images\IC.jpg"/>
            <p:cNvPicPr>
              <a:picLocks noChangeAspect="1" noChangeArrowheads="1"/>
            </p:cNvPicPr>
            <p:nvPr/>
          </p:nvPicPr>
          <p:blipFill>
            <a:blip r:embed="rId2" cstate="print"/>
            <a:srcRect/>
            <a:stretch>
              <a:fillRect/>
            </a:stretch>
          </p:blipFill>
          <p:spPr bwMode="auto">
            <a:xfrm>
              <a:off x="4214" y="2679"/>
              <a:ext cx="682" cy="508"/>
            </a:xfrm>
            <a:prstGeom prst="rect">
              <a:avLst/>
            </a:prstGeom>
            <a:noFill/>
          </p:spPr>
        </p:pic>
        <p:sp>
          <p:nvSpPr>
            <p:cNvPr id="8" name="Line 13"/>
            <p:cNvSpPr>
              <a:spLocks noChangeShapeType="1"/>
            </p:cNvSpPr>
            <p:nvPr/>
          </p:nvSpPr>
          <p:spPr bwMode="auto">
            <a:xfrm>
              <a:off x="3629" y="819"/>
              <a:ext cx="1266" cy="1867"/>
            </a:xfrm>
            <a:prstGeom prst="line">
              <a:avLst/>
            </a:prstGeom>
            <a:noFill/>
            <a:ln w="9525">
              <a:solidFill>
                <a:schemeClr val="tx1"/>
              </a:solidFill>
              <a:round/>
              <a:headEnd/>
              <a:tailEnd/>
            </a:ln>
            <a:effectLst/>
          </p:spPr>
          <p:txBody>
            <a:bodyPr wrap="none" anchor="ctr"/>
            <a:lstStyle/>
            <a:p>
              <a:endParaRPr lang="en-US"/>
            </a:p>
          </p:txBody>
        </p:sp>
        <p:sp>
          <p:nvSpPr>
            <p:cNvPr id="9" name="Line 14"/>
            <p:cNvSpPr>
              <a:spLocks noChangeShapeType="1"/>
            </p:cNvSpPr>
            <p:nvPr/>
          </p:nvSpPr>
          <p:spPr bwMode="auto">
            <a:xfrm>
              <a:off x="2238" y="3084"/>
              <a:ext cx="1977" cy="78"/>
            </a:xfrm>
            <a:prstGeom prst="line">
              <a:avLst/>
            </a:prstGeom>
            <a:noFill/>
            <a:ln w="9525">
              <a:solidFill>
                <a:schemeClr val="tx1"/>
              </a:solidFill>
              <a:round/>
              <a:headEnd/>
              <a:tailEnd/>
            </a:ln>
            <a:effectLst/>
          </p:spPr>
          <p:txBody>
            <a:bodyPr wrap="none" anchor="ctr"/>
            <a:lstStyle/>
            <a:p>
              <a:endParaRPr lang="en-US"/>
            </a:p>
          </p:txBody>
        </p:sp>
        <p:grpSp>
          <p:nvGrpSpPr>
            <p:cNvPr id="10" name="Group 35"/>
            <p:cNvGrpSpPr>
              <a:grpSpLocks/>
            </p:cNvGrpSpPr>
            <p:nvPr/>
          </p:nvGrpSpPr>
          <p:grpSpPr bwMode="auto">
            <a:xfrm>
              <a:off x="884" y="812"/>
              <a:ext cx="2788" cy="2046"/>
              <a:chOff x="288" y="754"/>
              <a:chExt cx="3527" cy="2536"/>
            </a:xfrm>
          </p:grpSpPr>
          <p:grpSp>
            <p:nvGrpSpPr>
              <p:cNvPr id="12" name="Group 23"/>
              <p:cNvGrpSpPr>
                <a:grpSpLocks/>
              </p:cNvGrpSpPr>
              <p:nvPr/>
            </p:nvGrpSpPr>
            <p:grpSpPr bwMode="auto">
              <a:xfrm>
                <a:off x="1443" y="2142"/>
                <a:ext cx="1345" cy="1148"/>
                <a:chOff x="2368" y="2508"/>
                <a:chExt cx="1345" cy="1148"/>
              </a:xfrm>
            </p:grpSpPr>
            <p:sp>
              <p:nvSpPr>
                <p:cNvPr id="22" name="Oval 24"/>
                <p:cNvSpPr>
                  <a:spLocks noChangeArrowheads="1"/>
                </p:cNvSpPr>
                <p:nvPr/>
              </p:nvSpPr>
              <p:spPr bwMode="auto">
                <a:xfrm>
                  <a:off x="2368" y="2508"/>
                  <a:ext cx="1345" cy="1148"/>
                </a:xfrm>
                <a:prstGeom prst="ellipse">
                  <a:avLst/>
                </a:prstGeom>
                <a:solidFill>
                  <a:srgbClr val="FFFFCC"/>
                </a:solidFill>
                <a:ln w="9525">
                  <a:solidFill>
                    <a:schemeClr val="tx1"/>
                  </a:solidFill>
                  <a:round/>
                  <a:headEnd/>
                  <a:tailEnd/>
                </a:ln>
                <a:effectLst/>
              </p:spPr>
              <p:txBody>
                <a:bodyPr wrap="none" anchor="ctr"/>
                <a:lstStyle/>
                <a:p>
                  <a:endParaRPr lang="en-US"/>
                </a:p>
              </p:txBody>
            </p:sp>
            <p:sp>
              <p:nvSpPr>
                <p:cNvPr id="23" name="Text Box 25"/>
                <p:cNvSpPr txBox="1">
                  <a:spLocks noChangeArrowheads="1"/>
                </p:cNvSpPr>
                <p:nvPr/>
              </p:nvSpPr>
              <p:spPr bwMode="auto">
                <a:xfrm>
                  <a:off x="2578" y="2942"/>
                  <a:ext cx="902" cy="302"/>
                </a:xfrm>
                <a:prstGeom prst="rect">
                  <a:avLst/>
                </a:prstGeom>
                <a:solidFill>
                  <a:srgbClr val="FFFFCC"/>
                </a:solidFill>
                <a:ln w="9525">
                  <a:noFill/>
                  <a:miter lim="800000"/>
                  <a:headEnd/>
                  <a:tailEnd/>
                </a:ln>
                <a:effectLst/>
              </p:spPr>
              <p:txBody>
                <a:bodyPr>
                  <a:spAutoFit/>
                </a:bodyPr>
                <a:lstStyle/>
                <a:p>
                  <a:pPr algn="ctr" eaLnBrk="0" hangingPunct="0">
                    <a:spcBef>
                      <a:spcPct val="50000"/>
                    </a:spcBef>
                  </a:pPr>
                  <a:r>
                    <a:rPr lang="en-US" sz="1300">
                      <a:latin typeface="Times New Roman" pitchFamily="18" charset="0"/>
                    </a:rPr>
                    <a:t>CPU</a:t>
                  </a:r>
                </a:p>
              </p:txBody>
            </p:sp>
          </p:grpSp>
          <p:grpSp>
            <p:nvGrpSpPr>
              <p:cNvPr id="13" name="Group 26"/>
              <p:cNvGrpSpPr>
                <a:grpSpLocks/>
              </p:cNvGrpSpPr>
              <p:nvPr/>
            </p:nvGrpSpPr>
            <p:grpSpPr bwMode="auto">
              <a:xfrm>
                <a:off x="2470" y="754"/>
                <a:ext cx="1345" cy="1148"/>
                <a:chOff x="3432" y="1244"/>
                <a:chExt cx="1345" cy="1148"/>
              </a:xfrm>
            </p:grpSpPr>
            <p:sp>
              <p:nvSpPr>
                <p:cNvPr id="20" name="Oval 27"/>
                <p:cNvSpPr>
                  <a:spLocks noChangeArrowheads="1"/>
                </p:cNvSpPr>
                <p:nvPr/>
              </p:nvSpPr>
              <p:spPr bwMode="auto">
                <a:xfrm>
                  <a:off x="3432" y="1244"/>
                  <a:ext cx="1345" cy="1148"/>
                </a:xfrm>
                <a:prstGeom prst="ellipse">
                  <a:avLst/>
                </a:prstGeom>
                <a:solidFill>
                  <a:srgbClr val="FFFFCC"/>
                </a:solidFill>
                <a:ln w="9525">
                  <a:solidFill>
                    <a:schemeClr val="tx1"/>
                  </a:solidFill>
                  <a:round/>
                  <a:headEnd/>
                  <a:tailEnd/>
                </a:ln>
                <a:effectLst/>
              </p:spPr>
              <p:txBody>
                <a:bodyPr wrap="none" anchor="ctr"/>
                <a:lstStyle/>
                <a:p>
                  <a:endParaRPr lang="en-US"/>
                </a:p>
              </p:txBody>
            </p:sp>
            <p:sp>
              <p:nvSpPr>
                <p:cNvPr id="21" name="Text Box 28"/>
                <p:cNvSpPr txBox="1">
                  <a:spLocks noChangeArrowheads="1"/>
                </p:cNvSpPr>
                <p:nvPr/>
              </p:nvSpPr>
              <p:spPr bwMode="auto">
                <a:xfrm>
                  <a:off x="3606" y="1654"/>
                  <a:ext cx="1032" cy="302"/>
                </a:xfrm>
                <a:prstGeom prst="rect">
                  <a:avLst/>
                </a:prstGeom>
                <a:solidFill>
                  <a:srgbClr val="FFFFCC"/>
                </a:solidFill>
                <a:ln w="9525">
                  <a:noFill/>
                  <a:miter lim="800000"/>
                  <a:headEnd/>
                  <a:tailEnd/>
                </a:ln>
                <a:effectLst/>
              </p:spPr>
              <p:txBody>
                <a:bodyPr>
                  <a:spAutoFit/>
                </a:bodyPr>
                <a:lstStyle/>
                <a:p>
                  <a:pPr algn="ctr" eaLnBrk="0" hangingPunct="0">
                    <a:spcBef>
                      <a:spcPct val="50000"/>
                    </a:spcBef>
                  </a:pPr>
                  <a:r>
                    <a:rPr lang="en-US" sz="1300" dirty="0">
                      <a:latin typeface="Times New Roman" pitchFamily="18" charset="0"/>
                    </a:rPr>
                    <a:t>MEMORY</a:t>
                  </a:r>
                </a:p>
              </p:txBody>
            </p:sp>
          </p:grpSp>
          <p:grpSp>
            <p:nvGrpSpPr>
              <p:cNvPr id="14" name="Group 29"/>
              <p:cNvGrpSpPr>
                <a:grpSpLocks/>
              </p:cNvGrpSpPr>
              <p:nvPr/>
            </p:nvGrpSpPr>
            <p:grpSpPr bwMode="auto">
              <a:xfrm>
                <a:off x="288" y="1031"/>
                <a:ext cx="1345" cy="1148"/>
                <a:chOff x="2368" y="2508"/>
                <a:chExt cx="1345" cy="1148"/>
              </a:xfrm>
            </p:grpSpPr>
            <p:sp>
              <p:nvSpPr>
                <p:cNvPr id="18" name="Oval 30"/>
                <p:cNvSpPr>
                  <a:spLocks noChangeArrowheads="1"/>
                </p:cNvSpPr>
                <p:nvPr/>
              </p:nvSpPr>
              <p:spPr bwMode="auto">
                <a:xfrm>
                  <a:off x="2368" y="2508"/>
                  <a:ext cx="1345" cy="1148"/>
                </a:xfrm>
                <a:prstGeom prst="ellipse">
                  <a:avLst/>
                </a:prstGeom>
                <a:solidFill>
                  <a:srgbClr val="FFFFCC"/>
                </a:solidFill>
                <a:ln w="9525">
                  <a:solidFill>
                    <a:schemeClr val="tx1"/>
                  </a:solidFill>
                  <a:round/>
                  <a:headEnd/>
                  <a:tailEnd/>
                </a:ln>
                <a:effectLst/>
              </p:spPr>
              <p:txBody>
                <a:bodyPr wrap="none" anchor="ctr"/>
                <a:lstStyle/>
                <a:p>
                  <a:endParaRPr lang="en-US"/>
                </a:p>
              </p:txBody>
            </p:sp>
            <p:sp>
              <p:nvSpPr>
                <p:cNvPr id="19" name="Text Box 31"/>
                <p:cNvSpPr txBox="1">
                  <a:spLocks noChangeArrowheads="1"/>
                </p:cNvSpPr>
                <p:nvPr/>
              </p:nvSpPr>
              <p:spPr bwMode="auto">
                <a:xfrm>
                  <a:off x="2578" y="2940"/>
                  <a:ext cx="902" cy="302"/>
                </a:xfrm>
                <a:prstGeom prst="rect">
                  <a:avLst/>
                </a:prstGeom>
                <a:solidFill>
                  <a:srgbClr val="FFFFCC"/>
                </a:solidFill>
                <a:ln w="9525">
                  <a:noFill/>
                  <a:miter lim="800000"/>
                  <a:headEnd/>
                  <a:tailEnd/>
                </a:ln>
                <a:effectLst/>
              </p:spPr>
              <p:txBody>
                <a:bodyPr>
                  <a:spAutoFit/>
                </a:bodyPr>
                <a:lstStyle/>
                <a:p>
                  <a:pPr algn="ctr" eaLnBrk="0" hangingPunct="0">
                    <a:spcBef>
                      <a:spcPct val="50000"/>
                    </a:spcBef>
                  </a:pPr>
                  <a:r>
                    <a:rPr lang="en-US" sz="1300" dirty="0">
                      <a:latin typeface="Times New Roman" pitchFamily="18" charset="0"/>
                    </a:rPr>
                    <a:t>I/O</a:t>
                  </a:r>
                </a:p>
              </p:txBody>
            </p:sp>
          </p:grpSp>
          <p:grpSp>
            <p:nvGrpSpPr>
              <p:cNvPr id="15" name="Group 32"/>
              <p:cNvGrpSpPr>
                <a:grpSpLocks/>
              </p:cNvGrpSpPr>
              <p:nvPr/>
            </p:nvGrpSpPr>
            <p:grpSpPr bwMode="auto">
              <a:xfrm>
                <a:off x="1429" y="1236"/>
                <a:ext cx="1345" cy="1148"/>
                <a:chOff x="2341" y="2014"/>
                <a:chExt cx="1345" cy="1148"/>
              </a:xfrm>
            </p:grpSpPr>
            <p:sp>
              <p:nvSpPr>
                <p:cNvPr id="16" name="Oval 33"/>
                <p:cNvSpPr>
                  <a:spLocks noChangeArrowheads="1"/>
                </p:cNvSpPr>
                <p:nvPr/>
              </p:nvSpPr>
              <p:spPr bwMode="auto">
                <a:xfrm>
                  <a:off x="2341" y="2014"/>
                  <a:ext cx="1345" cy="1148"/>
                </a:xfrm>
                <a:prstGeom prst="ellipse">
                  <a:avLst/>
                </a:prstGeom>
                <a:noFill/>
                <a:ln w="9525">
                  <a:solidFill>
                    <a:schemeClr val="tx1"/>
                  </a:solidFill>
                  <a:round/>
                  <a:headEnd/>
                  <a:tailEnd/>
                </a:ln>
                <a:effectLst/>
              </p:spPr>
              <p:txBody>
                <a:bodyPr wrap="none" anchor="ctr"/>
                <a:lstStyle/>
                <a:p>
                  <a:endParaRPr lang="en-US"/>
                </a:p>
              </p:txBody>
            </p:sp>
            <p:sp>
              <p:nvSpPr>
                <p:cNvPr id="17" name="Text Box 34"/>
                <p:cNvSpPr txBox="1">
                  <a:spLocks noChangeArrowheads="1"/>
                </p:cNvSpPr>
                <p:nvPr/>
              </p:nvSpPr>
              <p:spPr bwMode="auto">
                <a:xfrm>
                  <a:off x="2563" y="2319"/>
                  <a:ext cx="1071" cy="508"/>
                </a:xfrm>
                <a:prstGeom prst="rect">
                  <a:avLst/>
                </a:prstGeom>
                <a:noFill/>
                <a:ln w="9525">
                  <a:noFill/>
                  <a:miter lim="800000"/>
                  <a:headEnd/>
                  <a:tailEnd/>
                </a:ln>
                <a:effectLst/>
              </p:spPr>
              <p:txBody>
                <a:bodyPr wrap="square">
                  <a:spAutoFit/>
                </a:bodyPr>
                <a:lstStyle/>
                <a:p>
                  <a:pPr algn="ctr" eaLnBrk="0" hangingPunct="0">
                    <a:spcBef>
                      <a:spcPct val="50000"/>
                    </a:spcBef>
                  </a:pPr>
                  <a:r>
                    <a:rPr lang="en-US" sz="1300" dirty="0">
                      <a:latin typeface="Times New Roman" pitchFamily="18" charset="0"/>
                    </a:rPr>
                    <a:t>SYSTEM BUS</a:t>
                  </a:r>
                </a:p>
              </p:txBody>
            </p:sp>
          </p:grpSp>
        </p:grpSp>
        <p:sp>
          <p:nvSpPr>
            <p:cNvPr id="11" name="Oval 36"/>
            <p:cNvSpPr>
              <a:spLocks noChangeArrowheads="1"/>
            </p:cNvSpPr>
            <p:nvPr/>
          </p:nvSpPr>
          <p:spPr bwMode="auto">
            <a:xfrm>
              <a:off x="787" y="230"/>
              <a:ext cx="3120" cy="2842"/>
            </a:xfrm>
            <a:prstGeom prst="ellipse">
              <a:avLst/>
            </a:prstGeom>
            <a:noFill/>
            <a:ln w="9525">
              <a:solidFill>
                <a:schemeClr val="tx1"/>
              </a:solidFill>
              <a:round/>
              <a:headEnd/>
              <a:tailEnd/>
            </a:ln>
            <a:effectLst/>
          </p:spPr>
          <p:txBody>
            <a:bodyPr wrap="none" anchor="ctr"/>
            <a:lstStyle/>
            <a:p>
              <a:endParaRPr lang="en-US"/>
            </a:p>
          </p:txBody>
        </p:sp>
      </p:grpSp>
      <p:sp>
        <p:nvSpPr>
          <p:cNvPr id="25" name="Footer Placeholder 4"/>
          <p:cNvSpPr>
            <a:spLocks noGrp="1"/>
          </p:cNvSpPr>
          <p:nvPr>
            <p:ph type="ftr" sz="quarter" idx="11"/>
          </p:nvPr>
        </p:nvSpPr>
        <p:spPr>
          <a:xfrm>
            <a:off x="1828800" y="6355080"/>
            <a:ext cx="6172200" cy="365760"/>
          </a:xfrm>
        </p:spPr>
        <p:txBody>
          <a:bodyPr/>
          <a:lstStyle/>
          <a:p>
            <a:pPr algn="ct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List of Microcontrollers</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13</a:t>
            </a:fld>
            <a:endParaRPr lang="en-US"/>
          </a:p>
        </p:txBody>
      </p:sp>
      <p:sp>
        <p:nvSpPr>
          <p:cNvPr id="6" name="Text Box 6"/>
          <p:cNvSpPr txBox="1">
            <a:spLocks noChangeArrowheads="1"/>
          </p:cNvSpPr>
          <p:nvPr/>
        </p:nvSpPr>
        <p:spPr bwMode="auto">
          <a:xfrm>
            <a:off x="760124" y="1217416"/>
            <a:ext cx="7527925" cy="461665"/>
          </a:xfrm>
          <a:prstGeom prst="rect">
            <a:avLst/>
          </a:prstGeom>
          <a:noFill/>
          <a:ln w="9525">
            <a:noFill/>
            <a:miter lim="800000"/>
            <a:headEnd/>
            <a:tailEnd/>
          </a:ln>
          <a:effectLst/>
        </p:spPr>
        <p:txBody>
          <a:bodyPr>
            <a:spAutoFit/>
          </a:bodyPr>
          <a:lstStyle/>
          <a:p>
            <a:pPr eaLnBrk="0" hangingPunct="0">
              <a:spcBef>
                <a:spcPct val="50000"/>
              </a:spcBef>
            </a:pPr>
            <a:r>
              <a:rPr lang="en-US" sz="2400" b="1" dirty="0"/>
              <a:t>1972</a:t>
            </a:r>
            <a:r>
              <a:rPr lang="en-US" sz="2400" dirty="0"/>
              <a:t> - Texas Instrument TMS 1000, 1st single </a:t>
            </a:r>
            <a:r>
              <a:rPr lang="en-US" sz="2400" dirty="0">
                <a:sym typeface="Symbol" pitchFamily="18" charset="2"/>
              </a:rPr>
              <a:t></a:t>
            </a:r>
            <a:r>
              <a:rPr lang="en-US" sz="2400" dirty="0"/>
              <a:t>C, 4-bit</a:t>
            </a:r>
          </a:p>
        </p:txBody>
      </p:sp>
      <p:sp>
        <p:nvSpPr>
          <p:cNvPr id="7" name="Text Box 7"/>
          <p:cNvSpPr txBox="1">
            <a:spLocks noChangeArrowheads="1"/>
          </p:cNvSpPr>
          <p:nvPr/>
        </p:nvSpPr>
        <p:spPr bwMode="auto">
          <a:xfrm>
            <a:off x="782638" y="1751013"/>
            <a:ext cx="7527925" cy="461665"/>
          </a:xfrm>
          <a:prstGeom prst="rect">
            <a:avLst/>
          </a:prstGeom>
          <a:noFill/>
          <a:ln w="9525">
            <a:noFill/>
            <a:miter lim="800000"/>
            <a:headEnd/>
            <a:tailEnd/>
          </a:ln>
          <a:effectLst/>
        </p:spPr>
        <p:txBody>
          <a:bodyPr>
            <a:spAutoFit/>
          </a:bodyPr>
          <a:lstStyle/>
          <a:p>
            <a:pPr eaLnBrk="0" hangingPunct="0">
              <a:spcBef>
                <a:spcPct val="50000"/>
              </a:spcBef>
            </a:pPr>
            <a:r>
              <a:rPr lang="en-US" sz="2400" b="1" dirty="0"/>
              <a:t>1976</a:t>
            </a:r>
            <a:r>
              <a:rPr lang="en-US" sz="2400" dirty="0"/>
              <a:t> - Intel 8048, 8-bit </a:t>
            </a:r>
            <a:r>
              <a:rPr lang="en-US" sz="2400" dirty="0">
                <a:sym typeface="Symbol" pitchFamily="18" charset="2"/>
              </a:rPr>
              <a:t></a:t>
            </a:r>
            <a:r>
              <a:rPr lang="en-US" sz="2400" dirty="0"/>
              <a:t>C, 1k ROM, 64b RAM, 27 I/O </a:t>
            </a:r>
          </a:p>
        </p:txBody>
      </p:sp>
      <p:sp>
        <p:nvSpPr>
          <p:cNvPr id="8" name="Rectangle 8"/>
          <p:cNvSpPr>
            <a:spLocks noChangeArrowheads="1"/>
          </p:cNvSpPr>
          <p:nvPr/>
        </p:nvSpPr>
        <p:spPr bwMode="auto">
          <a:xfrm>
            <a:off x="790575" y="2146300"/>
            <a:ext cx="8007577" cy="461665"/>
          </a:xfrm>
          <a:prstGeom prst="rect">
            <a:avLst/>
          </a:prstGeom>
          <a:noFill/>
          <a:ln w="9525">
            <a:noFill/>
            <a:miter lim="800000"/>
            <a:headEnd/>
            <a:tailEnd/>
          </a:ln>
          <a:effectLst/>
        </p:spPr>
        <p:txBody>
          <a:bodyPr wrap="none">
            <a:spAutoFit/>
          </a:bodyPr>
          <a:lstStyle/>
          <a:p>
            <a:pPr eaLnBrk="0" hangingPunct="0"/>
            <a:r>
              <a:rPr lang="en-US" sz="2400" b="1" dirty="0"/>
              <a:t>1980</a:t>
            </a:r>
            <a:r>
              <a:rPr lang="en-US" sz="2400" dirty="0"/>
              <a:t> - Intel 8051, 4k ROM, 128b RAM, 32 I/O, 2 16-bits timers</a:t>
            </a:r>
            <a:endParaRPr lang="en-US" sz="2400" dirty="0">
              <a:sym typeface="Symbol" pitchFamily="18" charset="2"/>
            </a:endParaRPr>
          </a:p>
        </p:txBody>
      </p:sp>
      <p:sp>
        <p:nvSpPr>
          <p:cNvPr id="9" name="Rectangle 9"/>
          <p:cNvSpPr>
            <a:spLocks noChangeArrowheads="1"/>
          </p:cNvSpPr>
          <p:nvPr/>
        </p:nvSpPr>
        <p:spPr bwMode="auto">
          <a:xfrm>
            <a:off x="787401" y="2562225"/>
            <a:ext cx="8356600" cy="3416320"/>
          </a:xfrm>
          <a:prstGeom prst="rect">
            <a:avLst/>
          </a:prstGeom>
          <a:noFill/>
          <a:ln w="9525">
            <a:noFill/>
            <a:miter lim="800000"/>
            <a:headEnd/>
            <a:tailEnd/>
          </a:ln>
          <a:effectLst/>
        </p:spPr>
        <p:txBody>
          <a:bodyPr wrap="square">
            <a:spAutoFit/>
          </a:bodyPr>
          <a:lstStyle/>
          <a:p>
            <a:pPr eaLnBrk="0" hangingPunct="0"/>
            <a:endParaRPr lang="en-US" sz="2400" b="1" dirty="0"/>
          </a:p>
          <a:p>
            <a:pPr eaLnBrk="0" hangingPunct="0"/>
            <a:r>
              <a:rPr lang="en-US" sz="2400" b="1" dirty="0"/>
              <a:t>1980s -</a:t>
            </a:r>
            <a:r>
              <a:rPr lang="en-US" sz="2400" dirty="0"/>
              <a:t>  </a:t>
            </a:r>
          </a:p>
          <a:p>
            <a:pPr eaLnBrk="0" hangingPunct="0"/>
            <a:r>
              <a:rPr lang="en-US" sz="2400" dirty="0"/>
              <a:t>(MCS-51 family)</a:t>
            </a:r>
          </a:p>
          <a:p>
            <a:pPr eaLnBrk="0" hangingPunct="0"/>
            <a:r>
              <a:rPr lang="en-US" sz="2400" dirty="0"/>
              <a:t>- Intel 8031, 8052, 8751, …</a:t>
            </a:r>
          </a:p>
          <a:p>
            <a:pPr eaLnBrk="0" hangingPunct="0"/>
            <a:r>
              <a:rPr lang="en-US" sz="2400" dirty="0"/>
              <a:t>- Atmel AT89C51, AT 89C1052/2051,…</a:t>
            </a:r>
          </a:p>
          <a:p>
            <a:pPr eaLnBrk="0" hangingPunct="0"/>
            <a:r>
              <a:rPr lang="en-US" sz="2400" dirty="0"/>
              <a:t>- Dallas Semiconductor DS5000 series…</a:t>
            </a:r>
          </a:p>
          <a:p>
            <a:pPr eaLnBrk="0" hangingPunct="0">
              <a:buFontTx/>
              <a:buChar char="-"/>
            </a:pPr>
            <a:r>
              <a:rPr lang="en-US" sz="2400" dirty="0"/>
              <a:t>Philips, National Semiconductor, …</a:t>
            </a:r>
          </a:p>
          <a:p>
            <a:pPr eaLnBrk="0" hangingPunct="0">
              <a:buFontTx/>
              <a:buChar char="-"/>
            </a:pPr>
            <a:r>
              <a:rPr lang="en-US" sz="2400" dirty="0"/>
              <a:t> Freescale S32K MCU, </a:t>
            </a:r>
            <a:r>
              <a:rPr lang="en-US" sz="2400" dirty="0" err="1"/>
              <a:t>Renesas</a:t>
            </a:r>
            <a:r>
              <a:rPr lang="en-US" sz="2400" dirty="0"/>
              <a:t> RL 78G1F			</a:t>
            </a:r>
          </a:p>
          <a:p>
            <a:pPr eaLnBrk="0" hangingPunct="0"/>
            <a:endParaRPr lang="en-US" sz="2400" dirty="0"/>
          </a:p>
        </p:txBody>
      </p:sp>
      <p:sp>
        <p:nvSpPr>
          <p:cNvPr id="12" name="Footer Placeholder 4"/>
          <p:cNvSpPr>
            <a:spLocks noGrp="1"/>
          </p:cNvSpPr>
          <p:nvPr>
            <p:ph type="ftr" sz="quarter" idx="11"/>
          </p:nvPr>
        </p:nvSpPr>
        <p:spPr>
          <a:xfrm>
            <a:off x="1828800" y="6355080"/>
            <a:ext cx="6172200" cy="365760"/>
          </a:xfrm>
        </p:spPr>
        <p:txBody>
          <a:bodyPr/>
          <a:lstStyle/>
          <a:p>
            <a:pPr algn="ct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41795"/>
            <a:ext cx="8229600" cy="990600"/>
          </a:xfrm>
        </p:spPr>
        <p:txBody>
          <a:bodyPr>
            <a:normAutofit/>
          </a:bodyPr>
          <a:lstStyle/>
          <a:p>
            <a:r>
              <a:rPr lang="en-US" sz="2800" dirty="0">
                <a:solidFill>
                  <a:schemeClr val="tx1"/>
                </a:solidFill>
                <a:latin typeface="Times New Roman" pitchFamily="18" charset="0"/>
              </a:rPr>
              <a:t>Microprocessor System Vs Microcontroller System</a:t>
            </a:r>
            <a:endParaRPr lang="en-US" sz="2800" dirty="0">
              <a:solidFill>
                <a:schemeClr val="tx1"/>
              </a:solidFill>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solidFill>
                  <a:schemeClr val="tx1"/>
                </a:solidFill>
              </a:rPr>
              <a:pPr/>
              <a:t>14</a:t>
            </a:fld>
            <a:endParaRPr lang="en-US">
              <a:solidFill>
                <a:schemeClr val="tx1"/>
              </a:solidFill>
            </a:endParaRPr>
          </a:p>
        </p:txBody>
      </p:sp>
      <p:sp>
        <p:nvSpPr>
          <p:cNvPr id="8" name="Footer Placeholder 4"/>
          <p:cNvSpPr>
            <a:spLocks noGrp="1"/>
          </p:cNvSpPr>
          <p:nvPr>
            <p:ph type="ftr" sz="quarter" idx="11"/>
          </p:nvPr>
        </p:nvSpPr>
        <p:spPr>
          <a:xfrm>
            <a:off x="1828800" y="6355080"/>
            <a:ext cx="6172200" cy="365760"/>
          </a:xfrm>
        </p:spPr>
        <p:txBody>
          <a:bodyPr/>
          <a:lstStyle/>
          <a:p>
            <a:pPr algn="ctr"/>
            <a:endParaRPr lang="en-US" dirty="0"/>
          </a:p>
        </p:txBody>
      </p:sp>
      <p:graphicFrame>
        <p:nvGraphicFramePr>
          <p:cNvPr id="9" name="Content Placeholder 8"/>
          <p:cNvGraphicFramePr>
            <a:graphicFrameLocks noGrp="1"/>
          </p:cNvGraphicFramePr>
          <p:nvPr>
            <p:ph sz="quarter" idx="1"/>
            <p:extLst>
              <p:ext uri="{D42A27DB-BD31-4B8C-83A1-F6EECF244321}">
                <p14:modId xmlns:p14="http://schemas.microsoft.com/office/powerpoint/2010/main" val="914236275"/>
              </p:ext>
            </p:extLst>
          </p:nvPr>
        </p:nvGraphicFramePr>
        <p:xfrm>
          <a:off x="391391" y="1003243"/>
          <a:ext cx="8229600" cy="53797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430659235"/>
                    </a:ext>
                  </a:extLst>
                </a:gridCol>
                <a:gridCol w="4114800">
                  <a:extLst>
                    <a:ext uri="{9D8B030D-6E8A-4147-A177-3AD203B41FA5}">
                      <a16:colId xmlns:a16="http://schemas.microsoft.com/office/drawing/2014/main" val="2027114126"/>
                    </a:ext>
                  </a:extLst>
                </a:gridCol>
              </a:tblGrid>
              <a:tr h="533400">
                <a:tc>
                  <a:txBody>
                    <a:bodyPr/>
                    <a:lstStyle/>
                    <a:p>
                      <a:pPr algn="ctr"/>
                      <a:r>
                        <a:rPr lang="en-US" sz="2400" dirty="0">
                          <a:solidFill>
                            <a:schemeClr val="tx1"/>
                          </a:solidFill>
                          <a:latin typeface="Times New Roman" panose="02020603050405020304" pitchFamily="18" charset="0"/>
                          <a:cs typeface="Times New Roman" panose="02020603050405020304" pitchFamily="18" charset="0"/>
                        </a:rPr>
                        <a:t>Microprocessor</a:t>
                      </a:r>
                      <a:r>
                        <a:rPr lang="en-US" sz="2400" baseline="0" dirty="0">
                          <a:solidFill>
                            <a:schemeClr val="tx1"/>
                          </a:solidFill>
                          <a:latin typeface="Times New Roman" panose="02020603050405020304" pitchFamily="18" charset="0"/>
                          <a:cs typeface="Times New Roman" panose="02020603050405020304" pitchFamily="18" charset="0"/>
                        </a:rPr>
                        <a:t> </a:t>
                      </a:r>
                      <a:endParaRPr lang="en-US"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2400" dirty="0">
                          <a:solidFill>
                            <a:schemeClr val="tx1"/>
                          </a:solidFill>
                          <a:latin typeface="Times New Roman" panose="02020603050405020304" pitchFamily="18" charset="0"/>
                          <a:cs typeface="Times New Roman" panose="02020603050405020304" pitchFamily="18" charset="0"/>
                        </a:rPr>
                        <a:t>Microcontroller</a:t>
                      </a:r>
                    </a:p>
                  </a:txBody>
                  <a:tcPr/>
                </a:tc>
                <a:extLst>
                  <a:ext uri="{0D108BD9-81ED-4DB2-BD59-A6C34878D82A}">
                    <a16:rowId xmlns:a16="http://schemas.microsoft.com/office/drawing/2014/main" val="4251222815"/>
                  </a:ext>
                </a:extLst>
              </a:tr>
              <a:tr h="685800">
                <a:tc>
                  <a:txBody>
                    <a:bodyPr/>
                    <a:lstStyle/>
                    <a:p>
                      <a:r>
                        <a:rPr lang="en-US" dirty="0"/>
                        <a:t>Used</a:t>
                      </a:r>
                      <a:r>
                        <a:rPr lang="en-US" baseline="0" dirty="0"/>
                        <a:t> where intensive processing is required</a:t>
                      </a:r>
                      <a:endParaRPr lang="en-US" dirty="0"/>
                    </a:p>
                  </a:txBody>
                  <a:tcPr/>
                </a:tc>
                <a:tc>
                  <a:txBody>
                    <a:bodyPr/>
                    <a:lstStyle/>
                    <a:p>
                      <a:r>
                        <a:rPr lang="en-US" dirty="0"/>
                        <a:t>Used where task is fixed and predefined</a:t>
                      </a:r>
                    </a:p>
                  </a:txBody>
                  <a:tcPr/>
                </a:tc>
                <a:extLst>
                  <a:ext uri="{0D108BD9-81ED-4DB2-BD59-A6C34878D82A}">
                    <a16:rowId xmlns:a16="http://schemas.microsoft.com/office/drawing/2014/main" val="4227525592"/>
                  </a:ext>
                </a:extLst>
              </a:tr>
              <a:tr h="533400">
                <a:tc>
                  <a:txBody>
                    <a:bodyPr/>
                    <a:lstStyle/>
                    <a:p>
                      <a:r>
                        <a:rPr lang="en-US" dirty="0"/>
                        <a:t>Only CPU is in the chip. Memory, I/O</a:t>
                      </a:r>
                      <a:r>
                        <a:rPr lang="en-US" baseline="0" dirty="0"/>
                        <a:t> port are connected externally</a:t>
                      </a:r>
                      <a:endParaRPr lang="en-US" dirty="0"/>
                    </a:p>
                  </a:txBody>
                  <a:tcPr/>
                </a:tc>
                <a:tc>
                  <a:txBody>
                    <a:bodyPr/>
                    <a:lstStyle/>
                    <a:p>
                      <a:r>
                        <a:rPr lang="en-US" dirty="0"/>
                        <a:t>CPU, Memory, I/O</a:t>
                      </a:r>
                      <a:r>
                        <a:rPr lang="en-US" baseline="0" dirty="0"/>
                        <a:t> port – all are connected on the same single chip</a:t>
                      </a:r>
                      <a:endParaRPr lang="en-US" dirty="0"/>
                    </a:p>
                  </a:txBody>
                  <a:tcPr/>
                </a:tc>
                <a:extLst>
                  <a:ext uri="{0D108BD9-81ED-4DB2-BD59-A6C34878D82A}">
                    <a16:rowId xmlns:a16="http://schemas.microsoft.com/office/drawing/2014/main" val="3573916579"/>
                  </a:ext>
                </a:extLst>
              </a:tr>
              <a:tr h="533400">
                <a:tc>
                  <a:txBody>
                    <a:bodyPr/>
                    <a:lstStyle/>
                    <a:p>
                      <a:r>
                        <a:rPr lang="en-US" dirty="0"/>
                        <a:t>Clock speed</a:t>
                      </a:r>
                      <a:r>
                        <a:rPr lang="en-US" baseline="0" dirty="0"/>
                        <a:t> and RAM</a:t>
                      </a:r>
                      <a:r>
                        <a:rPr lang="en-US" dirty="0"/>
                        <a:t> is higher</a:t>
                      </a:r>
                    </a:p>
                  </a:txBody>
                  <a:tcPr/>
                </a:tc>
                <a:tc>
                  <a:txBody>
                    <a:bodyPr/>
                    <a:lstStyle/>
                    <a:p>
                      <a:r>
                        <a:rPr lang="en-US" dirty="0"/>
                        <a:t>Clock speed and RAM is less</a:t>
                      </a:r>
                    </a:p>
                  </a:txBody>
                  <a:tcPr/>
                </a:tc>
                <a:extLst>
                  <a:ext uri="{0D108BD9-81ED-4DB2-BD59-A6C34878D82A}">
                    <a16:rowId xmlns:a16="http://schemas.microsoft.com/office/drawing/2014/main" val="1090565328"/>
                  </a:ext>
                </a:extLst>
              </a:tr>
              <a:tr h="533400">
                <a:tc>
                  <a:txBody>
                    <a:bodyPr/>
                    <a:lstStyle/>
                    <a:p>
                      <a:r>
                        <a:rPr kumimoji="0" lang="en-US" b="0" i="0" kern="1200" dirty="0">
                          <a:solidFill>
                            <a:schemeClr val="dk1"/>
                          </a:solidFill>
                          <a:effectLst/>
                          <a:latin typeface="+mn-lt"/>
                          <a:ea typeface="+mn-ea"/>
                          <a:cs typeface="+mn-cs"/>
                        </a:rPr>
                        <a:t>The program for the microprocessor can be changed for different applications.</a:t>
                      </a:r>
                      <a:endParaRPr lang="en-US" dirty="0"/>
                    </a:p>
                  </a:txBody>
                  <a:tcPr/>
                </a:tc>
                <a:tc>
                  <a:txBody>
                    <a:bodyPr/>
                    <a:lstStyle/>
                    <a:p>
                      <a:r>
                        <a:rPr kumimoji="0" lang="en-US" b="0" i="0" kern="1200" dirty="0">
                          <a:solidFill>
                            <a:schemeClr val="dk1"/>
                          </a:solidFill>
                          <a:effectLst/>
                          <a:latin typeface="+mn-lt"/>
                          <a:ea typeface="+mn-ea"/>
                          <a:cs typeface="+mn-cs"/>
                        </a:rPr>
                        <a:t>The program for the microcontroller is fixed once it is designed</a:t>
                      </a:r>
                      <a:endParaRPr lang="en-US" dirty="0"/>
                    </a:p>
                  </a:txBody>
                  <a:tcPr/>
                </a:tc>
                <a:extLst>
                  <a:ext uri="{0D108BD9-81ED-4DB2-BD59-A6C34878D82A}">
                    <a16:rowId xmlns:a16="http://schemas.microsoft.com/office/drawing/2014/main" val="302918709"/>
                  </a:ext>
                </a:extLst>
              </a:tr>
              <a:tr h="533400">
                <a:tc>
                  <a:txBody>
                    <a:bodyPr/>
                    <a:lstStyle/>
                    <a:p>
                      <a:r>
                        <a:rPr lang="en-US" dirty="0"/>
                        <a:t>Cost is comparatively higher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Cost is comparatively lower</a:t>
                      </a:r>
                    </a:p>
                    <a:p>
                      <a:endParaRPr lang="en-US" dirty="0"/>
                    </a:p>
                  </a:txBody>
                  <a:tcPr/>
                </a:tc>
                <a:extLst>
                  <a:ext uri="{0D108BD9-81ED-4DB2-BD59-A6C34878D82A}">
                    <a16:rowId xmlns:a16="http://schemas.microsoft.com/office/drawing/2014/main" val="1867988025"/>
                  </a:ext>
                </a:extLst>
              </a:tr>
              <a:tr h="533400">
                <a:tc>
                  <a:txBody>
                    <a:bodyPr/>
                    <a:lstStyle/>
                    <a:p>
                      <a:r>
                        <a:rPr lang="en-US" dirty="0"/>
                        <a:t>Power consumption is higher</a:t>
                      </a:r>
                    </a:p>
                  </a:txBody>
                  <a:tcPr/>
                </a:tc>
                <a:tc>
                  <a:txBody>
                    <a:bodyPr/>
                    <a:lstStyle/>
                    <a:p>
                      <a:r>
                        <a:rPr lang="en-US" dirty="0"/>
                        <a:t>Power consumption</a:t>
                      </a:r>
                      <a:r>
                        <a:rPr lang="en-US" baseline="0" dirty="0"/>
                        <a:t> is lower</a:t>
                      </a:r>
                      <a:endParaRPr lang="en-US" dirty="0"/>
                    </a:p>
                  </a:txBody>
                  <a:tcPr/>
                </a:tc>
                <a:extLst>
                  <a:ext uri="{0D108BD9-81ED-4DB2-BD59-A6C34878D82A}">
                    <a16:rowId xmlns:a16="http://schemas.microsoft.com/office/drawing/2014/main" val="3764772034"/>
                  </a:ext>
                </a:extLst>
              </a:tr>
              <a:tr h="533400">
                <a:tc>
                  <a:txBody>
                    <a:bodyPr/>
                    <a:lstStyle/>
                    <a:p>
                      <a:r>
                        <a:rPr lang="en-US" dirty="0"/>
                        <a:t>Overall</a:t>
                      </a:r>
                      <a:r>
                        <a:rPr lang="en-US" baseline="0" dirty="0"/>
                        <a:t> size of the system is large</a:t>
                      </a:r>
                      <a:endParaRPr lang="en-US" dirty="0"/>
                    </a:p>
                  </a:txBody>
                  <a:tcPr/>
                </a:tc>
                <a:tc>
                  <a:txBody>
                    <a:bodyPr/>
                    <a:lstStyle/>
                    <a:p>
                      <a:r>
                        <a:rPr lang="en-US" dirty="0"/>
                        <a:t>Overall size of the system is smaller</a:t>
                      </a:r>
                    </a:p>
                  </a:txBody>
                  <a:tcPr/>
                </a:tc>
                <a:extLst>
                  <a:ext uri="{0D108BD9-81ED-4DB2-BD59-A6C34878D82A}">
                    <a16:rowId xmlns:a16="http://schemas.microsoft.com/office/drawing/2014/main" val="874370007"/>
                  </a:ext>
                </a:extLst>
              </a:tr>
              <a:tr h="533400">
                <a:tc>
                  <a:txBody>
                    <a:bodyPr/>
                    <a:lstStyle/>
                    <a:p>
                      <a:r>
                        <a:rPr lang="en-US" dirty="0"/>
                        <a:t>Applications include personal</a:t>
                      </a:r>
                      <a:r>
                        <a:rPr lang="en-US" baseline="0" dirty="0"/>
                        <a:t> computers</a:t>
                      </a:r>
                      <a:endParaRPr lang="en-US" dirty="0"/>
                    </a:p>
                  </a:txBody>
                  <a:tcPr/>
                </a:tc>
                <a:tc>
                  <a:txBody>
                    <a:bodyPr/>
                    <a:lstStyle/>
                    <a:p>
                      <a:r>
                        <a:rPr lang="en-US" dirty="0"/>
                        <a:t>Applications include washing machines, camera etc.</a:t>
                      </a:r>
                    </a:p>
                  </a:txBody>
                  <a:tcPr/>
                </a:tc>
                <a:extLst>
                  <a:ext uri="{0D108BD9-81ED-4DB2-BD59-A6C34878D82A}">
                    <a16:rowId xmlns:a16="http://schemas.microsoft.com/office/drawing/2014/main" val="392013496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Food for thought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15</a:t>
            </a:fld>
            <a:endParaRPr lang="en-US"/>
          </a:p>
        </p:txBody>
      </p:sp>
      <p:sp>
        <p:nvSpPr>
          <p:cNvPr id="4" name="Content Placeholder 3"/>
          <p:cNvSpPr>
            <a:spLocks noGrp="1"/>
          </p:cNvSpPr>
          <p:nvPr>
            <p:ph sz="quarter" idx="1"/>
          </p:nvPr>
        </p:nvSpPr>
        <p:spPr/>
        <p:txBody>
          <a:bodyPr/>
          <a:lstStyle/>
          <a:p>
            <a:endParaRPr lang="en-US" dirty="0"/>
          </a:p>
          <a:p>
            <a:pPr marL="0" indent="0">
              <a:buNone/>
            </a:pPr>
            <a:r>
              <a:rPr lang="en-US" dirty="0"/>
              <a:t> </a:t>
            </a:r>
          </a:p>
          <a:p>
            <a:endParaRPr lang="en-US" dirty="0"/>
          </a:p>
          <a:p>
            <a:r>
              <a:rPr lang="en-US" dirty="0"/>
              <a:t>We know that your computer uses a microprocessor. But what about your keyboard?</a:t>
            </a:r>
          </a:p>
          <a:p>
            <a:pPr marL="0" indent="0">
              <a:buNone/>
            </a:pPr>
            <a:endParaRPr lang="en-US" dirty="0"/>
          </a:p>
          <a:p>
            <a:pPr marL="0" indent="0">
              <a:buNone/>
            </a:pPr>
            <a:endParaRPr lang="en-US" dirty="0"/>
          </a:p>
          <a:p>
            <a:pPr marL="0" indent="0">
              <a:buNone/>
            </a:pPr>
            <a:endParaRPr lang="en-US" dirty="0"/>
          </a:p>
        </p:txBody>
      </p:sp>
      <p:sp>
        <p:nvSpPr>
          <p:cNvPr id="5" name="Footer Placeholder 4"/>
          <p:cNvSpPr>
            <a:spLocks noGrp="1"/>
          </p:cNvSpPr>
          <p:nvPr>
            <p:ph type="ftr" sz="quarter" idx="11"/>
          </p:nvPr>
        </p:nvSpPr>
        <p:spPr/>
        <p:txBody>
          <a:bodyPr/>
          <a:lstStyle/>
          <a:p>
            <a:pPr algn="ctr"/>
            <a:endParaRPr lang="en-US" dirty="0"/>
          </a:p>
        </p:txBody>
      </p:sp>
    </p:spTree>
    <p:extLst>
      <p:ext uri="{BB962C8B-B14F-4D97-AF65-F5344CB8AC3E}">
        <p14:creationId xmlns:p14="http://schemas.microsoft.com/office/powerpoint/2010/main" val="3749533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tx1"/>
                </a:solidFill>
                <a:latin typeface="Times New Roman" pitchFamily="18" charset="0"/>
              </a:rPr>
              <a:t>Microprocessor System Vs Microcontroller System</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16</a:t>
            </a:fld>
            <a:endParaRPr lang="en-US"/>
          </a:p>
        </p:txBody>
      </p:sp>
      <p:sp>
        <p:nvSpPr>
          <p:cNvPr id="4" name="Content Placeholder 3"/>
          <p:cNvSpPr>
            <a:spLocks noGrp="1"/>
          </p:cNvSpPr>
          <p:nvPr>
            <p:ph sz="quarter" idx="1"/>
          </p:nvPr>
        </p:nvSpPr>
        <p:spPr/>
        <p:txBody>
          <a:bodyPr/>
          <a:lstStyle/>
          <a:p>
            <a:endParaRPr lang="en-US" dirty="0"/>
          </a:p>
        </p:txBody>
      </p:sp>
      <p:grpSp>
        <p:nvGrpSpPr>
          <p:cNvPr id="6" name="Group 9"/>
          <p:cNvGrpSpPr>
            <a:grpSpLocks/>
          </p:cNvGrpSpPr>
          <p:nvPr/>
        </p:nvGrpSpPr>
        <p:grpSpPr bwMode="auto">
          <a:xfrm>
            <a:off x="76200" y="1855788"/>
            <a:ext cx="8915400" cy="3235325"/>
            <a:chOff x="48" y="1440"/>
            <a:chExt cx="5616" cy="2038"/>
          </a:xfrm>
        </p:grpSpPr>
        <p:sp>
          <p:nvSpPr>
            <p:cNvPr id="7" name="Line 10"/>
            <p:cNvSpPr>
              <a:spLocks noChangeShapeType="1"/>
            </p:cNvSpPr>
            <p:nvPr/>
          </p:nvSpPr>
          <p:spPr bwMode="auto">
            <a:xfrm>
              <a:off x="3360" y="1728"/>
              <a:ext cx="0" cy="288"/>
            </a:xfrm>
            <a:prstGeom prst="line">
              <a:avLst/>
            </a:prstGeom>
            <a:noFill/>
            <a:ln w="9525">
              <a:solidFill>
                <a:schemeClr val="tx1"/>
              </a:solidFill>
              <a:round/>
              <a:headEnd/>
              <a:tailEnd/>
            </a:ln>
            <a:effectLst/>
          </p:spPr>
          <p:txBody>
            <a:bodyPr wrap="none" anchor="ctr"/>
            <a:lstStyle/>
            <a:p>
              <a:endParaRPr lang="en-US"/>
            </a:p>
          </p:txBody>
        </p:sp>
        <p:grpSp>
          <p:nvGrpSpPr>
            <p:cNvPr id="8" name="Group 11"/>
            <p:cNvGrpSpPr>
              <a:grpSpLocks/>
            </p:cNvGrpSpPr>
            <p:nvPr/>
          </p:nvGrpSpPr>
          <p:grpSpPr bwMode="auto">
            <a:xfrm>
              <a:off x="48" y="1440"/>
              <a:ext cx="5616" cy="2001"/>
              <a:chOff x="48" y="1440"/>
              <a:chExt cx="5616" cy="2001"/>
            </a:xfrm>
          </p:grpSpPr>
          <p:sp>
            <p:nvSpPr>
              <p:cNvPr id="10" name="Rectangle 12"/>
              <p:cNvSpPr>
                <a:spLocks noChangeArrowheads="1"/>
              </p:cNvSpPr>
              <p:nvPr/>
            </p:nvSpPr>
            <p:spPr bwMode="auto">
              <a:xfrm>
                <a:off x="3168" y="2016"/>
                <a:ext cx="480" cy="576"/>
              </a:xfrm>
              <a:prstGeom prst="rect">
                <a:avLst/>
              </a:prstGeom>
              <a:noFill/>
              <a:ln w="9525">
                <a:solidFill>
                  <a:schemeClr val="tx1"/>
                </a:solidFill>
                <a:miter lim="800000"/>
                <a:headEnd/>
                <a:tailEnd/>
              </a:ln>
              <a:effectLst/>
            </p:spPr>
            <p:txBody>
              <a:bodyPr wrap="none" anchor="ctr"/>
              <a:lstStyle/>
              <a:p>
                <a:endParaRPr lang="en-US"/>
              </a:p>
            </p:txBody>
          </p:sp>
          <p:grpSp>
            <p:nvGrpSpPr>
              <p:cNvPr id="11" name="Group 13"/>
              <p:cNvGrpSpPr>
                <a:grpSpLocks/>
              </p:cNvGrpSpPr>
              <p:nvPr/>
            </p:nvGrpSpPr>
            <p:grpSpPr bwMode="auto">
              <a:xfrm>
                <a:off x="48" y="1440"/>
                <a:ext cx="5616" cy="2001"/>
                <a:chOff x="48" y="1440"/>
                <a:chExt cx="5616" cy="2001"/>
              </a:xfrm>
            </p:grpSpPr>
            <p:sp>
              <p:nvSpPr>
                <p:cNvPr id="12" name="Line 14"/>
                <p:cNvSpPr>
                  <a:spLocks noChangeShapeType="1"/>
                </p:cNvSpPr>
                <p:nvPr/>
              </p:nvSpPr>
              <p:spPr bwMode="auto">
                <a:xfrm>
                  <a:off x="3360" y="2592"/>
                  <a:ext cx="0" cy="192"/>
                </a:xfrm>
                <a:prstGeom prst="line">
                  <a:avLst/>
                </a:prstGeom>
                <a:noFill/>
                <a:ln w="9525">
                  <a:solidFill>
                    <a:schemeClr val="tx1"/>
                  </a:solidFill>
                  <a:round/>
                  <a:headEnd/>
                  <a:tailEnd/>
                </a:ln>
                <a:effectLst/>
              </p:spPr>
              <p:txBody>
                <a:bodyPr wrap="none" anchor="ctr"/>
                <a:lstStyle/>
                <a:p>
                  <a:endParaRPr lang="en-US"/>
                </a:p>
              </p:txBody>
            </p:sp>
            <p:grpSp>
              <p:nvGrpSpPr>
                <p:cNvPr id="13" name="Group 15"/>
                <p:cNvGrpSpPr>
                  <a:grpSpLocks/>
                </p:cNvGrpSpPr>
                <p:nvPr/>
              </p:nvGrpSpPr>
              <p:grpSpPr bwMode="auto">
                <a:xfrm>
                  <a:off x="48" y="1440"/>
                  <a:ext cx="5616" cy="2001"/>
                  <a:chOff x="48" y="1440"/>
                  <a:chExt cx="5616" cy="2001"/>
                </a:xfrm>
              </p:grpSpPr>
              <p:sp>
                <p:nvSpPr>
                  <p:cNvPr id="14" name="Rectangle 16"/>
                  <p:cNvSpPr>
                    <a:spLocks noChangeArrowheads="1"/>
                  </p:cNvSpPr>
                  <p:nvPr/>
                </p:nvSpPr>
                <p:spPr bwMode="auto">
                  <a:xfrm>
                    <a:off x="96" y="1632"/>
                    <a:ext cx="528" cy="1296"/>
                  </a:xfrm>
                  <a:prstGeom prst="rect">
                    <a:avLst/>
                  </a:prstGeom>
                  <a:noFill/>
                  <a:ln w="9525">
                    <a:solidFill>
                      <a:schemeClr val="tx1"/>
                    </a:solidFill>
                    <a:miter lim="800000"/>
                    <a:headEnd/>
                    <a:tailEnd/>
                  </a:ln>
                  <a:effectLst/>
                </p:spPr>
                <p:txBody>
                  <a:bodyPr wrap="none" anchor="ctr"/>
                  <a:lstStyle/>
                  <a:p>
                    <a:endParaRPr lang="en-US"/>
                  </a:p>
                </p:txBody>
              </p:sp>
              <p:sp>
                <p:nvSpPr>
                  <p:cNvPr id="15" name="Rectangle 17"/>
                  <p:cNvSpPr>
                    <a:spLocks noChangeArrowheads="1"/>
                  </p:cNvSpPr>
                  <p:nvPr/>
                </p:nvSpPr>
                <p:spPr bwMode="auto">
                  <a:xfrm>
                    <a:off x="816" y="2016"/>
                    <a:ext cx="480" cy="576"/>
                  </a:xfrm>
                  <a:prstGeom prst="rect">
                    <a:avLst/>
                  </a:prstGeom>
                  <a:noFill/>
                  <a:ln w="9525">
                    <a:solidFill>
                      <a:schemeClr val="tx1"/>
                    </a:solidFill>
                    <a:miter lim="800000"/>
                    <a:headEnd/>
                    <a:tailEnd/>
                  </a:ln>
                  <a:effectLst/>
                </p:spPr>
                <p:txBody>
                  <a:bodyPr wrap="none" anchor="ctr"/>
                  <a:lstStyle/>
                  <a:p>
                    <a:endParaRPr lang="en-US"/>
                  </a:p>
                </p:txBody>
              </p:sp>
              <p:sp>
                <p:nvSpPr>
                  <p:cNvPr id="16" name="Rectangle 18"/>
                  <p:cNvSpPr>
                    <a:spLocks noChangeArrowheads="1"/>
                  </p:cNvSpPr>
                  <p:nvPr/>
                </p:nvSpPr>
                <p:spPr bwMode="auto">
                  <a:xfrm>
                    <a:off x="1392" y="2016"/>
                    <a:ext cx="480" cy="576"/>
                  </a:xfrm>
                  <a:prstGeom prst="rect">
                    <a:avLst/>
                  </a:prstGeom>
                  <a:noFill/>
                  <a:ln w="9525">
                    <a:solidFill>
                      <a:schemeClr val="tx1"/>
                    </a:solidFill>
                    <a:miter lim="800000"/>
                    <a:headEnd/>
                    <a:tailEnd/>
                  </a:ln>
                  <a:effectLst/>
                </p:spPr>
                <p:txBody>
                  <a:bodyPr wrap="none" anchor="ctr"/>
                  <a:lstStyle/>
                  <a:p>
                    <a:endParaRPr lang="en-US"/>
                  </a:p>
                </p:txBody>
              </p:sp>
              <p:sp>
                <p:nvSpPr>
                  <p:cNvPr id="17" name="Rectangle 19"/>
                  <p:cNvSpPr>
                    <a:spLocks noChangeArrowheads="1"/>
                  </p:cNvSpPr>
                  <p:nvPr/>
                </p:nvSpPr>
                <p:spPr bwMode="auto">
                  <a:xfrm>
                    <a:off x="1968" y="2016"/>
                    <a:ext cx="480" cy="576"/>
                  </a:xfrm>
                  <a:prstGeom prst="rect">
                    <a:avLst/>
                  </a:prstGeom>
                  <a:noFill/>
                  <a:ln w="9525">
                    <a:solidFill>
                      <a:schemeClr val="tx1"/>
                    </a:solidFill>
                    <a:miter lim="800000"/>
                    <a:headEnd/>
                    <a:tailEnd/>
                  </a:ln>
                  <a:effectLst/>
                </p:spPr>
                <p:txBody>
                  <a:bodyPr wrap="none" anchor="ctr"/>
                  <a:lstStyle/>
                  <a:p>
                    <a:endParaRPr lang="en-US"/>
                  </a:p>
                </p:txBody>
              </p:sp>
              <p:sp>
                <p:nvSpPr>
                  <p:cNvPr id="18" name="Rectangle 20"/>
                  <p:cNvSpPr>
                    <a:spLocks noChangeArrowheads="1"/>
                  </p:cNvSpPr>
                  <p:nvPr/>
                </p:nvSpPr>
                <p:spPr bwMode="auto">
                  <a:xfrm>
                    <a:off x="2544" y="2016"/>
                    <a:ext cx="480" cy="576"/>
                  </a:xfrm>
                  <a:prstGeom prst="rect">
                    <a:avLst/>
                  </a:prstGeom>
                  <a:noFill/>
                  <a:ln w="9525">
                    <a:solidFill>
                      <a:schemeClr val="tx1"/>
                    </a:solidFill>
                    <a:miter lim="800000"/>
                    <a:headEnd/>
                    <a:tailEnd/>
                  </a:ln>
                  <a:effectLst/>
                </p:spPr>
                <p:txBody>
                  <a:bodyPr wrap="none" anchor="ctr"/>
                  <a:lstStyle/>
                  <a:p>
                    <a:endParaRPr lang="en-US"/>
                  </a:p>
                </p:txBody>
              </p:sp>
              <p:sp>
                <p:nvSpPr>
                  <p:cNvPr id="19" name="Line 21"/>
                  <p:cNvSpPr>
                    <a:spLocks noChangeShapeType="1"/>
                  </p:cNvSpPr>
                  <p:nvPr/>
                </p:nvSpPr>
                <p:spPr bwMode="auto">
                  <a:xfrm>
                    <a:off x="624" y="1728"/>
                    <a:ext cx="2736" cy="0"/>
                  </a:xfrm>
                  <a:prstGeom prst="line">
                    <a:avLst/>
                  </a:prstGeom>
                  <a:noFill/>
                  <a:ln w="9525">
                    <a:solidFill>
                      <a:schemeClr val="tx1"/>
                    </a:solidFill>
                    <a:round/>
                    <a:headEnd/>
                    <a:tailEnd/>
                  </a:ln>
                  <a:effectLst/>
                </p:spPr>
                <p:txBody>
                  <a:bodyPr wrap="none" anchor="ctr"/>
                  <a:lstStyle/>
                  <a:p>
                    <a:endParaRPr lang="en-US"/>
                  </a:p>
                </p:txBody>
              </p:sp>
              <p:sp>
                <p:nvSpPr>
                  <p:cNvPr id="20" name="Line 22"/>
                  <p:cNvSpPr>
                    <a:spLocks noChangeShapeType="1"/>
                  </p:cNvSpPr>
                  <p:nvPr/>
                </p:nvSpPr>
                <p:spPr bwMode="auto">
                  <a:xfrm>
                    <a:off x="624" y="2784"/>
                    <a:ext cx="2736" cy="0"/>
                  </a:xfrm>
                  <a:prstGeom prst="line">
                    <a:avLst/>
                  </a:prstGeom>
                  <a:noFill/>
                  <a:ln w="9525">
                    <a:solidFill>
                      <a:schemeClr val="tx1"/>
                    </a:solidFill>
                    <a:round/>
                    <a:headEnd/>
                    <a:tailEnd/>
                  </a:ln>
                  <a:effectLst/>
                </p:spPr>
                <p:txBody>
                  <a:bodyPr wrap="none" anchor="ctr"/>
                  <a:lstStyle/>
                  <a:p>
                    <a:endParaRPr lang="en-US"/>
                  </a:p>
                </p:txBody>
              </p:sp>
              <p:sp>
                <p:nvSpPr>
                  <p:cNvPr id="21" name="Line 23"/>
                  <p:cNvSpPr>
                    <a:spLocks noChangeShapeType="1"/>
                  </p:cNvSpPr>
                  <p:nvPr/>
                </p:nvSpPr>
                <p:spPr bwMode="auto">
                  <a:xfrm>
                    <a:off x="1056" y="1728"/>
                    <a:ext cx="0" cy="288"/>
                  </a:xfrm>
                  <a:prstGeom prst="line">
                    <a:avLst/>
                  </a:prstGeom>
                  <a:noFill/>
                  <a:ln w="9525">
                    <a:solidFill>
                      <a:schemeClr val="tx1"/>
                    </a:solidFill>
                    <a:round/>
                    <a:headEnd/>
                    <a:tailEnd/>
                  </a:ln>
                  <a:effectLst/>
                </p:spPr>
                <p:txBody>
                  <a:bodyPr wrap="none" anchor="ctr"/>
                  <a:lstStyle/>
                  <a:p>
                    <a:endParaRPr lang="en-US"/>
                  </a:p>
                </p:txBody>
              </p:sp>
              <p:sp>
                <p:nvSpPr>
                  <p:cNvPr id="22" name="Line 24"/>
                  <p:cNvSpPr>
                    <a:spLocks noChangeShapeType="1"/>
                  </p:cNvSpPr>
                  <p:nvPr/>
                </p:nvSpPr>
                <p:spPr bwMode="auto">
                  <a:xfrm>
                    <a:off x="1632" y="1728"/>
                    <a:ext cx="0" cy="288"/>
                  </a:xfrm>
                  <a:prstGeom prst="line">
                    <a:avLst/>
                  </a:prstGeom>
                  <a:noFill/>
                  <a:ln w="9525">
                    <a:solidFill>
                      <a:schemeClr val="tx1"/>
                    </a:solidFill>
                    <a:round/>
                    <a:headEnd/>
                    <a:tailEnd/>
                  </a:ln>
                  <a:effectLst/>
                </p:spPr>
                <p:txBody>
                  <a:bodyPr wrap="none" anchor="ctr"/>
                  <a:lstStyle/>
                  <a:p>
                    <a:endParaRPr lang="en-US"/>
                  </a:p>
                </p:txBody>
              </p:sp>
              <p:sp>
                <p:nvSpPr>
                  <p:cNvPr id="23" name="Line 25"/>
                  <p:cNvSpPr>
                    <a:spLocks noChangeShapeType="1"/>
                  </p:cNvSpPr>
                  <p:nvPr/>
                </p:nvSpPr>
                <p:spPr bwMode="auto">
                  <a:xfrm>
                    <a:off x="2208" y="1728"/>
                    <a:ext cx="0" cy="288"/>
                  </a:xfrm>
                  <a:prstGeom prst="line">
                    <a:avLst/>
                  </a:prstGeom>
                  <a:noFill/>
                  <a:ln w="9525">
                    <a:solidFill>
                      <a:schemeClr val="tx1"/>
                    </a:solidFill>
                    <a:round/>
                    <a:headEnd/>
                    <a:tailEnd/>
                  </a:ln>
                  <a:effectLst/>
                </p:spPr>
                <p:txBody>
                  <a:bodyPr wrap="none" anchor="ctr"/>
                  <a:lstStyle/>
                  <a:p>
                    <a:endParaRPr lang="en-US"/>
                  </a:p>
                </p:txBody>
              </p:sp>
              <p:sp>
                <p:nvSpPr>
                  <p:cNvPr id="24" name="Line 26"/>
                  <p:cNvSpPr>
                    <a:spLocks noChangeShapeType="1"/>
                  </p:cNvSpPr>
                  <p:nvPr/>
                </p:nvSpPr>
                <p:spPr bwMode="auto">
                  <a:xfrm>
                    <a:off x="2784" y="1728"/>
                    <a:ext cx="0" cy="288"/>
                  </a:xfrm>
                  <a:prstGeom prst="line">
                    <a:avLst/>
                  </a:prstGeom>
                  <a:noFill/>
                  <a:ln w="9525">
                    <a:solidFill>
                      <a:schemeClr val="tx1"/>
                    </a:solidFill>
                    <a:round/>
                    <a:headEnd/>
                    <a:tailEnd/>
                  </a:ln>
                  <a:effectLst/>
                </p:spPr>
                <p:txBody>
                  <a:bodyPr wrap="none" anchor="ctr"/>
                  <a:lstStyle/>
                  <a:p>
                    <a:endParaRPr lang="en-US"/>
                  </a:p>
                </p:txBody>
              </p:sp>
              <p:sp>
                <p:nvSpPr>
                  <p:cNvPr id="25" name="Line 27"/>
                  <p:cNvSpPr>
                    <a:spLocks noChangeShapeType="1"/>
                  </p:cNvSpPr>
                  <p:nvPr/>
                </p:nvSpPr>
                <p:spPr bwMode="auto">
                  <a:xfrm>
                    <a:off x="1056" y="2592"/>
                    <a:ext cx="0" cy="192"/>
                  </a:xfrm>
                  <a:prstGeom prst="line">
                    <a:avLst/>
                  </a:prstGeom>
                  <a:noFill/>
                  <a:ln w="9525">
                    <a:solidFill>
                      <a:schemeClr val="tx1"/>
                    </a:solidFill>
                    <a:round/>
                    <a:headEnd/>
                    <a:tailEnd/>
                  </a:ln>
                  <a:effectLst/>
                </p:spPr>
                <p:txBody>
                  <a:bodyPr wrap="none" anchor="ctr"/>
                  <a:lstStyle/>
                  <a:p>
                    <a:endParaRPr lang="en-US"/>
                  </a:p>
                </p:txBody>
              </p:sp>
              <p:sp>
                <p:nvSpPr>
                  <p:cNvPr id="26" name="Line 28"/>
                  <p:cNvSpPr>
                    <a:spLocks noChangeShapeType="1"/>
                  </p:cNvSpPr>
                  <p:nvPr/>
                </p:nvSpPr>
                <p:spPr bwMode="auto">
                  <a:xfrm>
                    <a:off x="1632" y="2592"/>
                    <a:ext cx="0" cy="192"/>
                  </a:xfrm>
                  <a:prstGeom prst="line">
                    <a:avLst/>
                  </a:prstGeom>
                  <a:noFill/>
                  <a:ln w="9525">
                    <a:solidFill>
                      <a:schemeClr val="tx1"/>
                    </a:solidFill>
                    <a:round/>
                    <a:headEnd/>
                    <a:tailEnd/>
                  </a:ln>
                  <a:effectLst/>
                </p:spPr>
                <p:txBody>
                  <a:bodyPr wrap="none" anchor="ctr"/>
                  <a:lstStyle/>
                  <a:p>
                    <a:endParaRPr lang="en-US"/>
                  </a:p>
                </p:txBody>
              </p:sp>
              <p:sp>
                <p:nvSpPr>
                  <p:cNvPr id="27" name="Line 29"/>
                  <p:cNvSpPr>
                    <a:spLocks noChangeShapeType="1"/>
                  </p:cNvSpPr>
                  <p:nvPr/>
                </p:nvSpPr>
                <p:spPr bwMode="auto">
                  <a:xfrm>
                    <a:off x="2208" y="2592"/>
                    <a:ext cx="0" cy="192"/>
                  </a:xfrm>
                  <a:prstGeom prst="line">
                    <a:avLst/>
                  </a:prstGeom>
                  <a:noFill/>
                  <a:ln w="9525">
                    <a:solidFill>
                      <a:schemeClr val="tx1"/>
                    </a:solidFill>
                    <a:round/>
                    <a:headEnd/>
                    <a:tailEnd/>
                  </a:ln>
                  <a:effectLst/>
                </p:spPr>
                <p:txBody>
                  <a:bodyPr wrap="none" anchor="ctr"/>
                  <a:lstStyle/>
                  <a:p>
                    <a:endParaRPr lang="en-US"/>
                  </a:p>
                </p:txBody>
              </p:sp>
              <p:sp>
                <p:nvSpPr>
                  <p:cNvPr id="28" name="Line 30"/>
                  <p:cNvSpPr>
                    <a:spLocks noChangeShapeType="1"/>
                  </p:cNvSpPr>
                  <p:nvPr/>
                </p:nvSpPr>
                <p:spPr bwMode="auto">
                  <a:xfrm>
                    <a:off x="2784" y="2592"/>
                    <a:ext cx="0" cy="192"/>
                  </a:xfrm>
                  <a:prstGeom prst="line">
                    <a:avLst/>
                  </a:prstGeom>
                  <a:noFill/>
                  <a:ln w="9525">
                    <a:solidFill>
                      <a:schemeClr val="tx1"/>
                    </a:solidFill>
                    <a:round/>
                    <a:headEnd/>
                    <a:tailEnd/>
                  </a:ln>
                  <a:effectLst/>
                </p:spPr>
                <p:txBody>
                  <a:bodyPr wrap="none" anchor="ctr"/>
                  <a:lstStyle/>
                  <a:p>
                    <a:endParaRPr lang="en-US"/>
                  </a:p>
                </p:txBody>
              </p:sp>
              <p:sp>
                <p:nvSpPr>
                  <p:cNvPr id="29" name="Rectangle 31"/>
                  <p:cNvSpPr>
                    <a:spLocks noChangeArrowheads="1"/>
                  </p:cNvSpPr>
                  <p:nvPr/>
                </p:nvSpPr>
                <p:spPr bwMode="auto">
                  <a:xfrm>
                    <a:off x="3984" y="1440"/>
                    <a:ext cx="1680" cy="1584"/>
                  </a:xfrm>
                  <a:prstGeom prst="rect">
                    <a:avLst/>
                  </a:prstGeom>
                  <a:noFill/>
                  <a:ln w="9525">
                    <a:solidFill>
                      <a:schemeClr val="tx1"/>
                    </a:solidFill>
                    <a:miter lim="800000"/>
                    <a:headEnd/>
                    <a:tailEnd/>
                  </a:ln>
                  <a:effectLst/>
                </p:spPr>
                <p:txBody>
                  <a:bodyPr wrap="none" anchor="ctr"/>
                  <a:lstStyle/>
                  <a:p>
                    <a:endParaRPr lang="en-US"/>
                  </a:p>
                </p:txBody>
              </p:sp>
              <p:sp>
                <p:nvSpPr>
                  <p:cNvPr id="30" name="Line 32"/>
                  <p:cNvSpPr>
                    <a:spLocks noChangeShapeType="1"/>
                  </p:cNvSpPr>
                  <p:nvPr/>
                </p:nvSpPr>
                <p:spPr bwMode="auto">
                  <a:xfrm>
                    <a:off x="4560" y="1440"/>
                    <a:ext cx="0" cy="1584"/>
                  </a:xfrm>
                  <a:prstGeom prst="line">
                    <a:avLst/>
                  </a:prstGeom>
                  <a:noFill/>
                  <a:ln w="9525">
                    <a:solidFill>
                      <a:schemeClr val="tx1"/>
                    </a:solidFill>
                    <a:round/>
                    <a:headEnd/>
                    <a:tailEnd/>
                  </a:ln>
                  <a:effectLst/>
                </p:spPr>
                <p:txBody>
                  <a:bodyPr wrap="none" anchor="ctr"/>
                  <a:lstStyle/>
                  <a:p>
                    <a:endParaRPr lang="en-US"/>
                  </a:p>
                </p:txBody>
              </p:sp>
              <p:sp>
                <p:nvSpPr>
                  <p:cNvPr id="31" name="Line 33"/>
                  <p:cNvSpPr>
                    <a:spLocks noChangeShapeType="1"/>
                  </p:cNvSpPr>
                  <p:nvPr/>
                </p:nvSpPr>
                <p:spPr bwMode="auto">
                  <a:xfrm>
                    <a:off x="5088" y="1440"/>
                    <a:ext cx="0" cy="1584"/>
                  </a:xfrm>
                  <a:prstGeom prst="line">
                    <a:avLst/>
                  </a:prstGeom>
                  <a:noFill/>
                  <a:ln w="9525">
                    <a:solidFill>
                      <a:schemeClr val="tx1"/>
                    </a:solidFill>
                    <a:round/>
                    <a:headEnd/>
                    <a:tailEnd/>
                  </a:ln>
                  <a:effectLst/>
                </p:spPr>
                <p:txBody>
                  <a:bodyPr wrap="none" anchor="ctr"/>
                  <a:lstStyle/>
                  <a:p>
                    <a:endParaRPr lang="en-US"/>
                  </a:p>
                </p:txBody>
              </p:sp>
              <p:sp>
                <p:nvSpPr>
                  <p:cNvPr id="32" name="Line 34"/>
                  <p:cNvSpPr>
                    <a:spLocks noChangeShapeType="1"/>
                  </p:cNvSpPr>
                  <p:nvPr/>
                </p:nvSpPr>
                <p:spPr bwMode="auto">
                  <a:xfrm>
                    <a:off x="3984" y="2208"/>
                    <a:ext cx="1680" cy="0"/>
                  </a:xfrm>
                  <a:prstGeom prst="line">
                    <a:avLst/>
                  </a:prstGeom>
                  <a:noFill/>
                  <a:ln w="9525">
                    <a:solidFill>
                      <a:schemeClr val="tx1"/>
                    </a:solidFill>
                    <a:round/>
                    <a:headEnd/>
                    <a:tailEnd/>
                  </a:ln>
                  <a:effectLst/>
                </p:spPr>
                <p:txBody>
                  <a:bodyPr wrap="none" anchor="ctr"/>
                  <a:lstStyle/>
                  <a:p>
                    <a:endParaRPr lang="en-US"/>
                  </a:p>
                </p:txBody>
              </p:sp>
              <p:sp>
                <p:nvSpPr>
                  <p:cNvPr id="33" name="Text Box 35"/>
                  <p:cNvSpPr txBox="1">
                    <a:spLocks noChangeArrowheads="1"/>
                  </p:cNvSpPr>
                  <p:nvPr/>
                </p:nvSpPr>
                <p:spPr bwMode="auto">
                  <a:xfrm>
                    <a:off x="48" y="1706"/>
                    <a:ext cx="643" cy="982"/>
                  </a:xfrm>
                  <a:prstGeom prst="rect">
                    <a:avLst/>
                  </a:prstGeom>
                  <a:noFill/>
                  <a:ln w="9525">
                    <a:noFill/>
                    <a:miter lim="800000"/>
                    <a:headEnd/>
                    <a:tailEnd/>
                  </a:ln>
                  <a:effectLst/>
                </p:spPr>
                <p:txBody>
                  <a:bodyPr wrap="none">
                    <a:spAutoFit/>
                  </a:bodyPr>
                  <a:lstStyle/>
                  <a:p>
                    <a:pPr algn="ctr" eaLnBrk="0" hangingPunct="0"/>
                    <a:r>
                      <a:rPr lang="en-US" sz="1600" b="1" dirty="0">
                        <a:latin typeface="Times New Roman" pitchFamily="18" charset="0"/>
                      </a:rPr>
                      <a:t>CPU</a:t>
                    </a:r>
                  </a:p>
                  <a:p>
                    <a:pPr algn="ctr" eaLnBrk="0" hangingPunct="0"/>
                    <a:endParaRPr lang="en-US" sz="1600" b="1" dirty="0">
                      <a:latin typeface="Times New Roman" pitchFamily="18" charset="0"/>
                    </a:endParaRPr>
                  </a:p>
                  <a:p>
                    <a:pPr algn="ctr" eaLnBrk="0" hangingPunct="0"/>
                    <a:r>
                      <a:rPr lang="en-US" sz="1600" b="1" dirty="0">
                        <a:latin typeface="Times New Roman" pitchFamily="18" charset="0"/>
                      </a:rPr>
                      <a:t>General</a:t>
                    </a:r>
                  </a:p>
                  <a:p>
                    <a:pPr algn="ctr" eaLnBrk="0" hangingPunct="0"/>
                    <a:r>
                      <a:rPr lang="en-US" sz="1600" b="1" dirty="0">
                        <a:latin typeface="Times New Roman" pitchFamily="18" charset="0"/>
                      </a:rPr>
                      <a:t>purpose</a:t>
                    </a:r>
                  </a:p>
                  <a:p>
                    <a:pPr algn="ctr" eaLnBrk="0" hangingPunct="0"/>
                    <a:r>
                      <a:rPr lang="en-US" sz="1600" b="1" dirty="0">
                        <a:latin typeface="Times New Roman" pitchFamily="18" charset="0"/>
                      </a:rPr>
                      <a:t>Micro</a:t>
                    </a:r>
                  </a:p>
                  <a:p>
                    <a:pPr algn="ctr" eaLnBrk="0" hangingPunct="0"/>
                    <a:r>
                      <a:rPr lang="en-US" sz="1600" b="1" dirty="0">
                        <a:latin typeface="Times New Roman" pitchFamily="18" charset="0"/>
                      </a:rPr>
                      <a:t>processor</a:t>
                    </a:r>
                  </a:p>
                </p:txBody>
              </p:sp>
              <p:sp>
                <p:nvSpPr>
                  <p:cNvPr id="34" name="Text Box 36"/>
                  <p:cNvSpPr txBox="1">
                    <a:spLocks noChangeArrowheads="1"/>
                  </p:cNvSpPr>
                  <p:nvPr/>
                </p:nvSpPr>
                <p:spPr bwMode="auto">
                  <a:xfrm>
                    <a:off x="768" y="1440"/>
                    <a:ext cx="680" cy="231"/>
                  </a:xfrm>
                  <a:prstGeom prst="rect">
                    <a:avLst/>
                  </a:prstGeom>
                  <a:noFill/>
                  <a:ln w="9525">
                    <a:noFill/>
                    <a:miter lim="800000"/>
                    <a:headEnd/>
                    <a:tailEnd/>
                  </a:ln>
                  <a:effectLst/>
                </p:spPr>
                <p:txBody>
                  <a:bodyPr wrap="none">
                    <a:spAutoFit/>
                  </a:bodyPr>
                  <a:lstStyle/>
                  <a:p>
                    <a:pPr eaLnBrk="0" hangingPunct="0"/>
                    <a:r>
                      <a:rPr lang="en-US" sz="1800" b="1">
                        <a:latin typeface="Times New Roman" pitchFamily="18" charset="0"/>
                      </a:rPr>
                      <a:t>Data Bus</a:t>
                    </a:r>
                  </a:p>
                </p:txBody>
              </p:sp>
              <p:sp>
                <p:nvSpPr>
                  <p:cNvPr id="35" name="Text Box 37"/>
                  <p:cNvSpPr txBox="1">
                    <a:spLocks noChangeArrowheads="1"/>
                  </p:cNvSpPr>
                  <p:nvPr/>
                </p:nvSpPr>
                <p:spPr bwMode="auto">
                  <a:xfrm>
                    <a:off x="768" y="2880"/>
                    <a:ext cx="888" cy="231"/>
                  </a:xfrm>
                  <a:prstGeom prst="rect">
                    <a:avLst/>
                  </a:prstGeom>
                  <a:noFill/>
                  <a:ln w="9525">
                    <a:noFill/>
                    <a:miter lim="800000"/>
                    <a:headEnd/>
                    <a:tailEnd/>
                  </a:ln>
                  <a:effectLst/>
                </p:spPr>
                <p:txBody>
                  <a:bodyPr wrap="none">
                    <a:spAutoFit/>
                  </a:bodyPr>
                  <a:lstStyle/>
                  <a:p>
                    <a:pPr eaLnBrk="0" hangingPunct="0"/>
                    <a:r>
                      <a:rPr lang="en-US" sz="1800" b="1">
                        <a:latin typeface="Times New Roman" pitchFamily="18" charset="0"/>
                      </a:rPr>
                      <a:t>Address Bus</a:t>
                    </a:r>
                  </a:p>
                </p:txBody>
              </p:sp>
              <p:sp>
                <p:nvSpPr>
                  <p:cNvPr id="36" name="Text Box 38"/>
                  <p:cNvSpPr txBox="1">
                    <a:spLocks noChangeArrowheads="1"/>
                  </p:cNvSpPr>
                  <p:nvPr/>
                </p:nvSpPr>
                <p:spPr bwMode="auto">
                  <a:xfrm>
                    <a:off x="836" y="2160"/>
                    <a:ext cx="460" cy="231"/>
                  </a:xfrm>
                  <a:prstGeom prst="rect">
                    <a:avLst/>
                  </a:prstGeom>
                  <a:noFill/>
                  <a:ln w="9525">
                    <a:noFill/>
                    <a:miter lim="800000"/>
                    <a:headEnd/>
                    <a:tailEnd/>
                  </a:ln>
                  <a:effectLst/>
                </p:spPr>
                <p:txBody>
                  <a:bodyPr wrap="none">
                    <a:spAutoFit/>
                  </a:bodyPr>
                  <a:lstStyle/>
                  <a:p>
                    <a:pPr eaLnBrk="0" hangingPunct="0"/>
                    <a:r>
                      <a:rPr lang="en-US" sz="1800" b="1">
                        <a:latin typeface="Times New Roman" pitchFamily="18" charset="0"/>
                      </a:rPr>
                      <a:t>RAM</a:t>
                    </a:r>
                  </a:p>
                </p:txBody>
              </p:sp>
              <p:sp>
                <p:nvSpPr>
                  <p:cNvPr id="37" name="Text Box 39"/>
                  <p:cNvSpPr txBox="1">
                    <a:spLocks noChangeArrowheads="1"/>
                  </p:cNvSpPr>
                  <p:nvPr/>
                </p:nvSpPr>
                <p:spPr bwMode="auto">
                  <a:xfrm>
                    <a:off x="1392" y="2160"/>
                    <a:ext cx="468" cy="231"/>
                  </a:xfrm>
                  <a:prstGeom prst="rect">
                    <a:avLst/>
                  </a:prstGeom>
                  <a:noFill/>
                  <a:ln w="9525">
                    <a:noFill/>
                    <a:miter lim="800000"/>
                    <a:headEnd/>
                    <a:tailEnd/>
                  </a:ln>
                  <a:effectLst/>
                </p:spPr>
                <p:txBody>
                  <a:bodyPr wrap="none">
                    <a:spAutoFit/>
                  </a:bodyPr>
                  <a:lstStyle/>
                  <a:p>
                    <a:pPr eaLnBrk="0" hangingPunct="0"/>
                    <a:r>
                      <a:rPr lang="en-US" sz="1800" b="1">
                        <a:latin typeface="Times New Roman" pitchFamily="18" charset="0"/>
                      </a:rPr>
                      <a:t>ROM</a:t>
                    </a:r>
                  </a:p>
                </p:txBody>
              </p:sp>
              <p:sp>
                <p:nvSpPr>
                  <p:cNvPr id="38" name="Text Box 40"/>
                  <p:cNvSpPr txBox="1">
                    <a:spLocks noChangeArrowheads="1"/>
                  </p:cNvSpPr>
                  <p:nvPr/>
                </p:nvSpPr>
                <p:spPr bwMode="auto">
                  <a:xfrm>
                    <a:off x="2016" y="2112"/>
                    <a:ext cx="396" cy="404"/>
                  </a:xfrm>
                  <a:prstGeom prst="rect">
                    <a:avLst/>
                  </a:prstGeom>
                  <a:noFill/>
                  <a:ln w="9525">
                    <a:noFill/>
                    <a:miter lim="800000"/>
                    <a:headEnd/>
                    <a:tailEnd/>
                  </a:ln>
                  <a:effectLst/>
                </p:spPr>
                <p:txBody>
                  <a:bodyPr wrap="none">
                    <a:spAutoFit/>
                  </a:bodyPr>
                  <a:lstStyle/>
                  <a:p>
                    <a:pPr eaLnBrk="0" hangingPunct="0"/>
                    <a:r>
                      <a:rPr lang="en-US" sz="1800" b="1">
                        <a:latin typeface="Times New Roman" pitchFamily="18" charset="0"/>
                      </a:rPr>
                      <a:t>I / O</a:t>
                    </a:r>
                  </a:p>
                  <a:p>
                    <a:pPr eaLnBrk="0" hangingPunct="0"/>
                    <a:r>
                      <a:rPr lang="en-US" sz="1800" b="1">
                        <a:latin typeface="Times New Roman" pitchFamily="18" charset="0"/>
                      </a:rPr>
                      <a:t>Port</a:t>
                    </a:r>
                  </a:p>
                </p:txBody>
              </p:sp>
              <p:sp>
                <p:nvSpPr>
                  <p:cNvPr id="39" name="Text Box 41"/>
                  <p:cNvSpPr txBox="1">
                    <a:spLocks noChangeArrowheads="1"/>
                  </p:cNvSpPr>
                  <p:nvPr/>
                </p:nvSpPr>
                <p:spPr bwMode="auto">
                  <a:xfrm>
                    <a:off x="2544" y="2160"/>
                    <a:ext cx="500" cy="231"/>
                  </a:xfrm>
                  <a:prstGeom prst="rect">
                    <a:avLst/>
                  </a:prstGeom>
                  <a:noFill/>
                  <a:ln w="9525">
                    <a:noFill/>
                    <a:miter lim="800000"/>
                    <a:headEnd/>
                    <a:tailEnd/>
                  </a:ln>
                  <a:effectLst/>
                </p:spPr>
                <p:txBody>
                  <a:bodyPr wrap="none">
                    <a:spAutoFit/>
                  </a:bodyPr>
                  <a:lstStyle/>
                  <a:p>
                    <a:pPr eaLnBrk="0" hangingPunct="0"/>
                    <a:r>
                      <a:rPr lang="en-US" sz="1800" b="1">
                        <a:latin typeface="Times New Roman" pitchFamily="18" charset="0"/>
                      </a:rPr>
                      <a:t>Timer</a:t>
                    </a:r>
                  </a:p>
                </p:txBody>
              </p:sp>
              <p:sp>
                <p:nvSpPr>
                  <p:cNvPr id="40" name="Text Box 42"/>
                  <p:cNvSpPr txBox="1">
                    <a:spLocks noChangeArrowheads="1"/>
                  </p:cNvSpPr>
                  <p:nvPr/>
                </p:nvSpPr>
                <p:spPr bwMode="auto">
                  <a:xfrm>
                    <a:off x="3168" y="2016"/>
                    <a:ext cx="476" cy="577"/>
                  </a:xfrm>
                  <a:prstGeom prst="rect">
                    <a:avLst/>
                  </a:prstGeom>
                  <a:noFill/>
                  <a:ln w="9525">
                    <a:noFill/>
                    <a:miter lim="800000"/>
                    <a:headEnd/>
                    <a:tailEnd/>
                  </a:ln>
                  <a:effectLst/>
                </p:spPr>
                <p:txBody>
                  <a:bodyPr wrap="none">
                    <a:spAutoFit/>
                  </a:bodyPr>
                  <a:lstStyle/>
                  <a:p>
                    <a:pPr algn="ctr" eaLnBrk="0" hangingPunct="0"/>
                    <a:r>
                      <a:rPr lang="en-US" sz="1800" b="1">
                        <a:latin typeface="Times New Roman" pitchFamily="18" charset="0"/>
                      </a:rPr>
                      <a:t>Serial</a:t>
                    </a:r>
                  </a:p>
                  <a:p>
                    <a:pPr algn="ctr" eaLnBrk="0" hangingPunct="0"/>
                    <a:r>
                      <a:rPr lang="en-US" sz="1800" b="1">
                        <a:latin typeface="Times New Roman" pitchFamily="18" charset="0"/>
                      </a:rPr>
                      <a:t>COM</a:t>
                    </a:r>
                  </a:p>
                  <a:p>
                    <a:pPr algn="ctr" eaLnBrk="0" hangingPunct="0"/>
                    <a:r>
                      <a:rPr lang="en-US" sz="1800" b="1">
                        <a:latin typeface="Times New Roman" pitchFamily="18" charset="0"/>
                      </a:rPr>
                      <a:t>Port</a:t>
                    </a:r>
                  </a:p>
                </p:txBody>
              </p:sp>
              <p:sp>
                <p:nvSpPr>
                  <p:cNvPr id="41" name="Text Box 43"/>
                  <p:cNvSpPr txBox="1">
                    <a:spLocks noChangeArrowheads="1"/>
                  </p:cNvSpPr>
                  <p:nvPr/>
                </p:nvSpPr>
                <p:spPr bwMode="auto">
                  <a:xfrm>
                    <a:off x="4052" y="1632"/>
                    <a:ext cx="412" cy="231"/>
                  </a:xfrm>
                  <a:prstGeom prst="rect">
                    <a:avLst/>
                  </a:prstGeom>
                  <a:noFill/>
                  <a:ln w="9525">
                    <a:noFill/>
                    <a:miter lim="800000"/>
                    <a:headEnd/>
                    <a:tailEnd/>
                  </a:ln>
                  <a:effectLst/>
                </p:spPr>
                <p:txBody>
                  <a:bodyPr wrap="none">
                    <a:spAutoFit/>
                  </a:bodyPr>
                  <a:lstStyle/>
                  <a:p>
                    <a:pPr eaLnBrk="0" hangingPunct="0"/>
                    <a:r>
                      <a:rPr lang="en-US" sz="1800" b="1">
                        <a:latin typeface="Times New Roman" pitchFamily="18" charset="0"/>
                      </a:rPr>
                      <a:t>CPU</a:t>
                    </a:r>
                  </a:p>
                </p:txBody>
              </p:sp>
              <p:sp>
                <p:nvSpPr>
                  <p:cNvPr id="42" name="Text Box 44"/>
                  <p:cNvSpPr txBox="1">
                    <a:spLocks noChangeArrowheads="1"/>
                  </p:cNvSpPr>
                  <p:nvPr/>
                </p:nvSpPr>
                <p:spPr bwMode="auto">
                  <a:xfrm>
                    <a:off x="4580" y="1632"/>
                    <a:ext cx="460" cy="231"/>
                  </a:xfrm>
                  <a:prstGeom prst="rect">
                    <a:avLst/>
                  </a:prstGeom>
                  <a:noFill/>
                  <a:ln w="9525">
                    <a:noFill/>
                    <a:miter lim="800000"/>
                    <a:headEnd/>
                    <a:tailEnd/>
                  </a:ln>
                  <a:effectLst/>
                </p:spPr>
                <p:txBody>
                  <a:bodyPr wrap="none">
                    <a:spAutoFit/>
                  </a:bodyPr>
                  <a:lstStyle/>
                  <a:p>
                    <a:pPr eaLnBrk="0" hangingPunct="0"/>
                    <a:r>
                      <a:rPr lang="en-US" sz="1800" b="1">
                        <a:latin typeface="Times New Roman" pitchFamily="18" charset="0"/>
                      </a:rPr>
                      <a:t>RAM</a:t>
                    </a:r>
                  </a:p>
                </p:txBody>
              </p:sp>
              <p:sp>
                <p:nvSpPr>
                  <p:cNvPr id="43" name="Text Box 45"/>
                  <p:cNvSpPr txBox="1">
                    <a:spLocks noChangeArrowheads="1"/>
                  </p:cNvSpPr>
                  <p:nvPr/>
                </p:nvSpPr>
                <p:spPr bwMode="auto">
                  <a:xfrm>
                    <a:off x="5136" y="1632"/>
                    <a:ext cx="468" cy="231"/>
                  </a:xfrm>
                  <a:prstGeom prst="rect">
                    <a:avLst/>
                  </a:prstGeom>
                  <a:noFill/>
                  <a:ln w="9525">
                    <a:noFill/>
                    <a:miter lim="800000"/>
                    <a:headEnd/>
                    <a:tailEnd/>
                  </a:ln>
                  <a:effectLst/>
                </p:spPr>
                <p:txBody>
                  <a:bodyPr wrap="none">
                    <a:spAutoFit/>
                  </a:bodyPr>
                  <a:lstStyle/>
                  <a:p>
                    <a:pPr eaLnBrk="0" hangingPunct="0"/>
                    <a:r>
                      <a:rPr lang="en-US" sz="1800" b="1">
                        <a:latin typeface="Times New Roman" pitchFamily="18" charset="0"/>
                      </a:rPr>
                      <a:t>ROM</a:t>
                    </a:r>
                  </a:p>
                </p:txBody>
              </p:sp>
              <p:sp>
                <p:nvSpPr>
                  <p:cNvPr id="44" name="Text Box 46"/>
                  <p:cNvSpPr txBox="1">
                    <a:spLocks noChangeArrowheads="1"/>
                  </p:cNvSpPr>
                  <p:nvPr/>
                </p:nvSpPr>
                <p:spPr bwMode="auto">
                  <a:xfrm>
                    <a:off x="4068" y="2380"/>
                    <a:ext cx="396" cy="404"/>
                  </a:xfrm>
                  <a:prstGeom prst="rect">
                    <a:avLst/>
                  </a:prstGeom>
                  <a:noFill/>
                  <a:ln w="9525">
                    <a:noFill/>
                    <a:miter lim="800000"/>
                    <a:headEnd/>
                    <a:tailEnd/>
                  </a:ln>
                  <a:effectLst/>
                </p:spPr>
                <p:txBody>
                  <a:bodyPr wrap="none">
                    <a:spAutoFit/>
                  </a:bodyPr>
                  <a:lstStyle/>
                  <a:p>
                    <a:pPr eaLnBrk="0" hangingPunct="0"/>
                    <a:r>
                      <a:rPr lang="en-US" sz="1800" b="1">
                        <a:latin typeface="Times New Roman" pitchFamily="18" charset="0"/>
                      </a:rPr>
                      <a:t>I / O</a:t>
                    </a:r>
                  </a:p>
                  <a:p>
                    <a:pPr eaLnBrk="0" hangingPunct="0"/>
                    <a:r>
                      <a:rPr lang="en-US" sz="1800" b="1">
                        <a:latin typeface="Times New Roman" pitchFamily="18" charset="0"/>
                      </a:rPr>
                      <a:t>Port</a:t>
                    </a:r>
                  </a:p>
                </p:txBody>
              </p:sp>
              <p:sp>
                <p:nvSpPr>
                  <p:cNvPr id="45" name="Text Box 47"/>
                  <p:cNvSpPr txBox="1">
                    <a:spLocks noChangeArrowheads="1"/>
                  </p:cNvSpPr>
                  <p:nvPr/>
                </p:nvSpPr>
                <p:spPr bwMode="auto">
                  <a:xfrm>
                    <a:off x="4560" y="2448"/>
                    <a:ext cx="500" cy="231"/>
                  </a:xfrm>
                  <a:prstGeom prst="rect">
                    <a:avLst/>
                  </a:prstGeom>
                  <a:noFill/>
                  <a:ln w="9525">
                    <a:noFill/>
                    <a:miter lim="800000"/>
                    <a:headEnd/>
                    <a:tailEnd/>
                  </a:ln>
                  <a:effectLst/>
                </p:spPr>
                <p:txBody>
                  <a:bodyPr wrap="none">
                    <a:spAutoFit/>
                  </a:bodyPr>
                  <a:lstStyle/>
                  <a:p>
                    <a:pPr eaLnBrk="0" hangingPunct="0"/>
                    <a:r>
                      <a:rPr lang="en-US" sz="1800" b="1">
                        <a:latin typeface="Times New Roman" pitchFamily="18" charset="0"/>
                      </a:rPr>
                      <a:t>Timer</a:t>
                    </a:r>
                  </a:p>
                </p:txBody>
              </p:sp>
              <p:sp>
                <p:nvSpPr>
                  <p:cNvPr id="46" name="Text Box 48"/>
                  <p:cNvSpPr txBox="1">
                    <a:spLocks noChangeArrowheads="1"/>
                  </p:cNvSpPr>
                  <p:nvPr/>
                </p:nvSpPr>
                <p:spPr bwMode="auto">
                  <a:xfrm>
                    <a:off x="5136" y="2352"/>
                    <a:ext cx="476" cy="577"/>
                  </a:xfrm>
                  <a:prstGeom prst="rect">
                    <a:avLst/>
                  </a:prstGeom>
                  <a:noFill/>
                  <a:ln w="9525">
                    <a:noFill/>
                    <a:miter lim="800000"/>
                    <a:headEnd/>
                    <a:tailEnd/>
                  </a:ln>
                  <a:effectLst/>
                </p:spPr>
                <p:txBody>
                  <a:bodyPr wrap="none">
                    <a:spAutoFit/>
                  </a:bodyPr>
                  <a:lstStyle/>
                  <a:p>
                    <a:pPr algn="ctr" eaLnBrk="0" hangingPunct="0"/>
                    <a:r>
                      <a:rPr lang="en-US" sz="1800" b="1">
                        <a:latin typeface="Times New Roman" pitchFamily="18" charset="0"/>
                      </a:rPr>
                      <a:t>Serial</a:t>
                    </a:r>
                  </a:p>
                  <a:p>
                    <a:pPr algn="ctr" eaLnBrk="0" hangingPunct="0"/>
                    <a:r>
                      <a:rPr lang="en-US" sz="1800" b="1">
                        <a:latin typeface="Times New Roman" pitchFamily="18" charset="0"/>
                      </a:rPr>
                      <a:t>COM</a:t>
                    </a:r>
                  </a:p>
                  <a:p>
                    <a:pPr algn="ctr" eaLnBrk="0" hangingPunct="0"/>
                    <a:r>
                      <a:rPr lang="en-US" sz="1800" b="1">
                        <a:latin typeface="Times New Roman" pitchFamily="18" charset="0"/>
                      </a:rPr>
                      <a:t>Port</a:t>
                    </a:r>
                  </a:p>
                </p:txBody>
              </p:sp>
              <p:sp>
                <p:nvSpPr>
                  <p:cNvPr id="47" name="Text Box 49"/>
                  <p:cNvSpPr txBox="1">
                    <a:spLocks noChangeArrowheads="1"/>
                  </p:cNvSpPr>
                  <p:nvPr/>
                </p:nvSpPr>
                <p:spPr bwMode="auto">
                  <a:xfrm>
                    <a:off x="380" y="3208"/>
                    <a:ext cx="1567" cy="233"/>
                  </a:xfrm>
                  <a:prstGeom prst="rect">
                    <a:avLst/>
                  </a:prstGeom>
                  <a:noFill/>
                  <a:ln w="9525">
                    <a:noFill/>
                    <a:miter lim="800000"/>
                    <a:headEnd/>
                    <a:tailEnd/>
                  </a:ln>
                  <a:effectLst/>
                </p:spPr>
                <p:txBody>
                  <a:bodyPr wrap="none">
                    <a:spAutoFit/>
                  </a:bodyPr>
                  <a:lstStyle/>
                  <a:p>
                    <a:pPr eaLnBrk="0" hangingPunct="0"/>
                    <a:r>
                      <a:rPr lang="en-US" sz="1800" b="1" dirty="0">
                        <a:latin typeface="Times New Roman" pitchFamily="18" charset="0"/>
                      </a:rPr>
                      <a:t>Microprocessor System</a:t>
                    </a:r>
                  </a:p>
                </p:txBody>
              </p:sp>
            </p:grpSp>
          </p:grpSp>
        </p:grpSp>
        <p:sp>
          <p:nvSpPr>
            <p:cNvPr id="9" name="Text Box 50"/>
            <p:cNvSpPr txBox="1">
              <a:spLocks noChangeArrowheads="1"/>
            </p:cNvSpPr>
            <p:nvPr/>
          </p:nvSpPr>
          <p:spPr bwMode="auto">
            <a:xfrm>
              <a:off x="4368" y="3247"/>
              <a:ext cx="1100" cy="231"/>
            </a:xfrm>
            <a:prstGeom prst="rect">
              <a:avLst/>
            </a:prstGeom>
            <a:noFill/>
            <a:ln w="9525">
              <a:noFill/>
              <a:miter lim="800000"/>
              <a:headEnd/>
              <a:tailEnd/>
            </a:ln>
            <a:effectLst/>
          </p:spPr>
          <p:txBody>
            <a:bodyPr wrap="none">
              <a:spAutoFit/>
            </a:bodyPr>
            <a:lstStyle/>
            <a:p>
              <a:pPr eaLnBrk="0" hangingPunct="0"/>
              <a:r>
                <a:rPr lang="en-US" sz="1800" b="1" dirty="0">
                  <a:latin typeface="Times New Roman" pitchFamily="18" charset="0"/>
                </a:rPr>
                <a:t>Microcontroller</a:t>
              </a:r>
            </a:p>
          </p:txBody>
        </p:sp>
      </p:grpSp>
      <p:sp>
        <p:nvSpPr>
          <p:cNvPr id="49" name="Footer Placeholder 4"/>
          <p:cNvSpPr>
            <a:spLocks noGrp="1"/>
          </p:cNvSpPr>
          <p:nvPr>
            <p:ph type="ftr" sz="quarter" idx="11"/>
          </p:nvPr>
        </p:nvSpPr>
        <p:spPr>
          <a:xfrm>
            <a:off x="1828800" y="6355080"/>
            <a:ext cx="6172200" cy="365760"/>
          </a:xfrm>
        </p:spPr>
        <p:txBody>
          <a:bodyPr/>
          <a:lstStyle/>
          <a:p>
            <a:pPr algn="ct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Assembly Language</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17</a:t>
            </a:fld>
            <a:endParaRPr lang="en-US"/>
          </a:p>
        </p:txBody>
      </p:sp>
      <p:sp>
        <p:nvSpPr>
          <p:cNvPr id="4" name="Content Placeholder 3"/>
          <p:cNvSpPr>
            <a:spLocks noGrp="1"/>
          </p:cNvSpPr>
          <p:nvPr>
            <p:ph sz="quarter" idx="1"/>
          </p:nvPr>
        </p:nvSpPr>
        <p:spPr/>
        <p:txBody>
          <a:bodyPr>
            <a:noAutofit/>
          </a:bodyPr>
          <a:lstStyle/>
          <a:p>
            <a:r>
              <a:rPr lang="en-US" sz="2400" b="1" dirty="0">
                <a:latin typeface="Times New Roman" panose="02020603050405020304" pitchFamily="18" charset="0"/>
                <a:cs typeface="Times New Roman" panose="02020603050405020304" pitchFamily="18" charset="0"/>
              </a:rPr>
              <a:t>Assembly language:</a:t>
            </a:r>
          </a:p>
          <a:p>
            <a:pPr lvl="1" algn="just"/>
            <a:r>
              <a:rPr lang="en-US" sz="2200" dirty="0">
                <a:solidFill>
                  <a:schemeClr val="tx1"/>
                </a:solidFill>
                <a:latin typeface="Times New Roman" panose="02020603050405020304" pitchFamily="18" charset="0"/>
                <a:cs typeface="Times New Roman" panose="02020603050405020304" pitchFamily="18" charset="0"/>
              </a:rPr>
              <a:t>Assembly language is used in programming because it is difficult to program a microprocessor in its native machine language.</a:t>
            </a:r>
          </a:p>
          <a:p>
            <a:pPr lvl="1" algn="just"/>
            <a:endParaRPr lang="en-US" sz="2400" dirty="0">
              <a:solidFill>
                <a:schemeClr val="tx1"/>
              </a:solidFill>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Assembler:</a:t>
            </a:r>
          </a:p>
          <a:p>
            <a:pPr lvl="1" algn="just"/>
            <a:r>
              <a:rPr lang="en-US" sz="2200" dirty="0">
                <a:solidFill>
                  <a:schemeClr val="tx1"/>
                </a:solidFill>
                <a:latin typeface="Times New Roman" panose="02020603050405020304" pitchFamily="18" charset="0"/>
                <a:cs typeface="Times New Roman" panose="02020603050405020304" pitchFamily="18" charset="0"/>
              </a:rPr>
              <a:t>An assembler is a program </a:t>
            </a:r>
            <a:r>
              <a:rPr lang="en-US" sz="2200">
                <a:solidFill>
                  <a:schemeClr val="tx1"/>
                </a:solidFill>
                <a:latin typeface="Times New Roman" panose="02020603050405020304" pitchFamily="18" charset="0"/>
                <a:cs typeface="Times New Roman" panose="02020603050405020304" pitchFamily="18" charset="0"/>
              </a:rPr>
              <a:t>that converts </a:t>
            </a:r>
            <a:r>
              <a:rPr lang="en-US" sz="2200" dirty="0">
                <a:solidFill>
                  <a:schemeClr val="tx1"/>
                </a:solidFill>
                <a:latin typeface="Times New Roman" panose="02020603050405020304" pitchFamily="18" charset="0"/>
                <a:cs typeface="Times New Roman" panose="02020603050405020304" pitchFamily="18" charset="0"/>
              </a:rPr>
              <a:t>assembly language into machine language.</a:t>
            </a:r>
          </a:p>
          <a:p>
            <a:pPr lvl="1" algn="just"/>
            <a:endParaRPr lang="en-US" sz="2200" dirty="0">
              <a:solidFill>
                <a:schemeClr val="tx1"/>
              </a:solidFill>
              <a:latin typeface="Times New Roman" panose="02020603050405020304" pitchFamily="18" charset="0"/>
              <a:cs typeface="Times New Roman" panose="02020603050405020304" pitchFamily="18" charset="0"/>
            </a:endParaRPr>
          </a:p>
          <a:p>
            <a:pPr lvl="1" algn="just"/>
            <a:r>
              <a:rPr lang="en-US" sz="2200" dirty="0">
                <a:solidFill>
                  <a:schemeClr val="tx1"/>
                </a:solidFill>
                <a:latin typeface="Times New Roman" panose="02020603050405020304" pitchFamily="18" charset="0"/>
                <a:cs typeface="Times New Roman" panose="02020603050405020304" pitchFamily="18" charset="0"/>
              </a:rPr>
              <a:t>Assemblers are similar to compilers in that they produce executable code. However, assemblers are more simplistic.</a:t>
            </a:r>
          </a:p>
        </p:txBody>
      </p:sp>
      <p:sp>
        <p:nvSpPr>
          <p:cNvPr id="7" name="Footer Placeholder 4"/>
          <p:cNvSpPr>
            <a:spLocks noGrp="1"/>
          </p:cNvSpPr>
          <p:nvPr>
            <p:ph type="ftr" sz="quarter" idx="11"/>
          </p:nvPr>
        </p:nvSpPr>
        <p:spPr>
          <a:xfrm>
            <a:off x="1828800" y="6355080"/>
            <a:ext cx="6172200" cy="365760"/>
          </a:xfrm>
        </p:spPr>
        <p:txBody>
          <a:bodyPr/>
          <a:lstStyle/>
          <a:p>
            <a:pPr algn="ct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High level language vs Machine language</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18</a:t>
            </a:fld>
            <a:endParaRPr lang="en-US"/>
          </a:p>
        </p:txBody>
      </p:sp>
      <p:sp>
        <p:nvSpPr>
          <p:cNvPr id="4" name="Content Placeholder 3"/>
          <p:cNvSpPr>
            <a:spLocks noGrp="1"/>
          </p:cNvSpPr>
          <p:nvPr>
            <p:ph sz="quarter" idx="1"/>
          </p:nvPr>
        </p:nvSpPr>
        <p:spPr/>
        <p:txBody>
          <a:bodyPr/>
          <a:lstStyle/>
          <a:p>
            <a:r>
              <a:rPr lang="en-US" sz="2200" dirty="0" err="1">
                <a:latin typeface="Times New Roman" panose="02020603050405020304" pitchFamily="18" charset="0"/>
                <a:cs typeface="Times New Roman" panose="02020603050405020304" pitchFamily="18" charset="0"/>
              </a:rPr>
              <a:t>int</a:t>
            </a:r>
            <a:r>
              <a:rPr lang="en-US" sz="2200" dirty="0">
                <a:latin typeface="Times New Roman" panose="02020603050405020304" pitchFamily="18" charset="0"/>
                <a:cs typeface="Times New Roman" panose="02020603050405020304" pitchFamily="18" charset="0"/>
              </a:rPr>
              <a:t> a, b, c;</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 83;</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 -2;				</a:t>
            </a:r>
            <a:r>
              <a:rPr lang="en-US" sz="2200" b="1" dirty="0">
                <a:latin typeface="Times New Roman" panose="02020603050405020304" pitchFamily="18" charset="0"/>
                <a:cs typeface="Times New Roman" panose="02020603050405020304" pitchFamily="18" charset="0"/>
              </a:rPr>
              <a:t>// high level language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 = a + b;</a:t>
            </a:r>
          </a:p>
          <a:p>
            <a:pPr marL="0" indent="0">
              <a:buNone/>
            </a:pPr>
            <a:r>
              <a:rPr lang="en-US" sz="2200" dirty="0">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0010 0001 0000 0100</a:t>
            </a:r>
          </a:p>
          <a:p>
            <a:r>
              <a:rPr lang="en-US" sz="2200" dirty="0">
                <a:latin typeface="Times New Roman" panose="02020603050405020304" pitchFamily="18" charset="0"/>
                <a:cs typeface="Times New Roman" panose="02020603050405020304" pitchFamily="18" charset="0"/>
              </a:rPr>
              <a:t>0001 0001 0000 0101</a:t>
            </a:r>
          </a:p>
          <a:p>
            <a:r>
              <a:rPr lang="en-US" sz="2200" dirty="0">
                <a:latin typeface="Times New Roman" panose="02020603050405020304" pitchFamily="18" charset="0"/>
                <a:cs typeface="Times New Roman" panose="02020603050405020304" pitchFamily="18" charset="0"/>
              </a:rPr>
              <a:t>0011 0001 0000 0110			</a:t>
            </a:r>
            <a:r>
              <a:rPr lang="en-US" sz="2200" b="1" dirty="0">
                <a:latin typeface="Times New Roman" panose="02020603050405020304" pitchFamily="18" charset="0"/>
                <a:cs typeface="Times New Roman" panose="02020603050405020304" pitchFamily="18" charset="0"/>
              </a:rPr>
              <a:t>//machine language</a:t>
            </a:r>
          </a:p>
          <a:p>
            <a:r>
              <a:rPr lang="en-US" sz="2200" dirty="0">
                <a:latin typeface="Times New Roman" panose="02020603050405020304" pitchFamily="18" charset="0"/>
                <a:cs typeface="Times New Roman" panose="02020603050405020304" pitchFamily="18" charset="0"/>
              </a:rPr>
              <a:t>0111 0000 0000 0001</a:t>
            </a:r>
          </a:p>
          <a:p>
            <a:r>
              <a:rPr lang="en-US" sz="2200" dirty="0">
                <a:latin typeface="Times New Roman" panose="02020603050405020304" pitchFamily="18" charset="0"/>
                <a:cs typeface="Times New Roman" panose="02020603050405020304" pitchFamily="18" charset="0"/>
              </a:rPr>
              <a:t>0000 0000 0101 0011</a:t>
            </a:r>
          </a:p>
          <a:p>
            <a:r>
              <a:rPr lang="en-US" sz="2200" dirty="0">
                <a:latin typeface="Times New Roman" panose="02020603050405020304" pitchFamily="18" charset="0"/>
                <a:cs typeface="Times New Roman" panose="02020603050405020304" pitchFamily="18" charset="0"/>
              </a:rPr>
              <a:t>1111 1111 1111 1110</a:t>
            </a:r>
          </a:p>
          <a:p>
            <a:endParaRPr lang="en-US" dirty="0"/>
          </a:p>
        </p:txBody>
      </p:sp>
      <p:sp>
        <p:nvSpPr>
          <p:cNvPr id="5" name="Footer Placeholder 4"/>
          <p:cNvSpPr>
            <a:spLocks noGrp="1"/>
          </p:cNvSpPr>
          <p:nvPr>
            <p:ph type="ftr" sz="quarter" idx="11"/>
          </p:nvPr>
        </p:nvSpPr>
        <p:spPr/>
        <p:txBody>
          <a:bodyPr/>
          <a:lstStyle/>
          <a:p>
            <a:pPr algn="ctr"/>
            <a:endParaRPr lang="en-US" dirty="0"/>
          </a:p>
        </p:txBody>
      </p:sp>
    </p:spTree>
    <p:extLst>
      <p:ext uri="{BB962C8B-B14F-4D97-AF65-F5344CB8AC3E}">
        <p14:creationId xmlns:p14="http://schemas.microsoft.com/office/powerpoint/2010/main" val="76114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Example of Assembly Language</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19</a:t>
            </a:fld>
            <a:endParaRPr lang="en-US"/>
          </a:p>
        </p:txBody>
      </p:sp>
      <p:sp>
        <p:nvSpPr>
          <p:cNvPr id="6" name="Rectangle 3"/>
          <p:cNvSpPr txBox="1">
            <a:spLocks noChangeArrowheads="1"/>
          </p:cNvSpPr>
          <p:nvPr/>
        </p:nvSpPr>
        <p:spPr>
          <a:xfrm>
            <a:off x="457200" y="1219199"/>
            <a:ext cx="8686800" cy="5128953"/>
          </a:xfrm>
          <a:prstGeom prst="rect">
            <a:avLst/>
          </a:prstGeom>
        </p:spPr>
        <p:txBody>
          <a:bodyPr vert="horz">
            <a:normAutofit fontScale="92500" lnSpcReduction="20000"/>
          </a:bodyPr>
          <a:lstStyle/>
          <a:p>
            <a:pPr marL="342900" marR="0" lvl="0" indent="-342900" algn="l" defTabSz="914400" rtl="0" eaLnBrk="1" fontAlgn="auto" latinLnBrk="0" hangingPunct="1">
              <a:lnSpc>
                <a:spcPct val="100000"/>
              </a:lnSpc>
              <a:spcBef>
                <a:spcPts val="600"/>
              </a:spcBef>
              <a:spcAft>
                <a:spcPts val="0"/>
              </a:spcAft>
              <a:buClr>
                <a:schemeClr val="accent1"/>
              </a:buClr>
              <a:buSzPct val="76000"/>
              <a:buFont typeface="Wingdings" panose="05000000000000000000" pitchFamily="2" charset="2"/>
              <a:buChar char="q"/>
              <a:tabLst/>
              <a:defRPr/>
            </a:pPr>
            <a:endParaRPr lang="en-US" sz="2400" b="1" dirty="0">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ts val="600"/>
              </a:spcBef>
              <a:spcAft>
                <a:spcPts val="0"/>
              </a:spcAft>
              <a:buClr>
                <a:schemeClr val="accent1"/>
              </a:buClr>
              <a:buSzPct val="76000"/>
              <a:buFont typeface="Wingdings" panose="05000000000000000000" pitchFamily="2" charset="2"/>
              <a:buChar char="q"/>
              <a:tabLst/>
              <a:defRPr/>
            </a:pPr>
            <a:r>
              <a:rPr lang="en-US" sz="1900" b="1" dirty="0">
                <a:latin typeface="Times New Roman" panose="02020603050405020304" pitchFamily="18" charset="0"/>
                <a:cs typeface="Times New Roman" panose="02020603050405020304" pitchFamily="18" charset="0"/>
              </a:rPr>
              <a:t>Add 2 with 3</a:t>
            </a:r>
          </a:p>
          <a:p>
            <a:pPr marL="274320" indent="-274320">
              <a:spcBef>
                <a:spcPts val="600"/>
              </a:spcBef>
              <a:buClr>
                <a:schemeClr val="accent1"/>
              </a:buClr>
              <a:buSzPct val="76000"/>
              <a:defRPr/>
            </a:pPr>
            <a:r>
              <a:rPr kumimoji="0" lang="en-US" sz="1900" b="1" i="0"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mov  cl,  3     : </a:t>
            </a:r>
            <a:r>
              <a:rPr kumimoji="0" lang="en-US" sz="1900" i="0"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copy the value 3 in the internal register cl      </a:t>
            </a:r>
            <a:r>
              <a:rPr lang="en-US" sz="1900" b="1" i="1" dirty="0">
                <a:latin typeface="Times New Roman" panose="02020603050405020304" pitchFamily="18" charset="0"/>
                <a:cs typeface="Times New Roman" panose="02020603050405020304" pitchFamily="18" charset="0"/>
              </a:rPr>
              <a:t>// so currently cl is    		         					holding the value 3</a:t>
            </a:r>
          </a:p>
          <a:p>
            <a:pPr marL="274320" indent="-274320">
              <a:spcBef>
                <a:spcPts val="600"/>
              </a:spcBef>
              <a:buClr>
                <a:schemeClr val="accent1"/>
              </a:buClr>
              <a:buSzPct val="76000"/>
              <a:defRPr/>
            </a:pPr>
            <a:endParaRPr lang="en-US" sz="1900" i="1" dirty="0">
              <a:latin typeface="Times New Roman" panose="02020603050405020304" pitchFamily="18" charset="0"/>
              <a:cs typeface="Times New Roman" panose="02020603050405020304" pitchFamily="18" charset="0"/>
            </a:endParaRPr>
          </a:p>
          <a:p>
            <a:pPr marL="274320" lvl="0" indent="-274320">
              <a:spcBef>
                <a:spcPts val="600"/>
              </a:spcBef>
              <a:buClr>
                <a:schemeClr val="accent1"/>
              </a:buClr>
              <a:buSzPct val="76000"/>
              <a:defRPr/>
            </a:pPr>
            <a:r>
              <a:rPr lang="en-US" sz="1900" b="1" dirty="0">
                <a:latin typeface="Times New Roman" panose="02020603050405020304" pitchFamily="18" charset="0"/>
                <a:cs typeface="Times New Roman" panose="02020603050405020304" pitchFamily="18" charset="0"/>
              </a:rPr>
              <a:t>add  cl,  2     :  </a:t>
            </a:r>
            <a:r>
              <a:rPr lang="en-US" sz="1900" dirty="0">
                <a:latin typeface="Times New Roman" panose="02020603050405020304" pitchFamily="18" charset="0"/>
                <a:cs typeface="Times New Roman" panose="02020603050405020304" pitchFamily="18" charset="0"/>
              </a:rPr>
              <a:t>add the value 2 with the current value of cl   </a:t>
            </a:r>
            <a:r>
              <a:rPr lang="en-US" sz="1900" b="1" i="1" dirty="0">
                <a:latin typeface="Times New Roman" panose="02020603050405020304" pitchFamily="18" charset="0"/>
                <a:cs typeface="Times New Roman" panose="02020603050405020304" pitchFamily="18" charset="0"/>
              </a:rPr>
              <a:t>// after adding 2, cl is now    		         </a:t>
            </a:r>
            <a:r>
              <a:rPr lang="en-US" sz="1900" dirty="0">
                <a:latin typeface="Times New Roman" panose="02020603050405020304" pitchFamily="18" charset="0"/>
                <a:cs typeface="Times New Roman" panose="02020603050405020304" pitchFamily="18" charset="0"/>
              </a:rPr>
              <a:t>and store sum in cl</a:t>
            </a:r>
            <a:r>
              <a:rPr lang="en-US" sz="1900" b="1" i="1" dirty="0">
                <a:latin typeface="Times New Roman" panose="02020603050405020304" pitchFamily="18" charset="0"/>
                <a:cs typeface="Times New Roman" panose="02020603050405020304" pitchFamily="18" charset="0"/>
              </a:rPr>
              <a:t>			holding the value 5</a:t>
            </a:r>
          </a:p>
          <a:p>
            <a:pPr marL="274320" lvl="0" indent="-274320">
              <a:spcBef>
                <a:spcPts val="600"/>
              </a:spcBef>
              <a:buClr>
                <a:schemeClr val="accent1"/>
              </a:buClr>
              <a:buSzPct val="76000"/>
              <a:defRPr/>
            </a:pPr>
            <a:endParaRPr lang="en-US" sz="1900" b="1" dirty="0">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ts val="600"/>
              </a:spcBef>
              <a:spcAft>
                <a:spcPts val="0"/>
              </a:spcAft>
              <a:buClr>
                <a:schemeClr val="accent1"/>
              </a:buClr>
              <a:buSzPct val="76000"/>
              <a:buFont typeface="Wingdings" panose="05000000000000000000" pitchFamily="2" charset="2"/>
              <a:buChar char="q"/>
              <a:tabLst/>
              <a:defRPr/>
            </a:pPr>
            <a:r>
              <a:rPr kumimoji="0" lang="en-US" sz="1900" b="1" i="0"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Subtract 2 from 3</a:t>
            </a:r>
          </a:p>
          <a:p>
            <a:pPr marL="274320" lvl="0" indent="-274320">
              <a:spcBef>
                <a:spcPts val="600"/>
              </a:spcBef>
              <a:buClr>
                <a:schemeClr val="accent1"/>
              </a:buClr>
              <a:buSzPct val="76000"/>
              <a:defRPr/>
            </a:pPr>
            <a:r>
              <a:rPr lang="en-US" sz="1900" b="1" dirty="0">
                <a:latin typeface="Times New Roman" panose="02020603050405020304" pitchFamily="18" charset="0"/>
                <a:cs typeface="Times New Roman" panose="02020603050405020304" pitchFamily="18" charset="0"/>
              </a:rPr>
              <a:t>mov  cl,  3  : </a:t>
            </a:r>
            <a:r>
              <a:rPr lang="en-US" sz="1900" dirty="0">
                <a:latin typeface="Times New Roman" panose="02020603050405020304" pitchFamily="18" charset="0"/>
                <a:cs typeface="Times New Roman" panose="02020603050405020304" pitchFamily="18" charset="0"/>
              </a:rPr>
              <a:t>copy the value 3 in the internal register cl       </a:t>
            </a:r>
            <a:r>
              <a:rPr lang="en-US" sz="1900" b="1" i="1" dirty="0">
                <a:latin typeface="Times New Roman" panose="02020603050405020304" pitchFamily="18" charset="0"/>
                <a:cs typeface="Times New Roman" panose="02020603050405020304" pitchFamily="18" charset="0"/>
              </a:rPr>
              <a:t>//so currently cl is    		       					holding the value 3</a:t>
            </a:r>
          </a:p>
          <a:p>
            <a:pPr marL="274320" lvl="0" indent="-274320">
              <a:spcBef>
                <a:spcPts val="600"/>
              </a:spcBef>
              <a:buClr>
                <a:schemeClr val="accent1"/>
              </a:buClr>
              <a:buSzPct val="76000"/>
              <a:defRPr/>
            </a:pPr>
            <a:endParaRPr lang="en-US" sz="1900" b="1" i="1" dirty="0">
              <a:latin typeface="Times New Roman" panose="02020603050405020304" pitchFamily="18" charset="0"/>
              <a:cs typeface="Times New Roman" panose="02020603050405020304" pitchFamily="18" charset="0"/>
            </a:endParaRPr>
          </a:p>
          <a:p>
            <a:pPr marL="274320" lvl="0" indent="-274320">
              <a:spcBef>
                <a:spcPts val="600"/>
              </a:spcBef>
              <a:buClr>
                <a:schemeClr val="accent1"/>
              </a:buClr>
              <a:buSzPct val="76000"/>
              <a:defRPr/>
            </a:pPr>
            <a:r>
              <a:rPr lang="en-US" sz="1900" b="1" dirty="0">
                <a:latin typeface="Times New Roman" panose="02020603050405020304" pitchFamily="18" charset="0"/>
                <a:cs typeface="Times New Roman" panose="02020603050405020304" pitchFamily="18" charset="0"/>
              </a:rPr>
              <a:t>sub   cl,  2  : </a:t>
            </a:r>
            <a:r>
              <a:rPr lang="en-US" sz="1900" dirty="0">
                <a:latin typeface="Times New Roman" panose="02020603050405020304" pitchFamily="18" charset="0"/>
                <a:cs typeface="Times New Roman" panose="02020603050405020304" pitchFamily="18" charset="0"/>
              </a:rPr>
              <a:t>sub the value 2 from the current value of cl    </a:t>
            </a:r>
            <a:r>
              <a:rPr lang="en-US" sz="1900" b="1" i="1" dirty="0">
                <a:latin typeface="Times New Roman" panose="02020603050405020304" pitchFamily="18" charset="0"/>
                <a:cs typeface="Times New Roman" panose="02020603050405020304" pitchFamily="18" charset="0"/>
              </a:rPr>
              <a:t>//after subtracting 2, cl is now   	      					holding the value 1</a:t>
            </a:r>
          </a:p>
          <a:p>
            <a:pPr marL="274320" lvl="0" indent="-274320">
              <a:spcBef>
                <a:spcPts val="600"/>
              </a:spcBef>
              <a:buClr>
                <a:schemeClr val="accent1"/>
              </a:buClr>
              <a:buSzPct val="76000"/>
              <a:defRPr/>
            </a:pPr>
            <a:endParaRPr lang="en-US" sz="1900" dirty="0">
              <a:latin typeface="Times New Roman" panose="02020603050405020304" pitchFamily="18" charset="0"/>
              <a:cs typeface="Times New Roman" panose="02020603050405020304" pitchFamily="18" charset="0"/>
            </a:endParaRPr>
          </a:p>
          <a:p>
            <a:pPr marL="274320" lvl="0" indent="-274320">
              <a:spcBef>
                <a:spcPts val="600"/>
              </a:spcBef>
              <a:buClr>
                <a:schemeClr val="accent1"/>
              </a:buClr>
              <a:buSzPct val="76000"/>
              <a:defRPr/>
            </a:pPr>
            <a:r>
              <a:rPr lang="en-US" sz="1900" dirty="0" err="1">
                <a:latin typeface="Times New Roman" panose="02020603050405020304" pitchFamily="18" charset="0"/>
                <a:cs typeface="Times New Roman" panose="02020603050405020304" pitchFamily="18" charset="0"/>
              </a:rPr>
              <a:t>mov</a:t>
            </a:r>
            <a:r>
              <a:rPr lang="en-US" sz="1900" dirty="0">
                <a:latin typeface="Times New Roman" panose="02020603050405020304" pitchFamily="18" charset="0"/>
                <a:cs typeface="Times New Roman" panose="02020603050405020304" pitchFamily="18" charset="0"/>
              </a:rPr>
              <a:t>, add, sub </a:t>
            </a:r>
            <a:r>
              <a:rPr lang="en-US" sz="1900" b="1" dirty="0">
                <a:latin typeface="Times New Roman" panose="02020603050405020304" pitchFamily="18" charset="0"/>
                <a:cs typeface="Times New Roman" panose="02020603050405020304" pitchFamily="18" charset="0"/>
              </a:rPr>
              <a:t>--- </a:t>
            </a:r>
            <a:r>
              <a:rPr lang="en-US" sz="1900" b="1" i="1" dirty="0">
                <a:latin typeface="Times New Roman" panose="02020603050405020304" pitchFamily="18" charset="0"/>
                <a:cs typeface="Times New Roman" panose="02020603050405020304" pitchFamily="18" charset="0"/>
              </a:rPr>
              <a:t>opcodes or instructions</a:t>
            </a:r>
          </a:p>
          <a:p>
            <a:pPr marL="274320" lvl="0" indent="-274320">
              <a:spcBef>
                <a:spcPts val="600"/>
              </a:spcBef>
              <a:buClr>
                <a:schemeClr val="accent1"/>
              </a:buClr>
              <a:buSzPct val="76000"/>
              <a:defRPr/>
            </a:pPr>
            <a:r>
              <a:rPr lang="en-US" sz="1900" dirty="0">
                <a:latin typeface="Times New Roman" panose="02020603050405020304" pitchFamily="18" charset="0"/>
                <a:cs typeface="Times New Roman" panose="02020603050405020304" pitchFamily="18" charset="0"/>
              </a:rPr>
              <a:t>cl, 3, 2 </a:t>
            </a:r>
            <a:r>
              <a:rPr lang="en-US" sz="1900" b="1" dirty="0">
                <a:latin typeface="Times New Roman" panose="02020603050405020304" pitchFamily="18" charset="0"/>
                <a:cs typeface="Times New Roman" panose="02020603050405020304" pitchFamily="18" charset="0"/>
              </a:rPr>
              <a:t>---- operands</a:t>
            </a:r>
          </a:p>
          <a:p>
            <a:pPr marL="274320" lvl="0" indent="-274320">
              <a:spcBef>
                <a:spcPts val="600"/>
              </a:spcBef>
              <a:buClr>
                <a:schemeClr val="accent1"/>
              </a:buClr>
              <a:buSzPct val="76000"/>
              <a:defRPr/>
            </a:pPr>
            <a:endParaRPr lang="en-US" sz="1900" dirty="0">
              <a:latin typeface="Times New Roman" panose="02020603050405020304" pitchFamily="18" charset="0"/>
              <a:cs typeface="Times New Roman" panose="02020603050405020304" pitchFamily="18" charset="0"/>
            </a:endParaRPr>
          </a:p>
          <a:p>
            <a:pPr marL="274320" lvl="0" indent="-274320">
              <a:spcBef>
                <a:spcPts val="600"/>
              </a:spcBef>
              <a:buClr>
                <a:schemeClr val="accent1"/>
              </a:buClr>
              <a:buSzPct val="76000"/>
              <a:defRPr/>
            </a:pPr>
            <a:endParaRPr lang="en-US" sz="2400" dirty="0">
              <a:latin typeface="Times New Roman" panose="02020603050405020304" pitchFamily="18" charset="0"/>
              <a:cs typeface="Times New Roman" panose="02020603050405020304" pitchFamily="18" charset="0"/>
            </a:endParaRPr>
          </a:p>
        </p:txBody>
      </p:sp>
      <p:sp>
        <p:nvSpPr>
          <p:cNvPr id="7" name="Footer Placeholder 4"/>
          <p:cNvSpPr>
            <a:spLocks noGrp="1"/>
          </p:cNvSpPr>
          <p:nvPr>
            <p:ph type="ftr" sz="quarter" idx="11"/>
          </p:nvPr>
        </p:nvSpPr>
        <p:spPr>
          <a:xfrm>
            <a:off x="1828800" y="6355080"/>
            <a:ext cx="6172200" cy="365760"/>
          </a:xfrm>
        </p:spPr>
        <p:txBody>
          <a:bodyPr/>
          <a:lstStyle/>
          <a:p>
            <a:pPr algn="ct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Food for thought</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20</a:t>
            </a:fld>
            <a:endParaRPr lang="en-US"/>
          </a:p>
        </p:txBody>
      </p:sp>
      <p:sp>
        <p:nvSpPr>
          <p:cNvPr id="4" name="Content Placeholder 3"/>
          <p:cNvSpPr>
            <a:spLocks noGrp="1"/>
          </p:cNvSpPr>
          <p:nvPr>
            <p:ph sz="quarter" idx="1"/>
          </p:nvPr>
        </p:nvSpPr>
        <p:spPr/>
        <p:txBody>
          <a:bodyPr/>
          <a:lstStyle/>
          <a:p>
            <a:r>
              <a:rPr lang="en-US" sz="2800" b="1" dirty="0">
                <a:latin typeface="Times New Roman" panose="02020603050405020304" pitchFamily="18" charset="0"/>
                <a:cs typeface="Times New Roman" panose="02020603050405020304" pitchFamily="18" charset="0"/>
              </a:rPr>
              <a:t>Using cl register show assembly code for the following expression :</a:t>
            </a:r>
          </a:p>
          <a:p>
            <a:pPr marL="0" indent="0" algn="ctr">
              <a:buNone/>
            </a:pPr>
            <a:r>
              <a:rPr lang="en-US" sz="2800" b="1" dirty="0">
                <a:latin typeface="Times New Roman" panose="02020603050405020304" pitchFamily="18" charset="0"/>
                <a:cs typeface="Times New Roman" panose="02020603050405020304" pitchFamily="18" charset="0"/>
              </a:rPr>
              <a:t>5 + 6 – 10</a:t>
            </a:r>
          </a:p>
          <a:p>
            <a:endParaRPr lang="en-US" dirty="0"/>
          </a:p>
          <a:p>
            <a:r>
              <a:rPr lang="en-US" dirty="0"/>
              <a:t>mov cl, 5</a:t>
            </a:r>
          </a:p>
          <a:p>
            <a:r>
              <a:rPr lang="en-US" dirty="0"/>
              <a:t>add cl, 6</a:t>
            </a:r>
          </a:p>
          <a:p>
            <a:r>
              <a:rPr lang="en-US" dirty="0"/>
              <a:t>sub cl, 10</a:t>
            </a:r>
          </a:p>
        </p:txBody>
      </p:sp>
      <p:sp>
        <p:nvSpPr>
          <p:cNvPr id="5" name="Footer Placeholder 4"/>
          <p:cNvSpPr>
            <a:spLocks noGrp="1"/>
          </p:cNvSpPr>
          <p:nvPr>
            <p:ph type="ftr" sz="quarter" idx="11"/>
          </p:nvPr>
        </p:nvSpPr>
        <p:spPr/>
        <p:txBody>
          <a:bodyPr/>
          <a:lstStyle/>
          <a:p>
            <a:pPr algn="ctr"/>
            <a:endParaRPr lang="en-US" dirty="0"/>
          </a:p>
        </p:txBody>
      </p:sp>
    </p:spTree>
    <p:extLst>
      <p:ext uri="{BB962C8B-B14F-4D97-AF65-F5344CB8AC3E}">
        <p14:creationId xmlns:p14="http://schemas.microsoft.com/office/powerpoint/2010/main" val="1432534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4800</TotalTime>
  <Words>1271</Words>
  <Application>Microsoft Office PowerPoint</Application>
  <PresentationFormat>On-screen Show (4:3)</PresentationFormat>
  <Paragraphs>239</Paragraphs>
  <Slides>20</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Arial</vt:lpstr>
      <vt:lpstr>Arial Black</vt:lpstr>
      <vt:lpstr>Bookman Old Style</vt:lpstr>
      <vt:lpstr>Calibri</vt:lpstr>
      <vt:lpstr>Gill Sans MT</vt:lpstr>
      <vt:lpstr>Symbol</vt:lpstr>
      <vt:lpstr>Times New Roman</vt:lpstr>
      <vt:lpstr>Wingdings</vt:lpstr>
      <vt:lpstr>Wingdings 3</vt:lpstr>
      <vt:lpstr>Origin</vt:lpstr>
      <vt:lpstr>Department of Computer Science and Engineering</vt:lpstr>
      <vt:lpstr>Topics to be Covered </vt:lpstr>
      <vt:lpstr>Recommended Texts</vt:lpstr>
      <vt:lpstr>Some tips before we begin</vt:lpstr>
      <vt:lpstr>Concept of Computer</vt:lpstr>
      <vt:lpstr>Major Components of Computer</vt:lpstr>
      <vt:lpstr>Central Processing Unit</vt:lpstr>
      <vt:lpstr>Central Processing Unit</vt:lpstr>
      <vt:lpstr>So .. What is Microprocessor?</vt:lpstr>
      <vt:lpstr>Concept about Microprocessor</vt:lpstr>
      <vt:lpstr>List of Microprocessors</vt:lpstr>
      <vt:lpstr>Microcontroller (C)</vt:lpstr>
      <vt:lpstr>List of Microcontrollers</vt:lpstr>
      <vt:lpstr>Microprocessor System Vs Microcontroller System</vt:lpstr>
      <vt:lpstr>Food for thought </vt:lpstr>
      <vt:lpstr>Microprocessor System Vs Microcontroller System</vt:lpstr>
      <vt:lpstr>Assembly Language</vt:lpstr>
      <vt:lpstr>High level language vs Machine language</vt:lpstr>
      <vt:lpstr>Example of Assembly Language</vt:lpstr>
      <vt:lpstr>Food for thought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Teacher:  Md. Obaidur Rahman, Ph.D. Assitant Professor, Department of CSE, DUET, Gazipur-1700.</dc:title>
  <dc:creator>Rupam</dc:creator>
  <cp:lastModifiedBy>Sourav Paul</cp:lastModifiedBy>
  <cp:revision>639</cp:revision>
  <dcterms:created xsi:type="dcterms:W3CDTF">2006-08-16T00:00:00Z</dcterms:created>
  <dcterms:modified xsi:type="dcterms:W3CDTF">2024-10-20T06:46:04Z</dcterms:modified>
</cp:coreProperties>
</file>